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5" r:id="rId2"/>
    <p:sldMasterId id="2147483697" r:id="rId3"/>
  </p:sldMasterIdLst>
  <p:notesMasterIdLst>
    <p:notesMasterId r:id="rId40"/>
  </p:notesMasterIdLst>
  <p:handoutMasterIdLst>
    <p:handoutMasterId r:id="rId41"/>
  </p:handoutMasterIdLst>
  <p:sldIdLst>
    <p:sldId id="258" r:id="rId4"/>
    <p:sldId id="271" r:id="rId5"/>
    <p:sldId id="345" r:id="rId6"/>
    <p:sldId id="260" r:id="rId7"/>
    <p:sldId id="347" r:id="rId8"/>
    <p:sldId id="346" r:id="rId9"/>
    <p:sldId id="332" r:id="rId10"/>
    <p:sldId id="352" r:id="rId11"/>
    <p:sldId id="349" r:id="rId12"/>
    <p:sldId id="373" r:id="rId13"/>
    <p:sldId id="379" r:id="rId14"/>
    <p:sldId id="415" r:id="rId15"/>
    <p:sldId id="400" r:id="rId16"/>
    <p:sldId id="355" r:id="rId17"/>
    <p:sldId id="375" r:id="rId18"/>
    <p:sldId id="384" r:id="rId19"/>
    <p:sldId id="385" r:id="rId20"/>
    <p:sldId id="353" r:id="rId21"/>
    <p:sldId id="357" r:id="rId22"/>
    <p:sldId id="376" r:id="rId23"/>
    <p:sldId id="394" r:id="rId24"/>
    <p:sldId id="391" r:id="rId25"/>
    <p:sldId id="390" r:id="rId26"/>
    <p:sldId id="392" r:id="rId27"/>
    <p:sldId id="416" r:id="rId28"/>
    <p:sldId id="367" r:id="rId29"/>
    <p:sldId id="361" r:id="rId30"/>
    <p:sldId id="362" r:id="rId31"/>
    <p:sldId id="363" r:id="rId32"/>
    <p:sldId id="413" r:id="rId33"/>
    <p:sldId id="408" r:id="rId34"/>
    <p:sldId id="411" r:id="rId35"/>
    <p:sldId id="412" r:id="rId36"/>
    <p:sldId id="414" r:id="rId37"/>
    <p:sldId id="388" r:id="rId38"/>
    <p:sldId id="389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6ED4337-AA95-EF4F-B56F-A891C5F5C9FE}" name="AA JJO" initials="AJ" userId="3e23005376eb10d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DF9"/>
    <a:srgbClr val="FFF2CC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8585" autoAdjust="0"/>
    <p:restoredTop sz="94660"/>
  </p:normalViewPr>
  <p:slideViewPr>
    <p:cSldViewPr snapToGrid="0">
      <p:cViewPr varScale="1">
        <p:scale>
          <a:sx n="94" d="100"/>
          <a:sy n="94" d="100"/>
        </p:scale>
        <p:origin x="126" y="10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microsoft.com/office/2018/10/relationships/authors" Target="authors.xml"/><Relationship Id="rId20" Type="http://schemas.openxmlformats.org/officeDocument/2006/relationships/slide" Target="slides/slide17.xml"/><Relationship Id="rId41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25/7/colors/Standard Color_2">
  <dgm:title val="Standard Color 2"/>
  <dgm:desc val=""/>
  <dgm:catLst>
    <dgm:cat type="accent1" pri="2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>
        <a:alpha val="0"/>
      </a:schemeClr>
    </dgm:fillClrLst>
    <dgm:linClrLst meth="repeat">
      <a:schemeClr val="tx2">
        <a:alpha val="4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>
        <a:alpha val="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bgImgPlace1">
    <dgm:fillClrLst meth="repeat">
      <a:schemeClr val="accent1">
        <a:lumMod val="20000"/>
        <a:lumOff val="80000"/>
      </a:schemeClr>
    </dgm:fillClrLst>
    <dgm:linClrLst meth="repeat">
      <a:schemeClr val="accent1">
        <a:alpha val="0"/>
      </a:schemeClr>
    </dgm:linClrLst>
    <dgm:effectClrLst/>
    <dgm:txLinClrLst/>
    <dgm:txFillClrLst meth="repeat">
      <a:schemeClr val="bg2"/>
    </dgm:txFillClrLst>
    <dgm:txEffectClrLst/>
  </dgm:styleLbl>
  <dgm:styleLbl name="fgImgPlac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 meth="repeat">
      <a:schemeClr val="tx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2"/>
    </dgm:txFillClrLst>
    <dgm:txEffectClrLst/>
  </dgm:styleLbl>
  <dgm:styleLbl name="solidBgAcc1">
    <dgm:fillClrLst meth="repeat">
      <a:schemeClr val="accent1">
        <a:alpha val="10000"/>
      </a:schemeClr>
    </dgm:fillClrLst>
    <dgm:linClrLst meth="repeat">
      <a:schemeClr val="tx2">
        <a:alpha val="40000"/>
      </a:schemeClr>
    </dgm:linClrLst>
    <dgm:effectClrLst/>
    <dgm:txLinClrLst/>
    <dgm:txFillClrLst meth="repeat">
      <a:schemeClr val="bg2"/>
    </dgm:txFillClrLst>
    <dgm:txEffectClrLst/>
  </dgm:styleLbl>
  <dgm:styleLbl name="callout">
    <dgm:fillClrLst meth="repeat">
      <a:schemeClr val="tx2">
        <a:alpha val="40000"/>
      </a:schemeClr>
    </dgm:fillClrLst>
    <dgm:linClrLst meth="repeat">
      <a:schemeClr val="tx2">
        <a:alpha val="40000"/>
      </a:schemeClr>
    </dgm:linClrLst>
    <dgm:effectClrLst/>
    <dgm:txLinClrLst/>
    <dgm:txFillClrLst meth="repeat">
      <a:schemeClr val="tx1"/>
    </dgm:txFillClrLst>
    <dgm:txEffectClrLst/>
  </dgm:styleLbl>
  <dgm:styleLbl name="trBgShp">
    <dgm:fillClrLst meth="repeat">
      <a:schemeClr val="accent1">
        <a:lumMod val="20000"/>
        <a:lumOff val="8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bgAcc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 meth="repeat">
      <a:schemeClr val="tx2"/>
    </dgm:txFillClrLst>
    <dgm:txEffectClrLst/>
  </dgm:styleLbl>
  <dgm:styleLbl name="alignAcc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accent1">
        <a:lumMod val="20000"/>
        <a:lumOff val="80000"/>
      </a:schemeClr>
    </dgm:txFillClrLst>
    <dgm:txEffectClrLst/>
  </dgm:styleLbl>
  <dgm:styleLbl name="conFgAcc1">
    <dgm:fillClrLst meth="repeat">
      <a:schemeClr val="accent1">
        <a:alpha val="15000"/>
      </a:schemeClr>
    </dgm:fillClrLst>
    <dgm:linClrLst meth="repeat">
      <a:schemeClr val="accent1">
        <a:alpha val="0"/>
      </a:schemeClr>
    </dgm:linClrLst>
    <dgm:effectClrLst/>
    <dgm:txLinClrLst/>
    <dgm:txFillClrLst meth="repeat">
      <a:schemeClr val="bg2"/>
    </dgm:txFillClrLst>
    <dgm:txEffectClrLst/>
  </dgm:styleLbl>
  <dgm:styleLbl name="dkBgShp">
    <dgm:fillClrLst meth="repeat">
      <a:schemeClr val="tx2"/>
    </dgm:fillClrLst>
    <dgm:linClrLst meth="repeat">
      <a:schemeClr val="lt1">
        <a:alpha val="0"/>
      </a:schemeClr>
    </dgm:linClrLst>
    <dgm:effectClrLst/>
    <dgm:txLinClrLst/>
    <dgm:txFillClrLst meth="repeat">
      <a:schemeClr val="tx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accent1">
        <a:lumMod val="20000"/>
        <a:lumOff val="80000"/>
      </a:schemeClr>
    </dgm:txFillClrLst>
    <dgm:txEffectClrLst/>
  </dgm:styleLbl>
  <dgm:styleLbl name="alignNode1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2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534FE8-D3E6-4CB2-8853-DFF4ED1992DC}" type="doc">
      <dgm:prSet loTypeId="urn:microsoft.com/office/officeart/2025/8/layout/Timeline 02" loCatId="list" qsTypeId="urn:microsoft.com/office/officeart/2005/8/quickstyle/simple1" qsCatId="simple" csTypeId="urn:microsoft.com/office/officeart/2025/7/colors/Standard Color_2" csCatId="accent1"/>
      <dgm:spPr/>
      <dgm:t>
        <a:bodyPr/>
        <a:lstStyle/>
        <a:p>
          <a:endParaRPr lang="en-US"/>
        </a:p>
      </dgm:t>
    </dgm:pt>
    <dgm:pt modelId="{2B4662C2-C437-4ADE-924F-DD72F6D16114}">
      <dgm:prSet phldrT="[Text]"/>
      <dgm:spPr/>
      <dgm:t>
        <a:bodyPr/>
        <a:lstStyle/>
        <a:p>
          <a:pPr>
            <a:defRPr b="1"/>
          </a:pPr>
          <a:r>
            <a:rPr lang="en-US" err="1">
              <a:solidFill>
                <a:schemeClr val="tx2"/>
              </a:solidFill>
            </a:rPr>
            <a:t>프로젝트</a:t>
          </a:r>
          <a:r>
            <a:rPr lang="en-US">
              <a:solidFill>
                <a:schemeClr val="tx2"/>
              </a:solidFill>
            </a:rPr>
            <a:t> </a:t>
          </a:r>
          <a:r>
            <a:rPr lang="en-US" err="1">
              <a:solidFill>
                <a:schemeClr val="tx2"/>
              </a:solidFill>
            </a:rPr>
            <a:t>착수</a:t>
          </a:r>
          <a:endParaRPr lang="en-US"/>
        </a:p>
      </dgm:t>
    </dgm:pt>
    <dgm:pt modelId="{A63B00FC-B63A-4CD5-8128-37650396A9EC}" type="parTrans" cxnId="{E830457F-F0DB-4614-9E49-18B71C0421AC}">
      <dgm:prSet/>
      <dgm:spPr/>
      <dgm:t>
        <a:bodyPr/>
        <a:lstStyle/>
        <a:p>
          <a:endParaRPr lang="en-US"/>
        </a:p>
      </dgm:t>
    </dgm:pt>
    <dgm:pt modelId="{6D28B0F9-9D2A-4689-9A69-BD2EDACFE3FA}" type="sibTrans" cxnId="{E830457F-F0DB-4614-9E49-18B71C0421AC}">
      <dgm:prSet/>
      <dgm:spPr/>
      <dgm:t>
        <a:bodyPr/>
        <a:lstStyle/>
        <a:p>
          <a:endParaRPr lang="en-US"/>
        </a:p>
      </dgm:t>
    </dgm:pt>
    <dgm:pt modelId="{8AC724C6-38BD-4EEA-BC40-83294FACF135}">
      <dgm:prSet phldrT="[Text]"/>
      <dgm:spPr/>
      <dgm:t>
        <a:bodyPr/>
        <a:lstStyle/>
        <a:p>
          <a:r>
            <a:rPr lang="en-US" err="1">
              <a:solidFill>
                <a:schemeClr val="tx2"/>
              </a:solidFill>
            </a:rPr>
            <a:t>계획</a:t>
          </a:r>
          <a:r>
            <a:rPr lang="en-US">
              <a:solidFill>
                <a:schemeClr val="tx2"/>
              </a:solidFill>
            </a:rPr>
            <a:t> </a:t>
          </a:r>
          <a:r>
            <a:rPr lang="en-US" err="1">
              <a:solidFill>
                <a:schemeClr val="tx2"/>
              </a:solidFill>
            </a:rPr>
            <a:t>수립·환경설정</a:t>
          </a:r>
          <a:endParaRPr lang="en-US"/>
        </a:p>
      </dgm:t>
    </dgm:pt>
    <dgm:pt modelId="{A6CA4AA8-C4D7-419B-A01A-AB02E2F9C63E}" type="parTrans" cxnId="{6D00CE34-6FA5-4A2D-BDF3-C7D1331D69DF}">
      <dgm:prSet/>
      <dgm:spPr/>
      <dgm:t>
        <a:bodyPr/>
        <a:lstStyle/>
        <a:p>
          <a:endParaRPr lang="en-US"/>
        </a:p>
      </dgm:t>
    </dgm:pt>
    <dgm:pt modelId="{F30231E9-86DF-4A06-9385-5FFD8406FCBD}" type="sibTrans" cxnId="{6D00CE34-6FA5-4A2D-BDF3-C7D1331D69DF}">
      <dgm:prSet/>
      <dgm:spPr/>
      <dgm:t>
        <a:bodyPr/>
        <a:lstStyle/>
        <a:p>
          <a:endParaRPr lang="en-US"/>
        </a:p>
      </dgm:t>
    </dgm:pt>
    <dgm:pt modelId="{BD7488B0-64A8-482B-BE68-9E5ED85042D1}">
      <dgm:prSet phldrT="[Text]"/>
      <dgm:spPr/>
      <dgm:t>
        <a:bodyPr/>
        <a:lstStyle/>
        <a:p>
          <a:pPr>
            <a:defRPr b="1"/>
          </a:pPr>
          <a:r>
            <a:rPr lang="en-US" err="1">
              <a:solidFill>
                <a:schemeClr val="tx2"/>
              </a:solidFill>
            </a:rPr>
            <a:t>침투</a:t>
          </a:r>
          <a:r>
            <a:rPr lang="en-US">
              <a:solidFill>
                <a:schemeClr val="tx2"/>
              </a:solidFill>
            </a:rPr>
            <a:t> 및 </a:t>
          </a:r>
          <a:r>
            <a:rPr lang="en-US" err="1">
              <a:solidFill>
                <a:schemeClr val="tx2"/>
              </a:solidFill>
            </a:rPr>
            <a:t>공격</a:t>
          </a:r>
          <a:r>
            <a:rPr lang="en-US">
              <a:solidFill>
                <a:schemeClr val="tx2"/>
              </a:solidFill>
            </a:rPr>
            <a:t> </a:t>
          </a:r>
          <a:r>
            <a:rPr lang="en-US" err="1">
              <a:solidFill>
                <a:schemeClr val="tx2"/>
              </a:solidFill>
            </a:rPr>
            <a:t>수행</a:t>
          </a:r>
          <a:endParaRPr lang="en-US"/>
        </a:p>
      </dgm:t>
    </dgm:pt>
    <dgm:pt modelId="{96A0BE34-1573-4CE5-91CD-AA0BFE4FAAC5}" type="parTrans" cxnId="{2F6B0184-E357-40AF-AA93-A22AB4B7C654}">
      <dgm:prSet/>
      <dgm:spPr/>
      <dgm:t>
        <a:bodyPr/>
        <a:lstStyle/>
        <a:p>
          <a:endParaRPr lang="en-US"/>
        </a:p>
      </dgm:t>
    </dgm:pt>
    <dgm:pt modelId="{F8E9E68D-E08A-4249-AE56-E88BB91989DF}" type="sibTrans" cxnId="{2F6B0184-E357-40AF-AA93-A22AB4B7C654}">
      <dgm:prSet/>
      <dgm:spPr/>
      <dgm:t>
        <a:bodyPr/>
        <a:lstStyle/>
        <a:p>
          <a:endParaRPr lang="en-US"/>
        </a:p>
      </dgm:t>
    </dgm:pt>
    <dgm:pt modelId="{6F26235B-EFD5-46A2-8D00-85D63028D5E1}">
      <dgm:prSet phldrT="[Text]"/>
      <dgm:spPr/>
      <dgm:t>
        <a:bodyPr/>
        <a:lstStyle/>
        <a:p>
          <a:r>
            <a:rPr lang="en-US" err="1">
              <a:solidFill>
                <a:schemeClr val="tx2"/>
              </a:solidFill>
            </a:rPr>
            <a:t>취약점</a:t>
          </a:r>
          <a:r>
            <a:rPr lang="en-US">
              <a:solidFill>
                <a:schemeClr val="tx2"/>
              </a:solidFill>
            </a:rPr>
            <a:t> </a:t>
          </a:r>
          <a:r>
            <a:rPr lang="en-US" err="1">
              <a:solidFill>
                <a:schemeClr val="tx2"/>
              </a:solidFill>
            </a:rPr>
            <a:t>분석·검증</a:t>
          </a:r>
          <a:endParaRPr lang="en-US"/>
        </a:p>
      </dgm:t>
    </dgm:pt>
    <dgm:pt modelId="{37E4F600-E507-4C1D-BC80-8285E46D4E53}" type="parTrans" cxnId="{7995A2F3-02CE-435D-8734-A865A6CCF2CB}">
      <dgm:prSet/>
      <dgm:spPr/>
      <dgm:t>
        <a:bodyPr/>
        <a:lstStyle/>
        <a:p>
          <a:endParaRPr lang="en-US"/>
        </a:p>
      </dgm:t>
    </dgm:pt>
    <dgm:pt modelId="{38872291-CE8D-480F-97C8-2FBE1326F470}" type="sibTrans" cxnId="{7995A2F3-02CE-435D-8734-A865A6CCF2CB}">
      <dgm:prSet/>
      <dgm:spPr/>
      <dgm:t>
        <a:bodyPr/>
        <a:lstStyle/>
        <a:p>
          <a:endParaRPr lang="en-US"/>
        </a:p>
      </dgm:t>
    </dgm:pt>
    <dgm:pt modelId="{3AA6AE66-BA4E-4A49-988B-ABB19F4C943E}">
      <dgm:prSet phldrT="[Text]"/>
      <dgm:spPr/>
      <dgm:t>
        <a:bodyPr/>
        <a:lstStyle/>
        <a:p>
          <a:pPr>
            <a:defRPr b="1"/>
          </a:pPr>
          <a:r>
            <a:rPr lang="en-US" err="1">
              <a:solidFill>
                <a:schemeClr val="tx2"/>
              </a:solidFill>
            </a:rPr>
            <a:t>보고</a:t>
          </a:r>
          <a:r>
            <a:rPr lang="en-US">
              <a:solidFill>
                <a:schemeClr val="tx2"/>
              </a:solidFill>
            </a:rPr>
            <a:t> 및 </a:t>
          </a:r>
          <a:r>
            <a:rPr lang="en-US" err="1">
              <a:solidFill>
                <a:schemeClr val="tx2"/>
              </a:solidFill>
            </a:rPr>
            <a:t>마무리</a:t>
          </a:r>
          <a:endParaRPr lang="en-US"/>
        </a:p>
      </dgm:t>
    </dgm:pt>
    <dgm:pt modelId="{7D382066-9C15-4744-A95E-BA7DEDE968A1}" type="parTrans" cxnId="{14BDED7F-0F22-40B8-90E0-E3D05765CE51}">
      <dgm:prSet/>
      <dgm:spPr/>
      <dgm:t>
        <a:bodyPr/>
        <a:lstStyle/>
        <a:p>
          <a:endParaRPr lang="en-US"/>
        </a:p>
      </dgm:t>
    </dgm:pt>
    <dgm:pt modelId="{440FAB13-E985-4380-8BB6-FE4F0467C753}" type="sibTrans" cxnId="{14BDED7F-0F22-40B8-90E0-E3D05765CE51}">
      <dgm:prSet/>
      <dgm:spPr/>
      <dgm:t>
        <a:bodyPr/>
        <a:lstStyle/>
        <a:p>
          <a:endParaRPr lang="en-US"/>
        </a:p>
      </dgm:t>
    </dgm:pt>
    <dgm:pt modelId="{E461B722-3000-498D-AB15-24A1A1519BE9}">
      <dgm:prSet phldrT="[Text]"/>
      <dgm:spPr/>
      <dgm:t>
        <a:bodyPr/>
        <a:lstStyle/>
        <a:p>
          <a:r>
            <a:rPr lang="en-US" err="1">
              <a:solidFill>
                <a:schemeClr val="tx2"/>
              </a:solidFill>
            </a:rPr>
            <a:t>내부</a:t>
          </a:r>
          <a:r>
            <a:rPr lang="en-US">
              <a:solidFill>
                <a:schemeClr val="tx2"/>
              </a:solidFill>
            </a:rPr>
            <a:t> </a:t>
          </a:r>
          <a:r>
            <a:rPr lang="en-US" err="1">
              <a:solidFill>
                <a:schemeClr val="tx2"/>
              </a:solidFill>
            </a:rPr>
            <a:t>침투·보고서</a:t>
          </a:r>
          <a:endParaRPr lang="en-US"/>
        </a:p>
      </dgm:t>
    </dgm:pt>
    <dgm:pt modelId="{05ECD051-4F31-41C2-BB76-45B33CA98757}" type="parTrans" cxnId="{5F75300B-8E92-4010-8728-907C27674D4B}">
      <dgm:prSet/>
      <dgm:spPr/>
      <dgm:t>
        <a:bodyPr/>
        <a:lstStyle/>
        <a:p>
          <a:endParaRPr lang="en-US"/>
        </a:p>
      </dgm:t>
    </dgm:pt>
    <dgm:pt modelId="{CB7DE196-FB67-4C1D-8E7E-E3DDA182D015}" type="sibTrans" cxnId="{5F75300B-8E92-4010-8728-907C27674D4B}">
      <dgm:prSet/>
      <dgm:spPr/>
      <dgm:t>
        <a:bodyPr/>
        <a:lstStyle/>
        <a:p>
          <a:endParaRPr lang="en-US"/>
        </a:p>
      </dgm:t>
    </dgm:pt>
    <dgm:pt modelId="{81AB1223-F7C0-4D3C-9F32-0E411887B52D}" type="parTrans">
      <dgm:prSet/>
      <dgm:spPr/>
      <dgm:t>
        <a:bodyPr/>
        <a:lstStyle/>
        <a:p>
          <a:endParaRPr lang="en-US"/>
        </a:p>
      </dgm:t>
    </dgm:pt>
    <dgm:pt modelId="{8AB96599-0548-4C22-A7A6-1C7F4A7AC4D6}" type="sibTrans">
      <dgm:prSet/>
      <dgm:spPr/>
      <dgm:t>
        <a:bodyPr/>
        <a:lstStyle/>
        <a:p>
          <a:endParaRPr lang="en-US"/>
        </a:p>
      </dgm:t>
    </dgm:pt>
    <dgm:pt modelId="{79EC8DC0-BE9C-4F73-82AF-DCFADC6A0FCC}" type="parTrans">
      <dgm:prSet/>
      <dgm:spPr/>
      <dgm:t>
        <a:bodyPr/>
        <a:lstStyle/>
        <a:p>
          <a:endParaRPr lang="en-US"/>
        </a:p>
      </dgm:t>
    </dgm:pt>
    <dgm:pt modelId="{10FB3A3F-06BE-4F82-88C2-E8301B53627D}" type="sibTrans">
      <dgm:prSet/>
      <dgm:spPr/>
      <dgm:t>
        <a:bodyPr/>
        <a:lstStyle/>
        <a:p>
          <a:endParaRPr lang="en-US"/>
        </a:p>
      </dgm:t>
    </dgm:pt>
    <dgm:pt modelId="{A042797A-D9D4-41C0-A6D6-CF7E4A11C308}" type="parTrans">
      <dgm:prSet/>
      <dgm:spPr/>
      <dgm:t>
        <a:bodyPr/>
        <a:lstStyle/>
        <a:p>
          <a:endParaRPr lang="en-US"/>
        </a:p>
      </dgm:t>
    </dgm:pt>
    <dgm:pt modelId="{2110E930-9EDC-452F-B68C-FB451686C120}" type="sibTrans">
      <dgm:prSet/>
      <dgm:spPr/>
      <dgm:t>
        <a:bodyPr/>
        <a:lstStyle/>
        <a:p>
          <a:endParaRPr lang="en-US"/>
        </a:p>
      </dgm:t>
    </dgm:pt>
    <dgm:pt modelId="{03A79CCC-09CA-49E4-A175-15B3C9614238}" type="parTrans">
      <dgm:prSet/>
      <dgm:spPr/>
      <dgm:t>
        <a:bodyPr/>
        <a:lstStyle/>
        <a:p>
          <a:endParaRPr lang="en-US"/>
        </a:p>
      </dgm:t>
    </dgm:pt>
    <dgm:pt modelId="{50CCFA74-26A7-4138-9F8C-B3D4DE2220C4}" type="sibTrans">
      <dgm:prSet/>
      <dgm:spPr/>
      <dgm:t>
        <a:bodyPr/>
        <a:lstStyle/>
        <a:p>
          <a:endParaRPr lang="en-US"/>
        </a:p>
      </dgm:t>
    </dgm:pt>
    <dgm:pt modelId="{50E6487E-D478-4C42-9A49-DF1E90F7DE94}" type="parTrans">
      <dgm:prSet/>
      <dgm:spPr/>
      <dgm:t>
        <a:bodyPr/>
        <a:lstStyle/>
        <a:p>
          <a:endParaRPr lang="en-US"/>
        </a:p>
      </dgm:t>
    </dgm:pt>
    <dgm:pt modelId="{7B6A0444-FAEA-44ED-8DBB-EE7333209466}" type="sibTrans">
      <dgm:prSet/>
      <dgm:spPr/>
      <dgm:t>
        <a:bodyPr/>
        <a:lstStyle/>
        <a:p>
          <a:endParaRPr lang="en-US"/>
        </a:p>
      </dgm:t>
    </dgm:pt>
    <dgm:pt modelId="{973CC4F0-FEB8-4FFB-9ABE-D0732B9A817D}" type="parTrans">
      <dgm:prSet/>
      <dgm:spPr/>
      <dgm:t>
        <a:bodyPr/>
        <a:lstStyle/>
        <a:p>
          <a:endParaRPr lang="en-US"/>
        </a:p>
      </dgm:t>
    </dgm:pt>
    <dgm:pt modelId="{8188F626-CE40-4120-A1B4-C256CFD89E30}" type="sibTrans">
      <dgm:prSet/>
      <dgm:spPr/>
      <dgm:t>
        <a:bodyPr/>
        <a:lstStyle/>
        <a:p>
          <a:endParaRPr lang="en-US"/>
        </a:p>
      </dgm:t>
    </dgm:pt>
    <dgm:pt modelId="{846F3380-F8E7-40A1-B4EE-82AE49153915}" type="parTrans">
      <dgm:prSet/>
      <dgm:spPr/>
      <dgm:t>
        <a:bodyPr/>
        <a:lstStyle/>
        <a:p>
          <a:endParaRPr lang="en-US"/>
        </a:p>
      </dgm:t>
    </dgm:pt>
    <dgm:pt modelId="{14F97B2A-2DE3-44D3-8F83-4D0803278550}" type="sibTrans">
      <dgm:prSet/>
      <dgm:spPr/>
      <dgm:t>
        <a:bodyPr/>
        <a:lstStyle/>
        <a:p>
          <a:endParaRPr lang="en-US"/>
        </a:p>
      </dgm:t>
    </dgm:pt>
    <dgm:pt modelId="{E9F9032D-4C3A-4DFE-81EE-F0C27566E20F}" type="parTrans">
      <dgm:prSet/>
      <dgm:spPr/>
      <dgm:t>
        <a:bodyPr/>
        <a:lstStyle/>
        <a:p>
          <a:endParaRPr lang="en-US"/>
        </a:p>
      </dgm:t>
    </dgm:pt>
    <dgm:pt modelId="{95453B02-6F95-48F1-976F-AAD1BB88FB99}" type="sibTrans">
      <dgm:prSet/>
      <dgm:spPr/>
      <dgm:t>
        <a:bodyPr/>
        <a:lstStyle/>
        <a:p>
          <a:endParaRPr lang="en-US"/>
        </a:p>
      </dgm:t>
    </dgm:pt>
    <dgm:pt modelId="{AAB8D57C-1D4A-4490-9FC5-B041DE6B4B0E}" type="parTrans">
      <dgm:prSet/>
      <dgm:spPr/>
      <dgm:t>
        <a:bodyPr/>
        <a:lstStyle/>
        <a:p>
          <a:endParaRPr lang="en-US"/>
        </a:p>
      </dgm:t>
    </dgm:pt>
    <dgm:pt modelId="{87DAA045-AC37-4D7D-A580-4CD0AE35EB1B}" type="sibTrans">
      <dgm:prSet/>
      <dgm:spPr/>
      <dgm:t>
        <a:bodyPr/>
        <a:lstStyle/>
        <a:p>
          <a:endParaRPr lang="en-US"/>
        </a:p>
      </dgm:t>
    </dgm:pt>
    <dgm:pt modelId="{7241BFF0-5BFF-494D-B1C6-0EF07117AB93}" type="parTrans">
      <dgm:prSet/>
      <dgm:spPr/>
      <dgm:t>
        <a:bodyPr/>
        <a:lstStyle/>
        <a:p>
          <a:endParaRPr lang="en-US"/>
        </a:p>
      </dgm:t>
    </dgm:pt>
    <dgm:pt modelId="{519AA78D-1D12-4AAD-AB13-3E261E8EBFA3}" type="sibTrans">
      <dgm:prSet/>
      <dgm:spPr/>
      <dgm:t>
        <a:bodyPr/>
        <a:lstStyle/>
        <a:p>
          <a:endParaRPr lang="en-US"/>
        </a:p>
      </dgm:t>
    </dgm:pt>
    <dgm:pt modelId="{58C98777-A41B-48AC-8DDA-F46E9D7EC4CA}" type="parTrans">
      <dgm:prSet/>
      <dgm:spPr/>
      <dgm:t>
        <a:bodyPr/>
        <a:lstStyle/>
        <a:p>
          <a:endParaRPr lang="en-US"/>
        </a:p>
      </dgm:t>
    </dgm:pt>
    <dgm:pt modelId="{692E7177-8303-4945-80D7-A0E898EC7DE6}" type="sibTrans">
      <dgm:prSet/>
      <dgm:spPr/>
      <dgm:t>
        <a:bodyPr/>
        <a:lstStyle/>
        <a:p>
          <a:endParaRPr lang="en-US"/>
        </a:p>
      </dgm:t>
    </dgm:pt>
    <dgm:pt modelId="{0251612D-5126-4E92-9B48-35B347A2F42D}" type="parTrans">
      <dgm:prSet/>
      <dgm:spPr/>
      <dgm:t>
        <a:bodyPr/>
        <a:lstStyle/>
        <a:p>
          <a:endParaRPr lang="en-US"/>
        </a:p>
      </dgm:t>
    </dgm:pt>
    <dgm:pt modelId="{188B7890-183F-42A9-8739-0414BEFD5E0E}" type="sibTrans">
      <dgm:prSet/>
      <dgm:spPr/>
      <dgm:t>
        <a:bodyPr/>
        <a:lstStyle/>
        <a:p>
          <a:endParaRPr lang="en-US"/>
        </a:p>
      </dgm:t>
    </dgm:pt>
    <dgm:pt modelId="{14313A64-4F94-4994-AD61-AC2F3208DE5B}" type="parTrans">
      <dgm:prSet/>
      <dgm:spPr/>
      <dgm:t>
        <a:bodyPr/>
        <a:lstStyle/>
        <a:p>
          <a:endParaRPr lang="en-US"/>
        </a:p>
      </dgm:t>
    </dgm:pt>
    <dgm:pt modelId="{52AA4A1A-FA4D-4186-B1E3-301E31018050}" type="sibTrans">
      <dgm:prSet/>
      <dgm:spPr/>
      <dgm:t>
        <a:bodyPr/>
        <a:lstStyle/>
        <a:p>
          <a:endParaRPr lang="en-US"/>
        </a:p>
      </dgm:t>
    </dgm:pt>
    <dgm:pt modelId="{CCCAA880-E633-4D29-A17C-F2A5439F5F49}" type="parTrans">
      <dgm:prSet/>
      <dgm:spPr/>
      <dgm:t>
        <a:bodyPr/>
        <a:lstStyle/>
        <a:p>
          <a:endParaRPr lang="en-US"/>
        </a:p>
      </dgm:t>
    </dgm:pt>
    <dgm:pt modelId="{697466CB-6C2E-4C4B-89B1-8901B6B29D9C}" type="sibTrans">
      <dgm:prSet/>
      <dgm:spPr/>
      <dgm:t>
        <a:bodyPr/>
        <a:lstStyle/>
        <a:p>
          <a:endParaRPr lang="en-US"/>
        </a:p>
      </dgm:t>
    </dgm:pt>
    <dgm:pt modelId="{28ADB19D-A77A-438E-8244-9B1C200C9A8B}">
      <dgm:prSet phldrT="[Text]"/>
      <dgm:spPr/>
      <dgm:t>
        <a:bodyPr/>
        <a:lstStyle/>
        <a:p>
          <a:r>
            <a:rPr lang="en-US">
              <a:solidFill>
                <a:schemeClr val="tx2"/>
              </a:solidFill>
            </a:rPr>
            <a:t>2026.03.14 ~ 03.21</a:t>
          </a:r>
          <a:endParaRPr lang="en-US"/>
        </a:p>
      </dgm:t>
    </dgm:pt>
    <dgm:pt modelId="{BE9920BD-1281-4EA5-9E7F-D01DFAEAEC41}" type="parTrans" cxnId="{AC601AA2-D602-4180-BA95-5E1280AF3F38}">
      <dgm:prSet/>
      <dgm:spPr/>
      <dgm:t>
        <a:bodyPr/>
        <a:lstStyle/>
        <a:p>
          <a:endParaRPr lang="en-US"/>
        </a:p>
      </dgm:t>
    </dgm:pt>
    <dgm:pt modelId="{DA46A4DE-8915-4249-B63C-8EABC2A64BFB}" type="sibTrans" cxnId="{AC601AA2-D602-4180-BA95-5E1280AF3F38}">
      <dgm:prSet/>
      <dgm:spPr/>
      <dgm:t>
        <a:bodyPr/>
        <a:lstStyle/>
        <a:p>
          <a:endParaRPr lang="en-US"/>
        </a:p>
      </dgm:t>
    </dgm:pt>
    <dgm:pt modelId="{F56CF220-4B9D-4955-B4EF-1175B33BA2D1}">
      <dgm:prSet phldrT="[Text]"/>
      <dgm:spPr/>
      <dgm:t>
        <a:bodyPr/>
        <a:lstStyle/>
        <a:p>
          <a:r>
            <a:rPr lang="en-US">
              <a:solidFill>
                <a:schemeClr val="tx2"/>
              </a:solidFill>
            </a:rPr>
            <a:t>2026.03.21 ~ 04.04</a:t>
          </a:r>
          <a:endParaRPr lang="en-US"/>
        </a:p>
      </dgm:t>
    </dgm:pt>
    <dgm:pt modelId="{4692A8D9-DB40-4DBF-B0A4-3EDC17AD7495}" type="parTrans" cxnId="{BB102CCF-CC95-4E7E-9E19-8116D80D470C}">
      <dgm:prSet/>
      <dgm:spPr/>
      <dgm:t>
        <a:bodyPr/>
        <a:lstStyle/>
        <a:p>
          <a:endParaRPr lang="en-US"/>
        </a:p>
      </dgm:t>
    </dgm:pt>
    <dgm:pt modelId="{F0DCED9B-015B-46F0-8F7D-A95A45ACC2B6}" type="sibTrans" cxnId="{BB102CCF-CC95-4E7E-9E19-8116D80D470C}">
      <dgm:prSet/>
      <dgm:spPr/>
      <dgm:t>
        <a:bodyPr/>
        <a:lstStyle/>
        <a:p>
          <a:endParaRPr lang="en-US"/>
        </a:p>
      </dgm:t>
    </dgm:pt>
    <dgm:pt modelId="{4A54DBC3-0AD7-48C8-9799-50763309FB4F}">
      <dgm:prSet phldrT="[Text]"/>
      <dgm:spPr/>
      <dgm:t>
        <a:bodyPr/>
        <a:lstStyle/>
        <a:p>
          <a:r>
            <a:rPr lang="en-US">
              <a:solidFill>
                <a:schemeClr val="tx2"/>
              </a:solidFill>
            </a:rPr>
            <a:t>2026.04.04 ~ 04.18</a:t>
          </a:r>
          <a:endParaRPr lang="en-US"/>
        </a:p>
      </dgm:t>
    </dgm:pt>
    <dgm:pt modelId="{DEB62AFE-5D8F-44A4-BC7A-DEF5B01B6CC4}" type="parTrans" cxnId="{0D404737-8CDD-46CA-A34A-F2CAF01A21F5}">
      <dgm:prSet/>
      <dgm:spPr/>
      <dgm:t>
        <a:bodyPr/>
        <a:lstStyle/>
        <a:p>
          <a:endParaRPr lang="en-US"/>
        </a:p>
      </dgm:t>
    </dgm:pt>
    <dgm:pt modelId="{BB112889-EFC7-45B6-B38A-3DC200EED8FE}" type="sibTrans" cxnId="{0D404737-8CDD-46CA-A34A-F2CAF01A21F5}">
      <dgm:prSet/>
      <dgm:spPr/>
      <dgm:t>
        <a:bodyPr/>
        <a:lstStyle/>
        <a:p>
          <a:endParaRPr lang="en-US"/>
        </a:p>
      </dgm:t>
    </dgm:pt>
    <dgm:pt modelId="{BF487F6C-F161-4AD3-9781-EE6B5DE8C721}" type="pres">
      <dgm:prSet presAssocID="{9E534FE8-D3E6-4CB2-8853-DFF4ED1992DC}" presName="root" presStyleCnt="0">
        <dgm:presLayoutVars>
          <dgm:chMax/>
          <dgm:chPref/>
          <dgm:animLvl val="lvl"/>
        </dgm:presLayoutVars>
      </dgm:prSet>
      <dgm:spPr/>
    </dgm:pt>
    <dgm:pt modelId="{3AB74305-A87B-4E36-9991-3723CD2D8312}" type="pres">
      <dgm:prSet presAssocID="{9E534FE8-D3E6-4CB2-8853-DFF4ED1992DC}" presName="divider" presStyleLbl="fgAcc1" presStyleIdx="0" presStyleCnt="7"/>
      <dgm:spPr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9E5D1BE4-81E1-4216-8AB1-01C6CA2BF810}" type="pres">
      <dgm:prSet presAssocID="{9E534FE8-D3E6-4CB2-8853-DFF4ED1992DC}" presName="nodes" presStyleCnt="0">
        <dgm:presLayoutVars>
          <dgm:chMax/>
          <dgm:chPref/>
          <dgm:animLvl val="lvl"/>
        </dgm:presLayoutVars>
      </dgm:prSet>
      <dgm:spPr/>
    </dgm:pt>
    <dgm:pt modelId="{CF809541-8216-4935-86B3-D46032E38083}" type="pres">
      <dgm:prSet presAssocID="{2B4662C2-C437-4ADE-924F-DD72F6D16114}" presName="composite" presStyleCnt="0"/>
      <dgm:spPr/>
    </dgm:pt>
    <dgm:pt modelId="{9F8524E3-AEF3-459F-B0F4-A5C95FE87ECF}" type="pres">
      <dgm:prSet presAssocID="{2B4662C2-C437-4ADE-924F-DD72F6D16114}" presName="ConnectorPoint" presStyleLbl="trBgShp" presStyleIdx="0" presStyleCnt="6"/>
      <dgm:spPr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hueOff val="0"/>
              <a:satOff val="0"/>
              <a:lumOff val="0"/>
              <a:alphaOff val="0"/>
            </a:schemeClr>
          </a:solidFill>
        </a:ln>
        <a:effectLst/>
      </dgm:spPr>
    </dgm:pt>
    <dgm:pt modelId="{9860F01B-6A6D-4B12-A6AE-6622782639A4}" type="pres">
      <dgm:prSet presAssocID="{2B4662C2-C437-4ADE-924F-DD72F6D16114}" presName="DropPinPlaceHolder" presStyleCnt="0"/>
      <dgm:spPr/>
    </dgm:pt>
    <dgm:pt modelId="{11462F4F-30E9-4C6D-A8C5-8D2E79B5FACD}" type="pres">
      <dgm:prSet presAssocID="{2B4662C2-C437-4ADE-924F-DD72F6D16114}" presName="DropPin" presStyleLbl="fgAcc1" presStyleIdx="1" presStyleCnt="7" custLinFactNeighborX="42711"/>
      <dgm:spPr/>
    </dgm:pt>
    <dgm:pt modelId="{DCA28A43-232D-4885-BB61-5C887AD18E1D}" type="pres">
      <dgm:prSet presAssocID="{2B4662C2-C437-4ADE-924F-DD72F6D16114}" presName="Ellipse" presStyleLbl="trBgShp" presStyleIdx="1" presStyleCnt="6"/>
      <dgm:spPr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3E570DFD-1D98-4FB3-8572-95196E5A4DE5}" type="pres">
      <dgm:prSet presAssocID="{2B4662C2-C437-4ADE-924F-DD72F6D16114}" presName="L2TextContainer" presStyleLbl="revTx" presStyleIdx="0" presStyleCnt="6">
        <dgm:presLayoutVars>
          <dgm:bulletEnabled val="1"/>
        </dgm:presLayoutVars>
      </dgm:prSet>
      <dgm:spPr/>
    </dgm:pt>
    <dgm:pt modelId="{617DA8AF-3609-4666-B01F-2BE87CB2984C}" type="pres">
      <dgm:prSet presAssocID="{2B4662C2-C437-4ADE-924F-DD72F6D16114}" presName="L1TextContainer" presStyleLbl="revTx" presStyleIdx="1" presStyleCnt="6" custLinFactNeighborX="7834">
        <dgm:presLayoutVars>
          <dgm:chMax val="1"/>
          <dgm:chPref val="1"/>
          <dgm:bulletEnabled val="1"/>
        </dgm:presLayoutVars>
      </dgm:prSet>
      <dgm:spPr/>
    </dgm:pt>
    <dgm:pt modelId="{16568B86-7720-47DE-9CF0-D248CF78425B}" type="pres">
      <dgm:prSet presAssocID="{2B4662C2-C437-4ADE-924F-DD72F6D16114}" presName="ConnectLine" presStyleLbl="fgAcc1" presStyleIdx="2" presStyleCnt="7" custLinFactX="300000" custLinFactNeighborX="319566" custLinFactNeighborY="992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FE85BE1A-52EC-4C8E-A3E0-807B2D0DC66A}" type="pres">
      <dgm:prSet presAssocID="{2B4662C2-C437-4ADE-924F-DD72F6D16114}" presName="EmptyPlaceHolder" presStyleCnt="0"/>
      <dgm:spPr/>
    </dgm:pt>
    <dgm:pt modelId="{B52FB1D3-4DE5-478B-AF13-54B14F801F67}" type="pres">
      <dgm:prSet presAssocID="{6D28B0F9-9D2A-4689-9A69-BD2EDACFE3FA}" presName="spaceBetweenRectangles" presStyleCnt="0"/>
      <dgm:spPr/>
    </dgm:pt>
    <dgm:pt modelId="{CA314774-C8E0-4C59-B8A5-1A8940FF9B54}" type="pres">
      <dgm:prSet presAssocID="{BD7488B0-64A8-482B-BE68-9E5ED85042D1}" presName="composite" presStyleCnt="0"/>
      <dgm:spPr/>
    </dgm:pt>
    <dgm:pt modelId="{DDAE7927-B2E9-4252-99DF-FB3E7A9A09DB}" type="pres">
      <dgm:prSet presAssocID="{BD7488B0-64A8-482B-BE68-9E5ED85042D1}" presName="ConnectorPoint" presStyleLbl="trBgShp" presStyleIdx="2" presStyleCnt="6"/>
      <dgm:spPr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hueOff val="0"/>
              <a:satOff val="0"/>
              <a:lumOff val="0"/>
              <a:alphaOff val="0"/>
            </a:schemeClr>
          </a:solidFill>
        </a:ln>
        <a:effectLst/>
      </dgm:spPr>
    </dgm:pt>
    <dgm:pt modelId="{077266CD-54E6-4346-BB7F-76F56D6A24F5}" type="pres">
      <dgm:prSet presAssocID="{BD7488B0-64A8-482B-BE68-9E5ED85042D1}" presName="DropPinPlaceHolder" presStyleCnt="0"/>
      <dgm:spPr/>
    </dgm:pt>
    <dgm:pt modelId="{5FE0D96F-FCC8-452F-990D-876EF0F435E2}" type="pres">
      <dgm:prSet presAssocID="{BD7488B0-64A8-482B-BE68-9E5ED85042D1}" presName="DropPin" presStyleLbl="fgAcc1" presStyleIdx="3" presStyleCnt="7" custLinFactX="33016" custLinFactNeighborX="100000"/>
      <dgm:spPr/>
    </dgm:pt>
    <dgm:pt modelId="{FCAF2910-4E35-4BDA-B5F2-449A41E68012}" type="pres">
      <dgm:prSet presAssocID="{BD7488B0-64A8-482B-BE68-9E5ED85042D1}" presName="Ellipse" presStyleLbl="trBgShp" presStyleIdx="3" presStyleCnt="6"/>
      <dgm:spPr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878612B1-17F4-4C9B-A031-1FB234967687}" type="pres">
      <dgm:prSet presAssocID="{BD7488B0-64A8-482B-BE68-9E5ED85042D1}" presName="L2TextContainer" presStyleLbl="revTx" presStyleIdx="2" presStyleCnt="6">
        <dgm:presLayoutVars>
          <dgm:bulletEnabled val="1"/>
        </dgm:presLayoutVars>
      </dgm:prSet>
      <dgm:spPr/>
    </dgm:pt>
    <dgm:pt modelId="{6F7A3B41-104F-4CCC-8DE2-37F05FEA6245}" type="pres">
      <dgm:prSet presAssocID="{BD7488B0-64A8-482B-BE68-9E5ED85042D1}" presName="L1TextContainer" presStyleLbl="revTx" presStyleIdx="3" presStyleCnt="6" custLinFactNeighborX="21345" custLinFactNeighborY="-1220">
        <dgm:presLayoutVars>
          <dgm:chMax val="1"/>
          <dgm:chPref val="1"/>
          <dgm:bulletEnabled val="1"/>
        </dgm:presLayoutVars>
      </dgm:prSet>
      <dgm:spPr/>
    </dgm:pt>
    <dgm:pt modelId="{A19E2B60-3D9A-4F37-91E3-0271F73383E2}" type="pres">
      <dgm:prSet presAssocID="{BD7488B0-64A8-482B-BE68-9E5ED85042D1}" presName="ConnectLine" presStyleLbl="fgAcc1" presStyleIdx="4" presStyleCnt="7" custLinFactX="900000" custLinFactNeighborX="987361" custLinFactNeighborY="992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58058968-B34E-4959-88E0-948EB9D39D16}" type="pres">
      <dgm:prSet presAssocID="{BD7488B0-64A8-482B-BE68-9E5ED85042D1}" presName="EmptyPlaceHolder" presStyleCnt="0"/>
      <dgm:spPr/>
    </dgm:pt>
    <dgm:pt modelId="{878827A0-7BAE-4CD1-9F59-8CB5AA38943F}" type="pres">
      <dgm:prSet presAssocID="{F8E9E68D-E08A-4249-AE56-E88BB91989DF}" presName="spaceBetweenRectangles" presStyleCnt="0"/>
      <dgm:spPr/>
    </dgm:pt>
    <dgm:pt modelId="{310FDB62-1EB8-4B7E-9957-049765D3F4EC}" type="pres">
      <dgm:prSet presAssocID="{3AA6AE66-BA4E-4A49-988B-ABB19F4C943E}" presName="composite" presStyleCnt="0"/>
      <dgm:spPr/>
    </dgm:pt>
    <dgm:pt modelId="{7E49B617-839D-4ABA-A08E-60FF99353721}" type="pres">
      <dgm:prSet presAssocID="{3AA6AE66-BA4E-4A49-988B-ABB19F4C943E}" presName="ConnectorPoint" presStyleLbl="trBgShp" presStyleIdx="4" presStyleCnt="6"/>
      <dgm:spPr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hueOff val="0"/>
              <a:satOff val="0"/>
              <a:lumOff val="0"/>
              <a:alphaOff val="0"/>
            </a:schemeClr>
          </a:solidFill>
        </a:ln>
        <a:effectLst/>
      </dgm:spPr>
    </dgm:pt>
    <dgm:pt modelId="{F7160E19-732F-4997-B097-E3D610940891}" type="pres">
      <dgm:prSet presAssocID="{3AA6AE66-BA4E-4A49-988B-ABB19F4C943E}" presName="DropPinPlaceHolder" presStyleCnt="0"/>
      <dgm:spPr/>
    </dgm:pt>
    <dgm:pt modelId="{5D214DAC-5587-46BA-98CD-A0C809FBD10D}" type="pres">
      <dgm:prSet presAssocID="{3AA6AE66-BA4E-4A49-988B-ABB19F4C943E}" presName="DropPin" presStyleLbl="fgAcc1" presStyleIdx="5" presStyleCnt="7" custLinFactNeighborX="30508" custLinFactNeighborY="-7322"/>
      <dgm:spPr/>
    </dgm:pt>
    <dgm:pt modelId="{FC5C45CA-48EA-445B-A9C4-639C726FF83E}" type="pres">
      <dgm:prSet presAssocID="{3AA6AE66-BA4E-4A49-988B-ABB19F4C943E}" presName="Ellipse" presStyleLbl="trBgShp" presStyleIdx="5" presStyleCnt="6"/>
      <dgm:spPr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EE03BB8E-BCCC-43C8-8B1D-8D618D1AE252}" type="pres">
      <dgm:prSet presAssocID="{3AA6AE66-BA4E-4A49-988B-ABB19F4C943E}" presName="L2TextContainer" presStyleLbl="revTx" presStyleIdx="4" presStyleCnt="6">
        <dgm:presLayoutVars>
          <dgm:bulletEnabled val="1"/>
        </dgm:presLayoutVars>
      </dgm:prSet>
      <dgm:spPr/>
    </dgm:pt>
    <dgm:pt modelId="{5876F02A-5F3A-4FA6-B19B-0C6ACD18A00D}" type="pres">
      <dgm:prSet presAssocID="{3AA6AE66-BA4E-4A49-988B-ABB19F4C943E}" presName="L1TextContainer" presStyleLbl="revTx" presStyleIdx="5" presStyleCnt="6" custLinFactNeighborX="16818" custLinFactNeighborY="2577">
        <dgm:presLayoutVars>
          <dgm:chMax val="1"/>
          <dgm:chPref val="1"/>
          <dgm:bulletEnabled val="1"/>
        </dgm:presLayoutVars>
      </dgm:prSet>
      <dgm:spPr/>
    </dgm:pt>
    <dgm:pt modelId="{F4F26E3D-A3BE-44B3-B97B-892AE623864A}" type="pres">
      <dgm:prSet presAssocID="{3AA6AE66-BA4E-4A49-988B-ABB19F4C943E}" presName="ConnectLine" presStyleLbl="fgAcc1" presStyleIdx="6" presStyleCnt="7" custLinFactX="200000" custLinFactNeighborX="293889" custLinFactNeighborY="-2170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051007C2-45ED-4471-AE5D-CB325C70525B}" type="pres">
      <dgm:prSet presAssocID="{3AA6AE66-BA4E-4A49-988B-ABB19F4C943E}" presName="EmptyPlaceHolder" presStyleCnt="0"/>
      <dgm:spPr/>
    </dgm:pt>
  </dgm:ptLst>
  <dgm:cxnLst>
    <dgm:cxn modelId="{43FDC806-F027-4491-A832-8DE2B4856427}" type="presOf" srcId="{F56CF220-4B9D-4955-B4EF-1175B33BA2D1}" destId="{878612B1-17F4-4C9B-A031-1FB234967687}" srcOrd="0" destOrd="1" presId="urn:microsoft.com/office/officeart/2025/8/layout/Timeline 02"/>
    <dgm:cxn modelId="{5F75300B-8E92-4010-8728-907C27674D4B}" srcId="{3AA6AE66-BA4E-4A49-988B-ABB19F4C943E}" destId="{E461B722-3000-498D-AB15-24A1A1519BE9}" srcOrd="0" destOrd="0" parTransId="{05ECD051-4F31-41C2-BB76-45B33CA98757}" sibTransId="{CB7DE196-FB67-4C1D-8E7E-E3DDA182D015}"/>
    <dgm:cxn modelId="{504F9010-1AD3-472B-AFEA-C109C0C0258B}" type="presOf" srcId="{E461B722-3000-498D-AB15-24A1A1519BE9}" destId="{EE03BB8E-BCCC-43C8-8B1D-8D618D1AE252}" srcOrd="0" destOrd="0" presId="urn:microsoft.com/office/officeart/2025/8/layout/Timeline 02"/>
    <dgm:cxn modelId="{6D00CE34-6FA5-4A2D-BDF3-C7D1331D69DF}" srcId="{2B4662C2-C437-4ADE-924F-DD72F6D16114}" destId="{8AC724C6-38BD-4EEA-BC40-83294FACF135}" srcOrd="0" destOrd="0" parTransId="{A6CA4AA8-C4D7-419B-A01A-AB02E2F9C63E}" sibTransId="{F30231E9-86DF-4A06-9385-5FFD8406FCBD}"/>
    <dgm:cxn modelId="{0D404737-8CDD-46CA-A34A-F2CAF01A21F5}" srcId="{3AA6AE66-BA4E-4A49-988B-ABB19F4C943E}" destId="{4A54DBC3-0AD7-48C8-9799-50763309FB4F}" srcOrd="1" destOrd="0" parTransId="{DEB62AFE-5D8F-44A4-BC7A-DEF5B01B6CC4}" sibTransId="{BB112889-EFC7-45B6-B38A-3DC200EED8FE}"/>
    <dgm:cxn modelId="{14E5EC70-DDCA-4DB4-8BAB-82DCF1B57A7A}" type="presOf" srcId="{4A54DBC3-0AD7-48C8-9799-50763309FB4F}" destId="{EE03BB8E-BCCC-43C8-8B1D-8D618D1AE252}" srcOrd="0" destOrd="1" presId="urn:microsoft.com/office/officeart/2025/8/layout/Timeline 02"/>
    <dgm:cxn modelId="{30EA3D76-32FE-4076-9FE6-9E65BA5548D6}" type="presOf" srcId="{2B4662C2-C437-4ADE-924F-DD72F6D16114}" destId="{617DA8AF-3609-4666-B01F-2BE87CB2984C}" srcOrd="0" destOrd="0" presId="urn:microsoft.com/office/officeart/2025/8/layout/Timeline 02"/>
    <dgm:cxn modelId="{52585C7A-EE07-4949-9413-60C5E15C0C0C}" type="presOf" srcId="{8AC724C6-38BD-4EEA-BC40-83294FACF135}" destId="{3E570DFD-1D98-4FB3-8572-95196E5A4DE5}" srcOrd="0" destOrd="0" presId="urn:microsoft.com/office/officeart/2025/8/layout/Timeline 02"/>
    <dgm:cxn modelId="{E830457F-F0DB-4614-9E49-18B71C0421AC}" srcId="{9E534FE8-D3E6-4CB2-8853-DFF4ED1992DC}" destId="{2B4662C2-C437-4ADE-924F-DD72F6D16114}" srcOrd="0" destOrd="0" parTransId="{A63B00FC-B63A-4CD5-8128-37650396A9EC}" sibTransId="{6D28B0F9-9D2A-4689-9A69-BD2EDACFE3FA}"/>
    <dgm:cxn modelId="{14BDED7F-0F22-40B8-90E0-E3D05765CE51}" srcId="{9E534FE8-D3E6-4CB2-8853-DFF4ED1992DC}" destId="{3AA6AE66-BA4E-4A49-988B-ABB19F4C943E}" srcOrd="2" destOrd="0" parTransId="{7D382066-9C15-4744-A95E-BA7DEDE968A1}" sibTransId="{440FAB13-E985-4380-8BB6-FE4F0467C753}"/>
    <dgm:cxn modelId="{84A84A80-23CB-4026-91EF-5537B8FCEBA4}" type="presOf" srcId="{6F26235B-EFD5-46A2-8D00-85D63028D5E1}" destId="{878612B1-17F4-4C9B-A031-1FB234967687}" srcOrd="0" destOrd="0" presId="urn:microsoft.com/office/officeart/2025/8/layout/Timeline 02"/>
    <dgm:cxn modelId="{2F6B0184-E357-40AF-AA93-A22AB4B7C654}" srcId="{9E534FE8-D3E6-4CB2-8853-DFF4ED1992DC}" destId="{BD7488B0-64A8-482B-BE68-9E5ED85042D1}" srcOrd="1" destOrd="0" parTransId="{96A0BE34-1573-4CE5-91CD-AA0BFE4FAAC5}" sibTransId="{F8E9E68D-E08A-4249-AE56-E88BB91989DF}"/>
    <dgm:cxn modelId="{AC601AA2-D602-4180-BA95-5E1280AF3F38}" srcId="{2B4662C2-C437-4ADE-924F-DD72F6D16114}" destId="{28ADB19D-A77A-438E-8244-9B1C200C9A8B}" srcOrd="1" destOrd="0" parTransId="{BE9920BD-1281-4EA5-9E7F-D01DFAEAEC41}" sibTransId="{DA46A4DE-8915-4249-B63C-8EABC2A64BFB}"/>
    <dgm:cxn modelId="{DF74B6B1-C0DD-4C66-9D03-4A7A40362272}" type="presOf" srcId="{9E534FE8-D3E6-4CB2-8853-DFF4ED1992DC}" destId="{BF487F6C-F161-4AD3-9781-EE6B5DE8C721}" srcOrd="0" destOrd="0" presId="urn:microsoft.com/office/officeart/2025/8/layout/Timeline 02"/>
    <dgm:cxn modelId="{424294C1-CAD9-43C9-8030-E97AC53C4ABE}" type="presOf" srcId="{3AA6AE66-BA4E-4A49-988B-ABB19F4C943E}" destId="{5876F02A-5F3A-4FA6-B19B-0C6ACD18A00D}" srcOrd="0" destOrd="0" presId="urn:microsoft.com/office/officeart/2025/8/layout/Timeline 02"/>
    <dgm:cxn modelId="{BB102CCF-CC95-4E7E-9E19-8116D80D470C}" srcId="{BD7488B0-64A8-482B-BE68-9E5ED85042D1}" destId="{F56CF220-4B9D-4955-B4EF-1175B33BA2D1}" srcOrd="1" destOrd="0" parTransId="{4692A8D9-DB40-4DBF-B0A4-3EDC17AD7495}" sibTransId="{F0DCED9B-015B-46F0-8F7D-A95A45ACC2B6}"/>
    <dgm:cxn modelId="{2BFED0E7-F999-4D53-BA40-3E7E6D1A9F7E}" type="presOf" srcId="{BD7488B0-64A8-482B-BE68-9E5ED85042D1}" destId="{6F7A3B41-104F-4CCC-8DE2-37F05FEA6245}" srcOrd="0" destOrd="0" presId="urn:microsoft.com/office/officeart/2025/8/layout/Timeline 02"/>
    <dgm:cxn modelId="{D2ED47F3-810B-401C-B3EE-696091A7EEF9}" type="presOf" srcId="{28ADB19D-A77A-438E-8244-9B1C200C9A8B}" destId="{3E570DFD-1D98-4FB3-8572-95196E5A4DE5}" srcOrd="0" destOrd="1" presId="urn:microsoft.com/office/officeart/2025/8/layout/Timeline 02"/>
    <dgm:cxn modelId="{7995A2F3-02CE-435D-8734-A865A6CCF2CB}" srcId="{BD7488B0-64A8-482B-BE68-9E5ED85042D1}" destId="{6F26235B-EFD5-46A2-8D00-85D63028D5E1}" srcOrd="0" destOrd="0" parTransId="{37E4F600-E507-4C1D-BC80-8285E46D4E53}" sibTransId="{38872291-CE8D-480F-97C8-2FBE1326F470}"/>
    <dgm:cxn modelId="{FDD38740-DCD5-491D-9AF2-4B5B4D0C1D6F}" type="presParOf" srcId="{BF487F6C-F161-4AD3-9781-EE6B5DE8C721}" destId="{3AB74305-A87B-4E36-9991-3723CD2D8312}" srcOrd="0" destOrd="0" presId="urn:microsoft.com/office/officeart/2025/8/layout/Timeline 02"/>
    <dgm:cxn modelId="{86845319-2299-471C-A5A0-A6E75FDA0596}" type="presParOf" srcId="{BF487F6C-F161-4AD3-9781-EE6B5DE8C721}" destId="{9E5D1BE4-81E1-4216-8AB1-01C6CA2BF810}" srcOrd="1" destOrd="0" presId="urn:microsoft.com/office/officeart/2025/8/layout/Timeline 02"/>
    <dgm:cxn modelId="{E725CE52-3D84-47B2-B294-7DB427453309}" type="presParOf" srcId="{9E5D1BE4-81E1-4216-8AB1-01C6CA2BF810}" destId="{CF809541-8216-4935-86B3-D46032E38083}" srcOrd="0" destOrd="0" presId="urn:microsoft.com/office/officeart/2025/8/layout/Timeline 02"/>
    <dgm:cxn modelId="{BD9E2D32-5222-4AEB-858B-4F25CB83378E}" type="presParOf" srcId="{CF809541-8216-4935-86B3-D46032E38083}" destId="{9F8524E3-AEF3-459F-B0F4-A5C95FE87ECF}" srcOrd="0" destOrd="0" presId="urn:microsoft.com/office/officeart/2025/8/layout/Timeline 02"/>
    <dgm:cxn modelId="{E1260232-F8B8-4E77-8E69-BE8892BCCCCD}" type="presParOf" srcId="{CF809541-8216-4935-86B3-D46032E38083}" destId="{9860F01B-6A6D-4B12-A6AE-6622782639A4}" srcOrd="1" destOrd="0" presId="urn:microsoft.com/office/officeart/2025/8/layout/Timeline 02"/>
    <dgm:cxn modelId="{E66D449C-0B85-47CA-844E-A6768D0A209A}" type="presParOf" srcId="{9860F01B-6A6D-4B12-A6AE-6622782639A4}" destId="{11462F4F-30E9-4C6D-A8C5-8D2E79B5FACD}" srcOrd="0" destOrd="0" presId="urn:microsoft.com/office/officeart/2025/8/layout/Timeline 02"/>
    <dgm:cxn modelId="{3706CA9D-4058-47D0-A75B-2BB186B0C07E}" type="presParOf" srcId="{9860F01B-6A6D-4B12-A6AE-6622782639A4}" destId="{DCA28A43-232D-4885-BB61-5C887AD18E1D}" srcOrd="1" destOrd="0" presId="urn:microsoft.com/office/officeart/2025/8/layout/Timeline 02"/>
    <dgm:cxn modelId="{E2A4A789-EFEE-4FB9-AD22-66C5B8CD2CA6}" type="presParOf" srcId="{CF809541-8216-4935-86B3-D46032E38083}" destId="{3E570DFD-1D98-4FB3-8572-95196E5A4DE5}" srcOrd="2" destOrd="0" presId="urn:microsoft.com/office/officeart/2025/8/layout/Timeline 02"/>
    <dgm:cxn modelId="{A07A3857-239E-4931-9CBC-9C4F855483EC}" type="presParOf" srcId="{CF809541-8216-4935-86B3-D46032E38083}" destId="{617DA8AF-3609-4666-B01F-2BE87CB2984C}" srcOrd="3" destOrd="0" presId="urn:microsoft.com/office/officeart/2025/8/layout/Timeline 02"/>
    <dgm:cxn modelId="{7F4D8803-DC16-4CFC-99CB-0247C2BEF859}" type="presParOf" srcId="{CF809541-8216-4935-86B3-D46032E38083}" destId="{16568B86-7720-47DE-9CF0-D248CF78425B}" srcOrd="4" destOrd="0" presId="urn:microsoft.com/office/officeart/2025/8/layout/Timeline 02"/>
    <dgm:cxn modelId="{D52211C4-4654-484E-8A9E-FDA39F94D9C3}" type="presParOf" srcId="{CF809541-8216-4935-86B3-D46032E38083}" destId="{FE85BE1A-52EC-4C8E-A3E0-807B2D0DC66A}" srcOrd="5" destOrd="0" presId="urn:microsoft.com/office/officeart/2025/8/layout/Timeline 02"/>
    <dgm:cxn modelId="{46249204-1CF0-44D4-B27F-17273ED23287}" type="presParOf" srcId="{9E5D1BE4-81E1-4216-8AB1-01C6CA2BF810}" destId="{B52FB1D3-4DE5-478B-AF13-54B14F801F67}" srcOrd="1" destOrd="0" presId="urn:microsoft.com/office/officeart/2025/8/layout/Timeline 02"/>
    <dgm:cxn modelId="{324CE051-C1EF-48FD-8664-ED3FA29A6591}" type="presParOf" srcId="{9E5D1BE4-81E1-4216-8AB1-01C6CA2BF810}" destId="{CA314774-C8E0-4C59-B8A5-1A8940FF9B54}" srcOrd="2" destOrd="0" presId="urn:microsoft.com/office/officeart/2025/8/layout/Timeline 02"/>
    <dgm:cxn modelId="{2FB5570E-48AF-46FE-8C3F-20810AD5E402}" type="presParOf" srcId="{CA314774-C8E0-4C59-B8A5-1A8940FF9B54}" destId="{DDAE7927-B2E9-4252-99DF-FB3E7A9A09DB}" srcOrd="0" destOrd="0" presId="urn:microsoft.com/office/officeart/2025/8/layout/Timeline 02"/>
    <dgm:cxn modelId="{66672754-53E3-4A2C-BB6D-627D01176CA1}" type="presParOf" srcId="{CA314774-C8E0-4C59-B8A5-1A8940FF9B54}" destId="{077266CD-54E6-4346-BB7F-76F56D6A24F5}" srcOrd="1" destOrd="0" presId="urn:microsoft.com/office/officeart/2025/8/layout/Timeline 02"/>
    <dgm:cxn modelId="{F1974B39-164F-4D8B-964F-25B8E72DCBB2}" type="presParOf" srcId="{077266CD-54E6-4346-BB7F-76F56D6A24F5}" destId="{5FE0D96F-FCC8-452F-990D-876EF0F435E2}" srcOrd="0" destOrd="0" presId="urn:microsoft.com/office/officeart/2025/8/layout/Timeline 02"/>
    <dgm:cxn modelId="{DF73E324-EF06-41B3-B0EF-41A463DA6D6D}" type="presParOf" srcId="{077266CD-54E6-4346-BB7F-76F56D6A24F5}" destId="{FCAF2910-4E35-4BDA-B5F2-449A41E68012}" srcOrd="1" destOrd="0" presId="urn:microsoft.com/office/officeart/2025/8/layout/Timeline 02"/>
    <dgm:cxn modelId="{5F5B693D-7BA9-488A-9FAD-EC0E557F3630}" type="presParOf" srcId="{CA314774-C8E0-4C59-B8A5-1A8940FF9B54}" destId="{878612B1-17F4-4C9B-A031-1FB234967687}" srcOrd="2" destOrd="0" presId="urn:microsoft.com/office/officeart/2025/8/layout/Timeline 02"/>
    <dgm:cxn modelId="{437C34B3-C39C-46D7-B699-F9BA94349FF7}" type="presParOf" srcId="{CA314774-C8E0-4C59-B8A5-1A8940FF9B54}" destId="{6F7A3B41-104F-4CCC-8DE2-37F05FEA6245}" srcOrd="3" destOrd="0" presId="urn:microsoft.com/office/officeart/2025/8/layout/Timeline 02"/>
    <dgm:cxn modelId="{D4E08D06-2539-4020-8285-070CF111BAC4}" type="presParOf" srcId="{CA314774-C8E0-4C59-B8A5-1A8940FF9B54}" destId="{A19E2B60-3D9A-4F37-91E3-0271F73383E2}" srcOrd="4" destOrd="0" presId="urn:microsoft.com/office/officeart/2025/8/layout/Timeline 02"/>
    <dgm:cxn modelId="{6AD5BB15-5C9E-4C0D-8789-3DFD275D8CA2}" type="presParOf" srcId="{CA314774-C8E0-4C59-B8A5-1A8940FF9B54}" destId="{58058968-B34E-4959-88E0-948EB9D39D16}" srcOrd="5" destOrd="0" presId="urn:microsoft.com/office/officeart/2025/8/layout/Timeline 02"/>
    <dgm:cxn modelId="{5B3415E8-CAE9-4F4C-8138-1BA6168D60F8}" type="presParOf" srcId="{9E5D1BE4-81E1-4216-8AB1-01C6CA2BF810}" destId="{878827A0-7BAE-4CD1-9F59-8CB5AA38943F}" srcOrd="3" destOrd="0" presId="urn:microsoft.com/office/officeart/2025/8/layout/Timeline 02"/>
    <dgm:cxn modelId="{840F5E8B-659C-4D44-B3DB-5B9F25C34762}" type="presParOf" srcId="{9E5D1BE4-81E1-4216-8AB1-01C6CA2BF810}" destId="{310FDB62-1EB8-4B7E-9957-049765D3F4EC}" srcOrd="4" destOrd="0" presId="urn:microsoft.com/office/officeart/2025/8/layout/Timeline 02"/>
    <dgm:cxn modelId="{B59AA07D-6020-4E71-9E16-0D99957413A0}" type="presParOf" srcId="{310FDB62-1EB8-4B7E-9957-049765D3F4EC}" destId="{7E49B617-839D-4ABA-A08E-60FF99353721}" srcOrd="0" destOrd="0" presId="urn:microsoft.com/office/officeart/2025/8/layout/Timeline 02"/>
    <dgm:cxn modelId="{19069064-66B0-4DA8-8C8C-06E8217DB4C2}" type="presParOf" srcId="{310FDB62-1EB8-4B7E-9957-049765D3F4EC}" destId="{F7160E19-732F-4997-B097-E3D610940891}" srcOrd="1" destOrd="0" presId="urn:microsoft.com/office/officeart/2025/8/layout/Timeline 02"/>
    <dgm:cxn modelId="{EA704031-B72D-4FEB-9DF2-28ADD7DF0112}" type="presParOf" srcId="{F7160E19-732F-4997-B097-E3D610940891}" destId="{5D214DAC-5587-46BA-98CD-A0C809FBD10D}" srcOrd="0" destOrd="0" presId="urn:microsoft.com/office/officeart/2025/8/layout/Timeline 02"/>
    <dgm:cxn modelId="{FC152C96-3308-41AA-90B9-47999A6DDB25}" type="presParOf" srcId="{F7160E19-732F-4997-B097-E3D610940891}" destId="{FC5C45CA-48EA-445B-A9C4-639C726FF83E}" srcOrd="1" destOrd="0" presId="urn:microsoft.com/office/officeart/2025/8/layout/Timeline 02"/>
    <dgm:cxn modelId="{616834CE-B3CA-4769-816D-7910F53365C4}" type="presParOf" srcId="{310FDB62-1EB8-4B7E-9957-049765D3F4EC}" destId="{EE03BB8E-BCCC-43C8-8B1D-8D618D1AE252}" srcOrd="2" destOrd="0" presId="urn:microsoft.com/office/officeart/2025/8/layout/Timeline 02"/>
    <dgm:cxn modelId="{C2C5ED81-DD77-4211-85B7-22CCE18CE2CE}" type="presParOf" srcId="{310FDB62-1EB8-4B7E-9957-049765D3F4EC}" destId="{5876F02A-5F3A-4FA6-B19B-0C6ACD18A00D}" srcOrd="3" destOrd="0" presId="urn:microsoft.com/office/officeart/2025/8/layout/Timeline 02"/>
    <dgm:cxn modelId="{D57ECA4F-B575-4B4E-8E54-E35A9A8EC2B5}" type="presParOf" srcId="{310FDB62-1EB8-4B7E-9957-049765D3F4EC}" destId="{F4F26E3D-A3BE-44B3-B97B-892AE623864A}" srcOrd="4" destOrd="0" presId="urn:microsoft.com/office/officeart/2025/8/layout/Timeline 02"/>
    <dgm:cxn modelId="{53C5C1C0-488C-4E15-8A99-56B794160FDB}" type="presParOf" srcId="{310FDB62-1EB8-4B7E-9957-049765D3F4EC}" destId="{051007C2-45ED-4471-AE5D-CB325C70525B}" srcOrd="5" destOrd="0" presId="urn:microsoft.com/office/officeart/2025/8/layout/Timeline 0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B74305-A87B-4E36-9991-3723CD2D8312}">
      <dsp:nvSpPr>
        <dsp:cNvPr id="0" name=""/>
        <dsp:cNvSpPr/>
      </dsp:nvSpPr>
      <dsp:spPr>
        <a:xfrm>
          <a:off x="0" y="2501695"/>
          <a:ext cx="105001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462F4F-30E9-4C6D-A8C5-8D2E79B5FACD}">
      <dsp:nvSpPr>
        <dsp:cNvPr id="0" name=""/>
        <dsp:cNvSpPr/>
      </dsp:nvSpPr>
      <dsp:spPr>
        <a:xfrm rot="8100000">
          <a:off x="302862" y="576542"/>
          <a:ext cx="367944" cy="367944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A28A43-232D-4885-BB61-5C887AD18E1D}">
      <dsp:nvSpPr>
        <dsp:cNvPr id="0" name=""/>
        <dsp:cNvSpPr/>
      </dsp:nvSpPr>
      <dsp:spPr>
        <a:xfrm>
          <a:off x="343737" y="617418"/>
          <a:ext cx="286193" cy="286193"/>
        </a:xfrm>
        <a:prstGeom prst="ellipse">
          <a:avLst/>
        </a:prstGeom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570DFD-1D98-4FB3-8572-95196E5A4DE5}">
      <dsp:nvSpPr>
        <dsp:cNvPr id="0" name=""/>
        <dsp:cNvSpPr/>
      </dsp:nvSpPr>
      <dsp:spPr>
        <a:xfrm>
          <a:off x="866611" y="1020691"/>
          <a:ext cx="4363644" cy="1481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8900" rIns="88900" bIns="13335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err="1">
              <a:solidFill>
                <a:schemeClr val="tx2"/>
              </a:solidFill>
            </a:rPr>
            <a:t>계획</a:t>
          </a:r>
          <a:r>
            <a:rPr lang="en-US" sz="1400" kern="1200">
              <a:solidFill>
                <a:schemeClr val="tx2"/>
              </a:solidFill>
            </a:rPr>
            <a:t> </a:t>
          </a:r>
          <a:r>
            <a:rPr lang="en-US" sz="1400" kern="1200" err="1">
              <a:solidFill>
                <a:schemeClr val="tx2"/>
              </a:solidFill>
            </a:rPr>
            <a:t>수립·환경설정</a:t>
          </a: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chemeClr val="tx2"/>
              </a:solidFill>
            </a:rPr>
            <a:t>2026.03.14 ~ 03.21</a:t>
          </a:r>
          <a:endParaRPr lang="en-US" sz="1400" kern="1200"/>
        </a:p>
      </dsp:txBody>
      <dsp:txXfrm>
        <a:off x="866611" y="1020691"/>
        <a:ext cx="4363644" cy="1481003"/>
      </dsp:txXfrm>
    </dsp:sp>
    <dsp:sp modelId="{617DA8AF-3609-4666-B01F-2BE87CB2984C}">
      <dsp:nvSpPr>
        <dsp:cNvPr id="0" name=""/>
        <dsp:cNvSpPr/>
      </dsp:nvSpPr>
      <dsp:spPr>
        <a:xfrm>
          <a:off x="866611" y="500339"/>
          <a:ext cx="4363644" cy="5203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160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 err="1">
              <a:solidFill>
                <a:schemeClr val="tx2"/>
              </a:solidFill>
            </a:rPr>
            <a:t>프로젝트</a:t>
          </a:r>
          <a:r>
            <a:rPr lang="en-US" sz="1600" kern="1200">
              <a:solidFill>
                <a:schemeClr val="tx2"/>
              </a:solidFill>
            </a:rPr>
            <a:t> </a:t>
          </a:r>
          <a:r>
            <a:rPr lang="en-US" sz="1600" kern="1200" err="1">
              <a:solidFill>
                <a:schemeClr val="tx2"/>
              </a:solidFill>
            </a:rPr>
            <a:t>착수</a:t>
          </a:r>
          <a:endParaRPr lang="en-US" sz="1600" kern="1200"/>
        </a:p>
      </dsp:txBody>
      <dsp:txXfrm>
        <a:off x="866611" y="500339"/>
        <a:ext cx="4363644" cy="520352"/>
      </dsp:txXfrm>
    </dsp:sp>
    <dsp:sp modelId="{16568B86-7720-47DE-9CF0-D248CF78425B}">
      <dsp:nvSpPr>
        <dsp:cNvPr id="0" name=""/>
        <dsp:cNvSpPr/>
      </dsp:nvSpPr>
      <dsp:spPr>
        <a:xfrm>
          <a:off x="487630" y="1035383"/>
          <a:ext cx="0" cy="1481003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8524E3-AEF3-459F-B0F4-A5C95FE87ECF}">
      <dsp:nvSpPr>
        <dsp:cNvPr id="0" name=""/>
        <dsp:cNvSpPr/>
      </dsp:nvSpPr>
      <dsp:spPr>
        <a:xfrm>
          <a:off x="439643" y="2469555"/>
          <a:ext cx="93663" cy="93663"/>
        </a:xfrm>
        <a:prstGeom prst="ellipse">
          <a:avLst/>
        </a:prstGeom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hueOff val="0"/>
              <a:satOff val="0"/>
              <a:lumOff val="0"/>
              <a:alphaOff val="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E0D96F-FCC8-452F-990D-876EF0F435E2}">
      <dsp:nvSpPr>
        <dsp:cNvPr id="0" name=""/>
        <dsp:cNvSpPr/>
      </dsp:nvSpPr>
      <dsp:spPr>
        <a:xfrm rot="18900000">
          <a:off x="3389744" y="4058903"/>
          <a:ext cx="367944" cy="367944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AF2910-4E35-4BDA-B5F2-449A41E68012}">
      <dsp:nvSpPr>
        <dsp:cNvPr id="0" name=""/>
        <dsp:cNvSpPr/>
      </dsp:nvSpPr>
      <dsp:spPr>
        <a:xfrm>
          <a:off x="3430619" y="4099778"/>
          <a:ext cx="286193" cy="286193"/>
        </a:xfrm>
        <a:prstGeom prst="ellipse">
          <a:avLst/>
        </a:prstGeom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8612B1-17F4-4C9B-A031-1FB234967687}">
      <dsp:nvSpPr>
        <dsp:cNvPr id="0" name=""/>
        <dsp:cNvSpPr/>
      </dsp:nvSpPr>
      <dsp:spPr>
        <a:xfrm>
          <a:off x="4073160" y="2495347"/>
          <a:ext cx="4363644" cy="1481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33350" rIns="0" bIns="8890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err="1">
              <a:solidFill>
                <a:schemeClr val="tx2"/>
              </a:solidFill>
            </a:rPr>
            <a:t>취약점</a:t>
          </a:r>
          <a:r>
            <a:rPr lang="en-US" sz="1400" kern="1200">
              <a:solidFill>
                <a:schemeClr val="tx2"/>
              </a:solidFill>
            </a:rPr>
            <a:t> </a:t>
          </a:r>
          <a:r>
            <a:rPr lang="en-US" sz="1400" kern="1200" err="1">
              <a:solidFill>
                <a:schemeClr val="tx2"/>
              </a:solidFill>
            </a:rPr>
            <a:t>분석·검증</a:t>
          </a: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chemeClr val="tx2"/>
              </a:solidFill>
            </a:rPr>
            <a:t>2026.03.21 ~ 04.04</a:t>
          </a:r>
          <a:endParaRPr lang="en-US" sz="1400" kern="1200"/>
        </a:p>
      </dsp:txBody>
      <dsp:txXfrm>
        <a:off x="4073160" y="2495347"/>
        <a:ext cx="4363644" cy="1481003"/>
      </dsp:txXfrm>
    </dsp:sp>
    <dsp:sp modelId="{6F7A3B41-104F-4CCC-8DE2-37F05FEA6245}">
      <dsp:nvSpPr>
        <dsp:cNvPr id="0" name=""/>
        <dsp:cNvSpPr/>
      </dsp:nvSpPr>
      <dsp:spPr>
        <a:xfrm>
          <a:off x="4073160" y="3976350"/>
          <a:ext cx="4363644" cy="5203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160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 err="1">
              <a:solidFill>
                <a:schemeClr val="tx2"/>
              </a:solidFill>
            </a:rPr>
            <a:t>침투</a:t>
          </a:r>
          <a:r>
            <a:rPr lang="en-US" sz="1600" kern="1200">
              <a:solidFill>
                <a:schemeClr val="tx2"/>
              </a:solidFill>
            </a:rPr>
            <a:t> 및 </a:t>
          </a:r>
          <a:r>
            <a:rPr lang="en-US" sz="1600" kern="1200" err="1">
              <a:solidFill>
                <a:schemeClr val="tx2"/>
              </a:solidFill>
            </a:rPr>
            <a:t>공격</a:t>
          </a:r>
          <a:r>
            <a:rPr lang="en-US" sz="1600" kern="1200">
              <a:solidFill>
                <a:schemeClr val="tx2"/>
              </a:solidFill>
            </a:rPr>
            <a:t> </a:t>
          </a:r>
          <a:r>
            <a:rPr lang="en-US" sz="1600" kern="1200" err="1">
              <a:solidFill>
                <a:schemeClr val="tx2"/>
              </a:solidFill>
            </a:rPr>
            <a:t>수행</a:t>
          </a:r>
          <a:endParaRPr lang="en-US" sz="1600" kern="1200"/>
        </a:p>
      </dsp:txBody>
      <dsp:txXfrm>
        <a:off x="4073160" y="3976350"/>
        <a:ext cx="4363644" cy="520352"/>
      </dsp:txXfrm>
    </dsp:sp>
    <dsp:sp modelId="{A19E2B60-3D9A-4F37-91E3-0271F73383E2}">
      <dsp:nvSpPr>
        <dsp:cNvPr id="0" name=""/>
        <dsp:cNvSpPr/>
      </dsp:nvSpPr>
      <dsp:spPr>
        <a:xfrm>
          <a:off x="3561014" y="2516387"/>
          <a:ext cx="0" cy="1481003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AE7927-B2E9-4252-99DF-FB3E7A9A09DB}">
      <dsp:nvSpPr>
        <dsp:cNvPr id="0" name=""/>
        <dsp:cNvSpPr/>
      </dsp:nvSpPr>
      <dsp:spPr>
        <a:xfrm>
          <a:off x="3513027" y="2469555"/>
          <a:ext cx="93663" cy="93663"/>
        </a:xfrm>
        <a:prstGeom prst="ellipse">
          <a:avLst/>
        </a:prstGeom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hueOff val="0"/>
              <a:satOff val="0"/>
              <a:lumOff val="0"/>
              <a:alphaOff val="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214DAC-5587-46BA-98CD-A0C809FBD10D}">
      <dsp:nvSpPr>
        <dsp:cNvPr id="0" name=""/>
        <dsp:cNvSpPr/>
      </dsp:nvSpPr>
      <dsp:spPr>
        <a:xfrm rot="8100000">
          <a:off x="5473318" y="538442"/>
          <a:ext cx="367944" cy="367944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5C45CA-48EA-445B-A9C4-639C726FF83E}">
      <dsp:nvSpPr>
        <dsp:cNvPr id="0" name=""/>
        <dsp:cNvSpPr/>
      </dsp:nvSpPr>
      <dsp:spPr>
        <a:xfrm>
          <a:off x="5514193" y="579318"/>
          <a:ext cx="286193" cy="286193"/>
        </a:xfrm>
        <a:prstGeom prst="ellipse">
          <a:avLst/>
        </a:prstGeom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03BB8E-BCCC-43C8-8B1D-8D618D1AE252}">
      <dsp:nvSpPr>
        <dsp:cNvPr id="0" name=""/>
        <dsp:cNvSpPr/>
      </dsp:nvSpPr>
      <dsp:spPr>
        <a:xfrm>
          <a:off x="6136534" y="1034101"/>
          <a:ext cx="4363644" cy="1481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8900" rIns="88900" bIns="13335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err="1">
              <a:solidFill>
                <a:schemeClr val="tx2"/>
              </a:solidFill>
            </a:rPr>
            <a:t>내부</a:t>
          </a:r>
          <a:r>
            <a:rPr lang="en-US" sz="1400" kern="1200">
              <a:solidFill>
                <a:schemeClr val="tx2"/>
              </a:solidFill>
            </a:rPr>
            <a:t> </a:t>
          </a:r>
          <a:r>
            <a:rPr lang="en-US" sz="1400" kern="1200" err="1">
              <a:solidFill>
                <a:schemeClr val="tx2"/>
              </a:solidFill>
            </a:rPr>
            <a:t>침투·보고서</a:t>
          </a: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solidFill>
                <a:schemeClr val="tx2"/>
              </a:solidFill>
            </a:rPr>
            <a:t>2026.04.04 ~ 04.18</a:t>
          </a:r>
          <a:endParaRPr lang="en-US" sz="1400" kern="1200"/>
        </a:p>
      </dsp:txBody>
      <dsp:txXfrm>
        <a:off x="6136534" y="1034101"/>
        <a:ext cx="4363644" cy="1481003"/>
      </dsp:txXfrm>
    </dsp:sp>
    <dsp:sp modelId="{5876F02A-5F3A-4FA6-B19B-0C6ACD18A00D}">
      <dsp:nvSpPr>
        <dsp:cNvPr id="0" name=""/>
        <dsp:cNvSpPr/>
      </dsp:nvSpPr>
      <dsp:spPr>
        <a:xfrm>
          <a:off x="6136534" y="513748"/>
          <a:ext cx="4363644" cy="5203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160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 err="1">
              <a:solidFill>
                <a:schemeClr val="tx2"/>
              </a:solidFill>
            </a:rPr>
            <a:t>보고</a:t>
          </a:r>
          <a:r>
            <a:rPr lang="en-US" sz="1600" kern="1200">
              <a:solidFill>
                <a:schemeClr val="tx2"/>
              </a:solidFill>
            </a:rPr>
            <a:t> 및 </a:t>
          </a:r>
          <a:r>
            <a:rPr lang="en-US" sz="1600" kern="1200" err="1">
              <a:solidFill>
                <a:schemeClr val="tx2"/>
              </a:solidFill>
            </a:rPr>
            <a:t>마무리</a:t>
          </a:r>
          <a:endParaRPr lang="en-US" sz="1600" kern="1200"/>
        </a:p>
      </dsp:txBody>
      <dsp:txXfrm>
        <a:off x="6136534" y="513748"/>
        <a:ext cx="4363644" cy="520352"/>
      </dsp:txXfrm>
    </dsp:sp>
    <dsp:sp modelId="{F4F26E3D-A3BE-44B3-B97B-892AE623864A}">
      <dsp:nvSpPr>
        <dsp:cNvPr id="0" name=""/>
        <dsp:cNvSpPr/>
      </dsp:nvSpPr>
      <dsp:spPr>
        <a:xfrm>
          <a:off x="5676341" y="988553"/>
          <a:ext cx="0" cy="1481003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49B617-839D-4ABA-A08E-60FF99353721}">
      <dsp:nvSpPr>
        <dsp:cNvPr id="0" name=""/>
        <dsp:cNvSpPr/>
      </dsp:nvSpPr>
      <dsp:spPr>
        <a:xfrm>
          <a:off x="5628354" y="2422725"/>
          <a:ext cx="93663" cy="93663"/>
        </a:xfrm>
        <a:prstGeom prst="ellipse">
          <a:avLst/>
        </a:prstGeom>
        <a:solidFill>
          <a:schemeClr val="accent1">
            <a:lumMod val="20000"/>
            <a:lumOff val="80000"/>
            <a:hueOff val="0"/>
            <a:satOff val="0"/>
            <a:lumOff val="0"/>
            <a:alphaOff val="0"/>
          </a:schemeClr>
        </a:solidFill>
        <a:ln w="6350">
          <a:solidFill>
            <a:schemeClr val="accent1">
              <a:hueOff val="0"/>
              <a:satOff val="0"/>
              <a:lumOff val="0"/>
              <a:alphaOff val="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5/8/layout/Timeline 02">
  <dgm:title val="Timeline 02"/>
  <dgm:desc val="pins"/>
  <dgm:catLst>
    <dgm:cat type="list" pri="4132"/>
    <dgm:cat type="process" pri="4132"/>
    <dgm:cat type="other" pri="1402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  <dgm:pt modelId="50">
          <dgm:prSet phldr="1"/>
        </dgm:pt>
        <dgm:pt modelId="51">
          <dgm:prSet phldr="1"/>
        </dgm:pt>
        <dgm:pt modelId="60">
          <dgm:prSet phldr="1"/>
        </dgm:pt>
        <dgm:pt modelId="61">
          <dgm:prSet phldr="1"/>
        </dgm:pt>
        <dgm:pt modelId="70">
          <dgm:prSet phldr="1"/>
        </dgm:pt>
        <dgm:pt modelId="71">
          <dgm:prSet phldr="1"/>
        </dgm:pt>
        <dgm:pt modelId="80">
          <dgm:prSet phldr="1"/>
        </dgm:pt>
        <dgm:pt modelId="81">
          <dgm:prSet phldr="1"/>
        </dgm:pt>
        <dgm:pt modelId="90">
          <dgm:prSet phldr="1"/>
        </dgm:pt>
        <dgm:pt modelId="91">
          <dgm:prSet phldr="1"/>
        </dgm:pt>
        <dgm:pt modelId="100">
          <dgm:prSet phldr="1"/>
        </dgm:pt>
        <dgm:pt modelId="101">
          <dgm:prSet phldr="1"/>
        </dgm:pt>
      </dgm:ptLst>
      <dgm:cxnLst>
        <dgm:cxn modelId="1000" srcId="0" destId="10" srcOrd="0" destOrd="0"/>
        <dgm:cxn modelId="1001" srcId="10" destId="11" srcOrd="0" destOrd="0"/>
        <dgm:cxn modelId="2000" srcId="0" destId="20" srcOrd="1" destOrd="0"/>
        <dgm:cxn modelId="2001" srcId="20" destId="21" srcOrd="0" destOrd="0"/>
        <dgm:cxn modelId="3000" srcId="0" destId="30" srcOrd="2" destOrd="0"/>
        <dgm:cxn modelId="3001" srcId="30" destId="31" srcOrd="0" destOrd="0"/>
        <dgm:cxn modelId="4000" srcId="0" destId="40" srcOrd="3" destOrd="0"/>
        <dgm:cxn modelId="4001" srcId="40" destId="41" srcOrd="0" destOrd="0"/>
        <dgm:cxn modelId="5000" srcId="0" destId="50" srcOrd="4" destOrd="0"/>
        <dgm:cxn modelId="5001" srcId="50" destId="51" srcOrd="0" destOrd="0"/>
        <dgm:cxn modelId="6000" srcId="0" destId="60" srcOrd="5" destOrd="0"/>
        <dgm:cxn modelId="6001" srcId="60" destId="61" srcOrd="0" destOrd="0"/>
        <dgm:cxn modelId="7000" srcId="0" destId="70" srcOrd="6" destOrd="0"/>
        <dgm:cxn modelId="7001" srcId="70" destId="71" srcOrd="0" destOrd="0"/>
        <dgm:cxn modelId="8000" srcId="0" destId="80" srcOrd="7" destOrd="0"/>
        <dgm:cxn modelId="8001" srcId="80" destId="81" srcOrd="0" destOrd="0"/>
        <dgm:cxn modelId="9000" srcId="0" destId="90" srcOrd="8" destOrd="0"/>
        <dgm:cxn modelId="9001" srcId="90" destId="91" srcOrd="0" destOrd="0"/>
        <dgm:cxn modelId="10000" srcId="0" destId="100" srcOrd="9" destOrd="0"/>
        <dgm:cxn modelId="10001" srcId="100" destId="10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  <dgm:constr type="primFontSz" for="des" forName="L1TextContainer" op="equ" val="16"/>
      <dgm:constr type="primFontSz" for="des" forName="L2TextContainer" op="equ" val="14"/>
      <dgm:constr type="primFontSz" for="des" forName="L2TextContainer" refType="primFontSz" refFor="des" refForName="L1TextContainer" op="lte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</dgm:constrLst>
      <dgm:forEach name="nodesForEach" axis="ch" ptType="node">
        <dgm:layoutNode name="composite">
          <dgm:alg type="composite"/>
          <dgm:shape xmlns:r="http://schemas.openxmlformats.org/officeDocument/2006/relationships" r:blip="">
            <dgm:adjLst/>
          </dgm:shape>
          <dgm:choose name="CaseForLayoutDirection">
            <dgm:if name="CaseForLayoutDirectionLTR" func="var" arg="dir" op="equ" val="norm">
              <dgm:choose name="CaseForPlacingNodesAboveAndBelowDividerLTR">
                <dgm:if name="CaseForPlacingNodeAboveDividerLTR" axis="self" ptType="node" func="posOdd" op="equ" val="1">
                  <dgm:constrLst>
                    <dgm:constr type="w" for="ch" forName="ConnectorPoint" refType="h" refFor="ch" refForName="DropPinPlaceHolder" fact="0.18"/>
                    <dgm:constr type="h" for="ch" forName="ConnectorPoint" refType="h" refFor="ch" refForName="DropPinPlaceHolder" fact="0.18"/>
                    <dgm:constr type="ctrX" for="ch" forName="ConnectorPoint" refType="ctrX" refFor="ch" refForName="ConnectLine"/>
                    <dgm:constr type="ctrY" for="ch" forName="ConnectorPoint" refType="h" fact="0.5"/>
                    <dgm:constr type="w" for="ch" forName="DropPinPlaceHolder" refType="h" fact="0.13"/>
                    <dgm:constr type="h" for="ch" forName="DropPinPlaceHolder" refType="h" fact="0.13"/>
                    <dgm:constr type="t" for="ch" forName="DropPinPlaceHolder" refType="h" fact="0"/>
                    <dgm:constr type="l" for="ch" forName="DropPinPlaceHolder" refType="w" fact="0"/>
                    <dgm:constr type="w" for="ch" forName="L2TextContainer" refType="w" fact="0.83"/>
                    <dgm:constr type="l" for="ch" forName="L2TextContainer" refType="r" refFor="ch" refForName="DropPinPlaceHolder"/>
                    <dgm:constr type="t" for="ch" forName="L2TextContainer" refType="b" refFor="ch" refForName="DropPinPlaceHolder"/>
                    <dgm:constr type="b" for="ch" forName="L2TextContainer" refType="h" fact="0.5"/>
                    <dgm:constr type="w" for="ch" forName="L1TextContainer" refType="w" fact="0.83"/>
                    <dgm:constr type="l" for="ch" forName="L1TextContainer" refType="r" refFor="ch" refForName="DropPinPlaceHolder"/>
                    <dgm:constr type="b" for="ch" forName="L1TextContainer" refType="b" refFor="ch" refForName="DropPinPlaceHolder"/>
                    <dgm:constr type="t" for="ch" forName="L1TextContainer" refType="t" refFor="ch" refForName="DropPinPlaceHolder"/>
                    <dgm:constr type="w" for="ch" forName="ConnectLine"/>
                    <dgm:constr type="ctrX" for="ch" forName="ConnectLine" refType="ctrX" refFor="ch" refForName="DropPinPlaceHolder"/>
                    <dgm:constr type="b" for="ch" forName="ConnectLine" refType="h" fact="0.5"/>
                    <dgm:constr type="t" for="ch" forName="ConnectLine" refType="b" refFor="ch" refForName="DropPinPlaceHolder"/>
                    <dgm:constr type="w" for="ch" forName="EmptyPlaceHolder" refType="w"/>
                    <dgm:constr type="h" for="ch" forName="EmptyPlaceHolder" refType="h" fact="0.5"/>
                    <dgm:constr type="t" for="ch" forName="EmptyPlaceHolder" refType="h" fact="0.5"/>
                  </dgm:constrLst>
                </dgm:if>
                <dgm:else name="CaseForPlacingNodeBelowDividerLTR">
                  <dgm:constrLst>
                    <dgm:constr type="w" for="ch" forName="ConnectorPoint" refType="h" refFor="ch" refForName="DropPinPlaceHolder" fact="0.18"/>
                    <dgm:constr type="h" for="ch" forName="ConnectorPoint" refType="h" refFor="ch" refForName="DropPinPlaceHolder" fact="0.18"/>
                    <dgm:constr type="ctrX" for="ch" forName="ConnectorPoint" refType="ctrX" refFor="ch" refForName="ConnectLine"/>
                    <dgm:constr type="ctrY" for="ch" forName="ConnectorPoint" refType="h" fact="0.5"/>
                    <dgm:constr type="w" for="ch" forName="DropPinPlaceHolder" refType="h" fact="0.13"/>
                    <dgm:constr type="h" for="ch" forName="DropPinPlaceHolder" refType="h" fact="0.13"/>
                    <dgm:constr type="b" for="ch" forName="DropPinPlaceHolder" refType="h"/>
                    <dgm:constr type="l" for="ch" forName="DropPinPlaceHolder" refType="w" fact="0"/>
                    <dgm:constr type="w" for="ch" forName="L2TextContainer" refType="w" fact="0.83"/>
                    <dgm:constr type="l" for="ch" forName="L2TextContainer" refType="r" refFor="ch" refForName="DropPinPlaceHolder"/>
                    <dgm:constr type="b" for="ch" forName="L2TextContainer" refType="t" refFor="ch" refForName="DropPinPlaceHolder"/>
                    <dgm:constr type="t" for="ch" forName="L2TextContainer" refType="h" fact="0.5"/>
                    <dgm:constr type="w" for="ch" forName="L1TextContainer" refType="w" fact="0.83"/>
                    <dgm:constr type="l" for="ch" forName="L1TextContainer" refType="r" refFor="ch" refForName="DropPinPlaceHolder"/>
                    <dgm:constr type="b" for="ch" forName="L1TextContainer" refType="b" refFor="ch" refForName="DropPinPlaceHolder"/>
                    <dgm:constr type="t" for="ch" forName="L1TextContainer" refType="t" refFor="ch" refForName="DropPinPlaceHolder"/>
                    <dgm:constr type="w" for="ch" forName="ConnectLine"/>
                    <dgm:constr type="ctrX" for="ch" forName="ConnectLine" refType="ctrX" refFor="ch" refForName="DropPinPlaceHolder"/>
                    <dgm:constr type="t" for="ch" forName="ConnectLine" refType="h" fact="0.5"/>
                    <dgm:constr type="b" for="ch" forName="ConnectLine" refType="t" refFor="ch" refForName="DropPinPlaceHolder"/>
                    <dgm:constr type="w" for="ch" forName="EmptyPlaceHolder" refType="w"/>
                    <dgm:constr type="h" for="ch" forName="EmptyPlaceHolder" refType="h" fact="0.5"/>
                    <dgm:constr type="t" for="ch" forName="EmptyPlaceHolder" refType="h" fact="0"/>
                  </dgm:constrLst>
                </dgm:else>
              </dgm:choose>
            </dgm:if>
            <dgm:else name="CaseForLayoutDirectionRTL">
              <dgm:choose name="CaseForPlacingNodesAboveAndBelowDividerRTL">
                <dgm:if name="CaseForPlacingNodeAboveDividerRTL" axis="self" ptType="node" func="posOdd" op="equ" val="1">
                  <dgm:constrLst>
                    <dgm:constr type="w" for="ch" forName="ConnectorPoint" refType="h" refFor="ch" refForName="DropPinPlaceHolder" fact="0.18"/>
                    <dgm:constr type="h" for="ch" forName="ConnectorPoint" refType="h" refFor="ch" refForName="DropPinPlaceHolder" fact="0.18"/>
                    <dgm:constr type="ctrX" for="ch" forName="ConnectorPoint" refType="ctrX" refFor="ch" refForName="DropPinPlaceHolder"/>
                    <dgm:constr type="ctrY" for="ch" forName="ConnectorPoint" refType="h" fact="0.5"/>
                    <dgm:constr type="w" for="ch" forName="DropPinPlaceHolder" refType="h" fact="0.13"/>
                    <dgm:constr type="h" for="ch" forName="DropPinPlaceHolder" refType="h" fact="0.13"/>
                    <dgm:constr type="t" for="ch" forName="DropPinPlaceHolder" refType="h" fact="0"/>
                    <dgm:constr type="l" for="ch" forName="DropPinPlaceHolder" refType="w" fact="0"/>
                    <dgm:constr type="w" for="ch" forName="L2TextContainer" refType="w" fact="0.83"/>
                    <dgm:constr type="l" for="ch" forName="L2TextContainer" refType="r" refFor="ch" refForName="DropPinPlaceHolder"/>
                    <dgm:constr type="t" for="ch" forName="L2TextContainer" refType="b" refFor="ch" refForName="DropPinPlaceHolder"/>
                    <dgm:constr type="b" for="ch" forName="L2TextContainer" refType="h" fact="0.5"/>
                    <dgm:constr type="w" for="ch" forName="L1TextContainer" refType="w" fact="0.83"/>
                    <dgm:constr type="l" for="ch" forName="L1TextContainer" refType="r" refFor="ch" refForName="DropPinPlaceHolder"/>
                    <dgm:constr type="b" for="ch" forName="L1TextContainer" refType="b" refFor="ch" refForName="DropPinPlaceHolder"/>
                    <dgm:constr type="t" for="ch" forName="L1TextContainer" refType="t" refFor="ch" refForName="DropPinPlaceHolder"/>
                    <dgm:constr type="w" for="ch" forName="ConnectLine"/>
                    <dgm:constr type="ctrX" for="ch" forName="ConnectLine" refType="ctrX" refFor="ch" refForName="DropPinPlaceHolder"/>
                    <dgm:constr type="b" for="ch" forName="ConnectLine" refType="h" fact="0.5"/>
                    <dgm:constr type="t" for="ch" forName="ConnectLine" refType="b" refFor="ch" refForName="DropPinPlaceHolder"/>
                    <dgm:constr type="w" for="ch" forName="EmptyPlaceHolder" refType="w"/>
                    <dgm:constr type="h" for="ch" forName="EmptyPlaceHolder" refType="h" fact="0.5"/>
                    <dgm:constr type="t" for="ch" forName="EmptyPlaceHolder" refType="h" fact="0.5"/>
                  </dgm:constrLst>
                </dgm:if>
                <dgm:else name="CaseForPlacingNodeBelowDividerRTL">
                  <dgm:constrLst>
                    <dgm:constr type="w" for="ch" forName="ConnectorPoint" refType="h" refFor="ch" refForName="DropPinPlaceHolder" fact="0.18"/>
                    <dgm:constr type="h" for="ch" forName="ConnectorPoint" refType="h" refFor="ch" refForName="DropPinPlaceHolder" fact="0.18"/>
                    <dgm:constr type="ctrX" for="ch" forName="ConnectorPoint" refType="ctrX" refFor="ch" refForName="DropPinPlaceHolder"/>
                    <dgm:constr type="ctrY" for="ch" forName="ConnectorPoint" refType="h" fact="0.5"/>
                    <dgm:constr type="w" for="ch" forName="DropPinPlaceHolder" refType="h" fact="0.13"/>
                    <dgm:constr type="h" for="ch" forName="DropPinPlaceHolder" refType="h" fact="0.13"/>
                    <dgm:constr type="b" for="ch" forName="DropPinPlaceHolder" refType="h"/>
                    <dgm:constr type="l" for="ch" forName="DropPinPlaceHolder" refType="w" fact="0"/>
                    <dgm:constr type="w" for="ch" forName="L2TextContainer" refType="w" fact="0.83"/>
                    <dgm:constr type="l" for="ch" forName="L2TextContainer" refType="r" refFor="ch" refForName="DropPinPlaceHolder"/>
                    <dgm:constr type="b" for="ch" forName="L2TextContainer" refType="t" refFor="ch" refForName="DropPinPlaceHolder"/>
                    <dgm:constr type="t" for="ch" forName="L2TextContainer" refType="h" fact="0.5"/>
                    <dgm:constr type="w" for="ch" forName="L1TextContainer" refType="w" fact="0.83"/>
                    <dgm:constr type="l" for="ch" forName="L1TextContainer" refType="r" refFor="ch" refForName="DropPinPlaceHolder"/>
                    <dgm:constr type="b" for="ch" forName="L1TextContainer" refType="b" refFor="ch" refForName="DropPinPlaceHolder"/>
                    <dgm:constr type="t" for="ch" forName="L1TextContainer" refType="t" refFor="ch" refForName="DropPinPlaceHolder"/>
                    <dgm:constr type="w" for="ch" forName="ConnectLine"/>
                    <dgm:constr type="ctrX" for="ch" forName="ConnectLine" refType="ctrX" refFor="ch" refForName="DropPinPlaceHolder"/>
                    <dgm:constr type="t" for="ch" forName="ConnectLine" refType="h" fact="0.5"/>
                    <dgm:constr type="b" for="ch" forName="ConnectLine" refType="t" refFor="ch" refForName="DropPinPlaceHolder"/>
                    <dgm:constr type="w" for="ch" forName="EmptyPlaceHolder" refType="w"/>
                    <dgm:constr type="h" for="ch" forName="EmptyPlaceHolder" refType="h" fact="0.5"/>
                    <dgm:constr type="t" for="ch" forName="EmptyPlaceHolder" refType="h" fact="0"/>
                  </dgm:constrLst>
                </dgm:else>
              </dgm:choose>
            </dgm:else>
          </dgm:choose>
          <dgm:layoutNode name="ConnectorPoint" styleLbl="trBgShp" moveWith="ConnectLine">
            <dgm:alg type="sp"/>
            <dgm:shape xmlns:r="http://schemas.openxmlformats.org/officeDocument/2006/relationships" type="ellipse" r:blip="" zOrderOff="10">
              <dgm:adjLst/>
              <dgm:extLst>
                <a:ext uri="{B698B0E9-8C71-41B9-8309-B3DCBF30829C}">
                  <dgm1612:spPr xmlns:dgm1612="http://schemas.microsoft.com/office/drawing/2016/12/diagram">
                    <a:ln w="6350">
                      <a:solidFill/>
                    </a:ln>
                  </dgm1612:spPr>
                </a:ext>
              </dgm:extLst>
            </dgm:shape>
            <dgm:presOf/>
            <dgm:constrLst>
              <dgm:constr type="w" refType="h" op="equ"/>
            </dgm:constrLst>
          </dgm:layoutNode>
          <dgm:layoutNode name="DropPinPlaceHolder">
            <dgm:alg type="composite"/>
            <dgm:shape xmlns:r="http://schemas.openxmlformats.org/officeDocument/2006/relationships" r:blip="">
              <dgm:adjLst/>
            </dgm:shape>
            <dgm:constrLst>
              <dgm:constr type="w" for="ch" forName="DropPin" refType="w"/>
              <dgm:constr type="h" for="ch" forName="DropPin" refType="h"/>
              <dgm:constr type="ctrX" for="ch" forName="DropPin" refType="w" fact="0.5"/>
              <dgm:constr type="ctrY" for="ch" forName="DropPin" refType="h" fact="0.5"/>
              <dgm:constr type="w" for="ch" forName="Ellipse" refType="w" refFor="ch" refForName="DropPin" fact="0.55"/>
              <dgm:constr type="h" for="ch" forName="Ellipse" refType="w" refFor="ch" refForName="DropPin" fact="0.55"/>
              <dgm:constr type="ctrX" for="ch" forName="Ellipse" refType="ctrX" refFor="ch" refForName="DropPin"/>
              <dgm:constr type="ctrY" for="ch" forName="Ellipse" refType="ctrY" refFor="ch" refForName="DropPin"/>
            </dgm:constrLst>
            <dgm:layoutNode name="DropPin" styleLbl="fgAcc1">
              <dgm:alg type="sp"/>
              <dgm:choose name="CaseForPlacingTearDropAboveAndBelowDivider">
                <dgm:if name="CaseForPlacingTearDropAboveDivider" axis="self" ptType="node" func="posOdd" op="equ" val="1">
                  <dgm:shape xmlns:r="http://schemas.openxmlformats.org/officeDocument/2006/relationships" rot="135" type="teardrop" r:blip="">
                    <dgm:adjLst>
                      <dgm:adj idx="1" val="1.15"/>
                    </dgm:adjLst>
                  </dgm:shape>
                </dgm:if>
                <dgm:else name="CaseForPlacingTearDropBelowDivider">
                  <dgm:shape xmlns:r="http://schemas.openxmlformats.org/officeDocument/2006/relationships" rot="-45" type="teardrop" r:blip="">
                    <dgm:adjLst>
                      <dgm:adj idx="1" val="1.15"/>
                    </dgm:adjLst>
                  </dgm:shape>
                </dgm:else>
              </dgm:choose>
              <dgm:presOf/>
              <dgm:constrLst/>
            </dgm:layoutNode>
            <dgm:layoutNode name="Ellipse" styleLbl="trBgShp" moveWith="DropPin">
              <dgm:alg type="sp"/>
              <dgm:shape xmlns:r="http://schemas.openxmlformats.org/officeDocument/2006/relationships" type="ellipse" r:blip="">
                <dgm:adjLst/>
                <dgm:extLst>
                  <a:ext uri="{B698B0E9-8C71-41B9-8309-B3DCBF30829C}">
                    <dgm1612:spPr xmlns:dgm1612="http://schemas.microsoft.com/office/drawing/2016/12/diagram">
                      <a:ln>
                        <a:noFill/>
                      </a:ln>
                    </dgm1612:spPr>
                  </a:ext>
                </dgm:extLst>
              </dgm:shape>
              <dgm:presOf/>
              <dgm:constrLst/>
            </dgm:layoutNode>
          </dgm:layoutNode>
          <dgm:layoutNode name="L2TextContainer" styleLbl="revTx" moveWith="L1TextContainer">
            <dgm:varLst>
              <dgm:bulletEnabled val="1"/>
            </dgm:varLst>
            <dgm:choose name="casesForTxtDirLogic">
              <dgm:if name="Name77" axis="self" ptType="node" func="posOdd" op="equ" val="1">
                <dgm:alg type="tx">
                  <dgm:param type="txAnchorVert" val="t"/>
                  <dgm:param type="parTxLTRAlign" val="l"/>
                  <dgm:param type="parTxRTLAlign" val="l"/>
                  <dgm:param type="txAnchorVertCh" val="t"/>
                  <dgm:param type="shpTxRTLAlignCh" val="l"/>
                  <dgm:param type="shpTxLTRAlignCh" val="l"/>
                </dgm:alg>
                <dgm:constrLst>
                  <dgm:constr type="lMarg"/>
                  <dgm:constr type="rMarg" refType="primFontSz" fact="0.5"/>
                  <dgm:constr type="tMarg" refType="primFontSz" fact="0.5"/>
                  <dgm:constr type="bMarg" refType="primFontSz" fact="0.75"/>
                </dgm:constrLst>
              </dgm:if>
              <dgm:else name="Name88">
                <dgm:alg type="tx">
                  <dgm:param type="txAnchorVert" val="b"/>
                  <dgm:param type="parTxLTRAlign" val="l"/>
                  <dgm:param type="parTxRTLAlign" val="l"/>
                  <dgm:param type="txAnchorVertCh" val="b"/>
                  <dgm:param type="shpTxRTLAlignCh" val="l"/>
                  <dgm:param type="shpTxLTRAlignCh" val="l"/>
                </dgm:alg>
                <dgm:constrLst>
                  <dgm:constr type="lMarg"/>
                  <dgm:constr type="rMarg"/>
                  <dgm:constr type="tMarg" refType="primFontSz" fact="0.75"/>
                  <dgm:constr type="bMarg" refType="primFontSz" fact="0.5"/>
                </dgm:constrLst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ruleLst>
              <dgm:rule type="primFontSz" val="5" fact="NaN" max="NaN"/>
            </dgm:ruleLst>
          </dgm:layoutNode>
          <dgm:layoutNode name="L1TextContainer" styleLbl="revTx">
            <dgm:varLst>
              <dgm:chMax val="1"/>
              <dgm:chPref val="1"/>
              <dgm:bulletEnabled val="1"/>
            </dgm:varLst>
            <dgm:alg type="tx">
              <dgm:param type="txAnchorVert" val="mid"/>
              <dgm:param type="parTxLTRAlign" val="l"/>
              <dgm:param type="parTxRTLAlign" val="l"/>
            </dgm:alg>
            <dgm:shape xmlns:r="http://schemas.openxmlformats.org/officeDocument/2006/relationships" type="rect" r:blip="">
              <dgm:adjLst/>
            </dgm:shape>
            <dgm:presOf axis="self"/>
            <dgm:constrLst>
              <dgm:constr type="lMarg"/>
              <dgm:constr type="rMarg" refType="primFontSz" fact="0.5"/>
              <dgm:constr type="tMarg"/>
              <dgm:constr type="bMarg"/>
            </dgm:constrLst>
            <dgm:ruleLst>
              <dgm:rule type="primFontSz" val="5" fact="NaN" max="NaN"/>
            </dgm:ruleLst>
          </dgm:layoutNode>
          <dgm:layoutNode name="ConnectLine" styleLbl="fgAcc1">
            <dgm:alg type="sp"/>
            <dgm:shape xmlns:r="http://schemas.openxmlformats.org/officeDocument/2006/relationships" type="line" r:blip="">
              <dgm:adjLst/>
              <dgm:extLst>
                <a:ext uri="{B698B0E9-8C71-41B9-8309-B3DCBF30829C}">
                  <dgm1612:spPr xmlns:dgm1612="http://schemas.microsoft.com/office/drawing/2016/12/diagram">
                    <a:ln w="6350">
                      <a:prstDash val="dash"/>
                    </a:ln>
                  </dgm1612:spPr>
                </a:ext>
              </dgm:extLst>
            </dgm:shape>
            <dgm:presOf/>
            <dgm:constrLst/>
          </dgm:layoutNode>
          <dgm:layoutNode name="EmptyPlaceHolder">
            <dgm:alg type="sp"/>
            <dgm:shape xmlns:r="http://schemas.openxmlformats.org/officeDocument/2006/relationships" r:blip="">
              <dgm:adjLst/>
            </dgm:shape>
            <dgm:presOf/>
            <dgm:constrLst/>
          </dgm:layoutNode>
        </dgm:layoutNode>
        <dgm:forEach name="Name28" axis="followSib" ptType="sibTrans" cnt="1">
          <dgm:layoutNode name="spaceBetweenRectangle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4C295EA-92FA-CDBB-7F36-941F8F7DE8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E248F8-EF0C-973B-D3CB-A438105A0D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D01E7D-72BD-47B1-8527-47774402BC00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42761AE-D079-4269-2CB1-07991EFDEC8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4637067-F7A8-49F4-D7F4-A0437FB65B7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811BEE-BB02-4CD4-B390-08B0CB5857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480690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145ED6-2642-4868-B180-AC06B9907DA3}" type="datetimeFigureOut">
              <a:rPr lang="ko-KR" altLang="en-US" smtClean="0"/>
              <a:t>2026-04-26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4B4E83-24B8-411E-A790-2FD786F5A0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04420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A86690-C93A-E1FC-5FD1-FC194549AB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92F11-7662-F941-BDB0-FEA33B528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665E34-08F5-B469-A017-A187A0866A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A5C114-49C2-8624-3E29-7BCA5769B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951F02A-2CDA-1D54-0EFD-B771877BB18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5F8BDC-3F78-07B3-3876-9A841BC2F9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B4E83-24B8-411E-A790-2FD786F5A0F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3512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B4E83-24B8-411E-A790-2FD786F5A0F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2709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B4E83-24B8-411E-A790-2FD786F5A0F5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156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4B4E83-24B8-411E-A790-2FD786F5A0F5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560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4B4E83-24B8-411E-A790-2FD786F5A0F5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365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0BA1-3F6D-49E0-8F01-E02E0ED45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374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0BA1-3F6D-49E0-8F01-E02E0ED45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5235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0BA1-3F6D-49E0-8F01-E02E0ED45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36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0BA1-3F6D-49E0-8F01-E02E0ED45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736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0BA1-3F6D-49E0-8F01-E02E0ED45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052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0BA1-3F6D-49E0-8F01-E02E0ED45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473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0BA1-3F6D-49E0-8F01-E02E0ED45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9768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0BA1-3F6D-49E0-8F01-E02E0ED45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304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0BA1-3F6D-49E0-8F01-E02E0ED45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091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0BA1-3F6D-49E0-8F01-E02E0ED45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9656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0BA1-3F6D-49E0-8F01-E02E0ED45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036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50256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210574-D084-1438-2F14-D217DC565E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F63ADFF-75F6-535F-FB9B-EAE91D4B2D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97258-9F09-A52C-837C-72B4E917D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F6A5B6-5E49-9389-2728-28A76067F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8F53D5-CB4C-86E7-1113-70F52C3A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881DA-324D-43F8-A415-2B3DACF3A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6645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D13B64-61A3-B03E-5AD8-558EB9484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8E6606-CE9C-F129-BB23-0DA9F02D7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2BC917-9927-062D-CD97-B9E600510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567370-1513-4AC3-665D-BD32D4E6A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24EA67-9538-7FBE-99B7-E2FAB236A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881DA-324D-43F8-A415-2B3DACF3A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3146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048C4B-2E76-04DA-E139-695596B5D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CEE52E-AFD0-3B07-F977-1CF8DAECA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4AEAA7-D5A5-5F7C-C8EF-02FE98C3A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2D083D-21B9-2CD5-48E6-5012AF634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AB1D37-D551-4B2B-5332-440E24068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881DA-324D-43F8-A415-2B3DACF3A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9033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B50CA6-D434-2681-83D0-BD9934DE7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8ABABE-F63F-D4FC-B1C1-51B4FB9480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9301B6-432D-087F-7AB9-023355D41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F0CDEC-42CB-1B4B-E53D-094DDDB13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8B7902-5BF5-97FF-15CB-24AB727BA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D426F4-B85E-684D-EAE0-D86C57CD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881DA-324D-43F8-A415-2B3DACF3A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4597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446140-CD3C-E9AF-4BA8-B9B57062E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5C6BB0-8B3F-84BC-5E6B-C826D2210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CFC8C83-FE76-BE6B-8A1A-6D63AAA215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74F1CAB-67B2-448C-C485-9B698E3D81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0514A8-246B-44F0-0ED2-B9477C7945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2C8621F-83D1-D689-3A0B-04D700C9C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AF254B6-4420-BDAC-C1E5-AF54708E6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47717B-D612-D16F-864C-A3443ECAC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881DA-324D-43F8-A415-2B3DACF3A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56022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2562BF-474B-503F-9DDC-0CA8EBCCA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9297130-6990-979A-E948-8AA8F13B0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6E11234-8A12-E49D-40FF-F11CF0EFC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EDD143F-53C2-938E-C1B8-18099EBC1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881DA-324D-43F8-A415-2B3DACF3A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1540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07A3D19-34D7-D144-FD3E-38424FEB7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B4B6FFE-FF5B-C629-0754-3AF5C2C8C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D561A9-2881-2367-76CA-29DD390FC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881DA-324D-43F8-A415-2B3DACF3A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99891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7B3947-1CA8-ABDA-41DF-1A2533E3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4BE69D-1A98-48F7-C7CE-4E5712BAB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3400EB-4454-0202-41FF-19223D9CB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E006CD-9096-A1A1-44EC-D1AFCAA5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D41F29-AB56-1020-2A35-391C575B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FB0F8C-9013-DFEF-09EA-317FF7A5C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881DA-324D-43F8-A415-2B3DACF3A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82882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E90B35-0B81-F853-EC4C-9618726FE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63D13A6-C0A4-DD41-9641-E5D9453728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5AA7C9-6AD5-091C-A966-EA84274DB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CB4C61-5FD5-261F-6D3D-D3CB8413B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6F63D5-DEB9-7599-62AC-66348E60D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DD0613-BFB0-D4AF-93CB-4FDC11849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881DA-324D-43F8-A415-2B3DACF3A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8071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537AB-FDFC-CFBD-B9BD-2DB41A933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FE46A5A-E55C-B183-35C0-AE8D852FB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D2CF56-6B3E-0BEC-530A-9BF9A6E92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72E23C-CF3E-BF18-B7A1-1BAACD24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5C0394-66FB-C020-F706-3B0DD142D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881DA-324D-43F8-A415-2B3DACF3A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02010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0546675-D14B-3DF6-31FC-796BCD2ECC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A49451-E00E-62E4-B9E2-3F35289345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5D5994-9864-6DBF-6751-A099DD783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C3878F-3A4E-191D-7B2D-9319997DB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ECF882-6E99-D13B-6674-72239B402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881DA-324D-43F8-A415-2B3DACF3A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01620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065213"/>
            <a:ext cx="3886200" cy="7350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28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43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0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4383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3394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157" y="2203450"/>
            <a:ext cx="3886200" cy="681038"/>
          </a:xfrm>
        </p:spPr>
        <p:txBody>
          <a:bodyPr anchor="t"/>
          <a:lstStyle>
            <a:lvl1pPr algn="l">
              <a:defRPr sz="2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157" y="1453356"/>
            <a:ext cx="3886200" cy="750094"/>
          </a:xfrm>
        </p:spPr>
        <p:txBody>
          <a:bodyPr anchor="b"/>
          <a:lstStyle>
            <a:lvl1pPr marL="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2485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241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1652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" y="1087437"/>
            <a:ext cx="2020094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22513" y="767556"/>
            <a:ext cx="2020888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22513" y="1087437"/>
            <a:ext cx="2020888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6648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4105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182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7525" y="136525"/>
            <a:ext cx="2555875" cy="292655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0" y="717550"/>
            <a:ext cx="1504157" cy="2345532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58094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96144" y="306388"/>
            <a:ext cx="2743200" cy="2057400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6144" y="2683669"/>
            <a:ext cx="2743200" cy="402431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6578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9301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14700" y="137319"/>
            <a:ext cx="1028700" cy="292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37319"/>
            <a:ext cx="3009900" cy="292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8919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0477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30BA1-3F6D-49E0-8F01-E02E0ED452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028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EAB23A6-D127-7B66-9533-3860A5936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7D254A-94C8-C797-EAA7-DD414F471C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B509E-C56E-7601-AE7D-1061898584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EE3A95-C34D-052F-F7ED-E7A7E472B8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42D0A1-F482-1AD4-1354-32A8DB9C9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6881DA-324D-43F8-A415-2B3DACF3A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724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774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4572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indent="-142875" algn="l" defTabSz="4572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github.com/Leovalcante/spring4shel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18" Type="http://schemas.openxmlformats.org/officeDocument/2006/relationships/image" Target="../media/image74.png"/><Relationship Id="rId26" Type="http://schemas.openxmlformats.org/officeDocument/2006/relationships/image" Target="../media/image82.png"/><Relationship Id="rId3" Type="http://schemas.openxmlformats.org/officeDocument/2006/relationships/image" Target="../media/image59.png"/><Relationship Id="rId21" Type="http://schemas.openxmlformats.org/officeDocument/2006/relationships/image" Target="../media/image77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17" Type="http://schemas.openxmlformats.org/officeDocument/2006/relationships/image" Target="../media/image73.png"/><Relationship Id="rId25" Type="http://schemas.openxmlformats.org/officeDocument/2006/relationships/image" Target="../media/image81.png"/><Relationship Id="rId2" Type="http://schemas.openxmlformats.org/officeDocument/2006/relationships/image" Target="../media/image58.png"/><Relationship Id="rId16" Type="http://schemas.openxmlformats.org/officeDocument/2006/relationships/image" Target="../media/image72.png"/><Relationship Id="rId20" Type="http://schemas.openxmlformats.org/officeDocument/2006/relationships/image" Target="../media/image76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24" Type="http://schemas.openxmlformats.org/officeDocument/2006/relationships/image" Target="../media/image80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23" Type="http://schemas.openxmlformats.org/officeDocument/2006/relationships/image" Target="../media/image79.png"/><Relationship Id="rId10" Type="http://schemas.openxmlformats.org/officeDocument/2006/relationships/image" Target="../media/image66.png"/><Relationship Id="rId19" Type="http://schemas.openxmlformats.org/officeDocument/2006/relationships/image" Target="../media/image75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Relationship Id="rId22" Type="http://schemas.openxmlformats.org/officeDocument/2006/relationships/image" Target="../media/image7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87.png"/><Relationship Id="rId3" Type="http://schemas.openxmlformats.org/officeDocument/2006/relationships/image" Target="../media/image83.png"/><Relationship Id="rId7" Type="http://schemas.openxmlformats.org/officeDocument/2006/relationships/image" Target="../media/image85.png"/><Relationship Id="rId12" Type="http://schemas.openxmlformats.org/officeDocument/2006/relationships/image" Target="../media/image65.png"/><Relationship Id="rId2" Type="http://schemas.openxmlformats.org/officeDocument/2006/relationships/image" Target="../media/image58.png"/><Relationship Id="rId16" Type="http://schemas.openxmlformats.org/officeDocument/2006/relationships/image" Target="../media/image90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84.png"/><Relationship Id="rId11" Type="http://schemas.openxmlformats.org/officeDocument/2006/relationships/image" Target="../media/image86.png"/><Relationship Id="rId5" Type="http://schemas.openxmlformats.org/officeDocument/2006/relationships/image" Target="../media/image60.png"/><Relationship Id="rId15" Type="http://schemas.openxmlformats.org/officeDocument/2006/relationships/image" Target="../media/image89.png"/><Relationship Id="rId10" Type="http://schemas.openxmlformats.org/officeDocument/2006/relationships/image" Target="../media/image63.png"/><Relationship Id="rId4" Type="http://schemas.openxmlformats.org/officeDocument/2006/relationships/image" Target="../media/image59.png"/><Relationship Id="rId9" Type="http://schemas.openxmlformats.org/officeDocument/2006/relationships/image" Target="../media/image62.png"/><Relationship Id="rId14" Type="http://schemas.openxmlformats.org/officeDocument/2006/relationships/image" Target="../media/image8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64.png"/><Relationship Id="rId18" Type="http://schemas.openxmlformats.org/officeDocument/2006/relationships/image" Target="../media/image96.png"/><Relationship Id="rId3" Type="http://schemas.openxmlformats.org/officeDocument/2006/relationships/image" Target="../media/image83.png"/><Relationship Id="rId7" Type="http://schemas.openxmlformats.org/officeDocument/2006/relationships/image" Target="../media/image91.png"/><Relationship Id="rId12" Type="http://schemas.openxmlformats.org/officeDocument/2006/relationships/image" Target="../media/image63.png"/><Relationship Id="rId17" Type="http://schemas.openxmlformats.org/officeDocument/2006/relationships/image" Target="../media/image65.png"/><Relationship Id="rId2" Type="http://schemas.openxmlformats.org/officeDocument/2006/relationships/image" Target="../media/image58.png"/><Relationship Id="rId16" Type="http://schemas.openxmlformats.org/officeDocument/2006/relationships/image" Target="../media/image95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84.png"/><Relationship Id="rId11" Type="http://schemas.openxmlformats.org/officeDocument/2006/relationships/image" Target="../media/image62.png"/><Relationship Id="rId5" Type="http://schemas.openxmlformats.org/officeDocument/2006/relationships/image" Target="../media/image60.png"/><Relationship Id="rId15" Type="http://schemas.openxmlformats.org/officeDocument/2006/relationships/image" Target="../media/image94.png"/><Relationship Id="rId10" Type="http://schemas.openxmlformats.org/officeDocument/2006/relationships/image" Target="../media/image61.png"/><Relationship Id="rId19" Type="http://schemas.openxmlformats.org/officeDocument/2006/relationships/image" Target="../media/image66.png"/><Relationship Id="rId4" Type="http://schemas.openxmlformats.org/officeDocument/2006/relationships/image" Target="../media/image59.png"/><Relationship Id="rId9" Type="http://schemas.openxmlformats.org/officeDocument/2006/relationships/image" Target="../media/image93.png"/><Relationship Id="rId14" Type="http://schemas.openxmlformats.org/officeDocument/2006/relationships/image" Target="../media/image88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97.png"/><Relationship Id="rId18" Type="http://schemas.openxmlformats.org/officeDocument/2006/relationships/image" Target="../media/image74.png"/><Relationship Id="rId3" Type="http://schemas.openxmlformats.org/officeDocument/2006/relationships/image" Target="../media/image83.png"/><Relationship Id="rId7" Type="http://schemas.openxmlformats.org/officeDocument/2006/relationships/image" Target="../media/image61.png"/><Relationship Id="rId12" Type="http://schemas.openxmlformats.org/officeDocument/2006/relationships/image" Target="../media/image94.png"/><Relationship Id="rId17" Type="http://schemas.openxmlformats.org/officeDocument/2006/relationships/image" Target="../media/image95.png"/><Relationship Id="rId2" Type="http://schemas.openxmlformats.org/officeDocument/2006/relationships/image" Target="../media/image58.png"/><Relationship Id="rId16" Type="http://schemas.openxmlformats.org/officeDocument/2006/relationships/image" Target="../media/image100.png"/><Relationship Id="rId20" Type="http://schemas.openxmlformats.org/officeDocument/2006/relationships/image" Target="../media/image102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85.png"/><Relationship Id="rId11" Type="http://schemas.openxmlformats.org/officeDocument/2006/relationships/image" Target="../media/image88.png"/><Relationship Id="rId5" Type="http://schemas.openxmlformats.org/officeDocument/2006/relationships/image" Target="../media/image60.png"/><Relationship Id="rId15" Type="http://schemas.openxmlformats.org/officeDocument/2006/relationships/image" Target="../media/image99.png"/><Relationship Id="rId10" Type="http://schemas.openxmlformats.org/officeDocument/2006/relationships/image" Target="../media/image64.png"/><Relationship Id="rId19" Type="http://schemas.openxmlformats.org/officeDocument/2006/relationships/image" Target="../media/image101.png"/><Relationship Id="rId4" Type="http://schemas.openxmlformats.org/officeDocument/2006/relationships/image" Target="../media/image59.png"/><Relationship Id="rId9" Type="http://schemas.openxmlformats.org/officeDocument/2006/relationships/image" Target="../media/image63.png"/><Relationship Id="rId14" Type="http://schemas.openxmlformats.org/officeDocument/2006/relationships/image" Target="../media/image9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104.png"/><Relationship Id="rId18" Type="http://schemas.openxmlformats.org/officeDocument/2006/relationships/image" Target="../media/image109.png"/><Relationship Id="rId3" Type="http://schemas.openxmlformats.org/officeDocument/2006/relationships/image" Target="../media/image83.png"/><Relationship Id="rId21" Type="http://schemas.openxmlformats.org/officeDocument/2006/relationships/image" Target="../media/image112.png"/><Relationship Id="rId7" Type="http://schemas.openxmlformats.org/officeDocument/2006/relationships/image" Target="../media/image61.png"/><Relationship Id="rId12" Type="http://schemas.openxmlformats.org/officeDocument/2006/relationships/image" Target="../media/image103.png"/><Relationship Id="rId17" Type="http://schemas.openxmlformats.org/officeDocument/2006/relationships/image" Target="../media/image108.png"/><Relationship Id="rId2" Type="http://schemas.openxmlformats.org/officeDocument/2006/relationships/image" Target="../media/image58.png"/><Relationship Id="rId16" Type="http://schemas.openxmlformats.org/officeDocument/2006/relationships/image" Target="../media/image107.png"/><Relationship Id="rId20" Type="http://schemas.openxmlformats.org/officeDocument/2006/relationships/image" Target="../media/image111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85.png"/><Relationship Id="rId11" Type="http://schemas.openxmlformats.org/officeDocument/2006/relationships/image" Target="../media/image81.png"/><Relationship Id="rId5" Type="http://schemas.openxmlformats.org/officeDocument/2006/relationships/image" Target="../media/image60.png"/><Relationship Id="rId15" Type="http://schemas.openxmlformats.org/officeDocument/2006/relationships/image" Target="../media/image106.png"/><Relationship Id="rId10" Type="http://schemas.openxmlformats.org/officeDocument/2006/relationships/image" Target="../media/image64.png"/><Relationship Id="rId19" Type="http://schemas.openxmlformats.org/officeDocument/2006/relationships/image" Target="../media/image110.png"/><Relationship Id="rId4" Type="http://schemas.openxmlformats.org/officeDocument/2006/relationships/image" Target="../media/image59.png"/><Relationship Id="rId9" Type="http://schemas.openxmlformats.org/officeDocument/2006/relationships/image" Target="../media/image63.png"/><Relationship Id="rId14" Type="http://schemas.openxmlformats.org/officeDocument/2006/relationships/image" Target="../media/image105.png"/><Relationship Id="rId22" Type="http://schemas.openxmlformats.org/officeDocument/2006/relationships/image" Target="../media/image7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194560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146304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kern="0" spc="400">
                <a:solidFill>
                  <a:srgbClr val="3B82F6"/>
                </a:solidFill>
                <a:latin typeface="+mj-ea"/>
                <a:ea typeface="+mj-ea"/>
                <a:cs typeface="ADLaM Display" panose="02010000000000000000" pitchFamily="2" charset="0"/>
              </a:rPr>
              <a:t>Penetration</a:t>
            </a:r>
            <a:r>
              <a:rPr lang="en-US" altLang="ko-KR" sz="1400">
                <a:solidFill>
                  <a:srgbClr val="64748B"/>
                </a:solidFill>
                <a:latin typeface="+mj-ea"/>
                <a:ea typeface="+mj-ea"/>
                <a:cs typeface="ADLaM Display" panose="02010000000000000000" pitchFamily="2" charset="0"/>
              </a:rPr>
              <a:t> </a:t>
            </a:r>
            <a:r>
              <a:rPr lang="en-US" altLang="ko-KR" sz="1400" b="1" kern="0" spc="400">
                <a:solidFill>
                  <a:srgbClr val="3B82F6"/>
                </a:solidFill>
                <a:latin typeface="+mj-ea"/>
                <a:ea typeface="+mj-ea"/>
                <a:cs typeface="ADLaM Display" panose="02010000000000000000" pitchFamily="2" charset="0"/>
              </a:rPr>
              <a:t>Testing</a:t>
            </a:r>
            <a:r>
              <a:rPr lang="en-US" altLang="ko-KR" sz="1400">
                <a:solidFill>
                  <a:srgbClr val="64748B"/>
                </a:solidFill>
                <a:latin typeface="+mj-ea"/>
                <a:ea typeface="+mj-ea"/>
                <a:cs typeface="ADLaM Display" panose="02010000000000000000" pitchFamily="2" charset="0"/>
              </a:rPr>
              <a:t> </a:t>
            </a:r>
            <a:r>
              <a:rPr lang="en-US" altLang="ko-KR" sz="1400" b="1" kern="0" spc="400">
                <a:solidFill>
                  <a:srgbClr val="3B82F6"/>
                </a:solidFill>
                <a:latin typeface="+mj-ea"/>
                <a:ea typeface="+mj-ea"/>
                <a:cs typeface="ADLaM Display" panose="02010000000000000000" pitchFamily="2" charset="0"/>
              </a:rPr>
              <a:t>Report</a:t>
            </a:r>
          </a:p>
        </p:txBody>
      </p:sp>
      <p:sp>
        <p:nvSpPr>
          <p:cNvPr id="5" name="Text 3"/>
          <p:cNvSpPr/>
          <p:nvPr/>
        </p:nvSpPr>
        <p:spPr>
          <a:xfrm>
            <a:off x="9144000" y="146304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1333"/>
          </a:p>
        </p:txBody>
      </p:sp>
      <p:sp>
        <p:nvSpPr>
          <p:cNvPr id="6" name="Text 4"/>
          <p:cNvSpPr/>
          <p:nvPr/>
        </p:nvSpPr>
        <p:spPr>
          <a:xfrm>
            <a:off x="609600" y="7315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모의해킹 보안 진단 보고서</a:t>
            </a:r>
            <a:endParaRPr lang="en-US" sz="4267"/>
          </a:p>
        </p:txBody>
      </p:sp>
      <p:sp>
        <p:nvSpPr>
          <p:cNvPr id="8" name="Shape 6"/>
          <p:cNvSpPr/>
          <p:nvPr/>
        </p:nvSpPr>
        <p:spPr>
          <a:xfrm>
            <a:off x="572226" y="2766277"/>
            <a:ext cx="45719" cy="792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Text 7"/>
          <p:cNvSpPr/>
          <p:nvPr/>
        </p:nvSpPr>
        <p:spPr>
          <a:xfrm>
            <a:off x="910590" y="5116558"/>
            <a:ext cx="670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4800"/>
          </a:p>
        </p:txBody>
      </p:sp>
      <p:sp>
        <p:nvSpPr>
          <p:cNvPr id="14" name="Shape 12"/>
          <p:cNvSpPr/>
          <p:nvPr/>
        </p:nvSpPr>
        <p:spPr>
          <a:xfrm>
            <a:off x="8541657" y="3045387"/>
            <a:ext cx="3291840" cy="792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Shape 13"/>
          <p:cNvSpPr/>
          <p:nvPr/>
        </p:nvSpPr>
        <p:spPr>
          <a:xfrm>
            <a:off x="8541657" y="3045387"/>
            <a:ext cx="73152" cy="792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 algn="ctr"/>
            <a:endParaRPr lang="ko-KR" altLang="en-US" sz="2400"/>
          </a:p>
        </p:txBody>
      </p:sp>
      <p:sp>
        <p:nvSpPr>
          <p:cNvPr id="16" name="Text 14"/>
          <p:cNvSpPr/>
          <p:nvPr/>
        </p:nvSpPr>
        <p:spPr>
          <a:xfrm>
            <a:off x="8724537" y="3094155"/>
            <a:ext cx="304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작성일</a:t>
            </a:r>
            <a:endParaRPr lang="en-US" sz="1067"/>
          </a:p>
        </p:txBody>
      </p:sp>
      <p:sp>
        <p:nvSpPr>
          <p:cNvPr id="17" name="Text 15"/>
          <p:cNvSpPr/>
          <p:nvPr/>
        </p:nvSpPr>
        <p:spPr>
          <a:xfrm>
            <a:off x="8724537" y="3386763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2026.04.18</a:t>
            </a:r>
            <a:endParaRPr lang="en-US" sz="1467"/>
          </a:p>
        </p:txBody>
      </p:sp>
      <p:sp>
        <p:nvSpPr>
          <p:cNvPr id="18" name="Shape 16"/>
          <p:cNvSpPr/>
          <p:nvPr/>
        </p:nvSpPr>
        <p:spPr>
          <a:xfrm>
            <a:off x="8541657" y="3984171"/>
            <a:ext cx="3291840" cy="792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Shape 17"/>
          <p:cNvSpPr/>
          <p:nvPr/>
        </p:nvSpPr>
        <p:spPr>
          <a:xfrm>
            <a:off x="8541657" y="3984171"/>
            <a:ext cx="73152" cy="792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 algn="ctr"/>
            <a:endParaRPr lang="ko-KR" altLang="en-US" sz="2400"/>
          </a:p>
        </p:txBody>
      </p:sp>
      <p:sp>
        <p:nvSpPr>
          <p:cNvPr id="20" name="Text 18"/>
          <p:cNvSpPr/>
          <p:nvPr/>
        </p:nvSpPr>
        <p:spPr>
          <a:xfrm>
            <a:off x="8724537" y="4032939"/>
            <a:ext cx="304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</a:t>
            </a:r>
            <a:endParaRPr lang="en-US" sz="1067"/>
          </a:p>
        </p:txBody>
      </p:sp>
      <p:sp>
        <p:nvSpPr>
          <p:cNvPr id="21" name="Text 19"/>
          <p:cNvSpPr/>
          <p:nvPr/>
        </p:nvSpPr>
        <p:spPr>
          <a:xfrm>
            <a:off x="8724537" y="4325547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대외비</a:t>
            </a:r>
            <a:endParaRPr lang="en-US" sz="1467"/>
          </a:p>
        </p:txBody>
      </p:sp>
      <p:sp>
        <p:nvSpPr>
          <p:cNvPr id="22" name="Shape 20"/>
          <p:cNvSpPr/>
          <p:nvPr/>
        </p:nvSpPr>
        <p:spPr>
          <a:xfrm>
            <a:off x="8541657" y="4922955"/>
            <a:ext cx="3291840" cy="792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Shape 21"/>
          <p:cNvSpPr/>
          <p:nvPr/>
        </p:nvSpPr>
        <p:spPr>
          <a:xfrm>
            <a:off x="8541657" y="4922955"/>
            <a:ext cx="73152" cy="792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 algn="ctr"/>
            <a:endParaRPr lang="ko-KR" altLang="en-US" sz="2400"/>
          </a:p>
        </p:txBody>
      </p:sp>
      <p:sp>
        <p:nvSpPr>
          <p:cNvPr id="24" name="Text 22"/>
          <p:cNvSpPr/>
          <p:nvPr/>
        </p:nvSpPr>
        <p:spPr>
          <a:xfrm>
            <a:off x="8724537" y="4971723"/>
            <a:ext cx="304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</a:t>
            </a:r>
            <a:endParaRPr lang="en-US" sz="1067"/>
          </a:p>
        </p:txBody>
      </p:sp>
      <p:sp>
        <p:nvSpPr>
          <p:cNvPr id="25" name="Text 23"/>
          <p:cNvSpPr/>
          <p:nvPr/>
        </p:nvSpPr>
        <p:spPr>
          <a:xfrm>
            <a:off x="8724537" y="5264331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err="1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</a:t>
            </a:r>
            <a:endParaRPr lang="en-US" sz="1467"/>
          </a:p>
        </p:txBody>
      </p:sp>
      <p:sp>
        <p:nvSpPr>
          <p:cNvPr id="27" name="Text 25"/>
          <p:cNvSpPr/>
          <p:nvPr/>
        </p:nvSpPr>
        <p:spPr>
          <a:xfrm>
            <a:off x="609600" y="6339840"/>
            <a:ext cx="85344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4754880" y="6323566"/>
            <a:ext cx="268224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Team ONE</a:t>
            </a:r>
            <a:endParaRPr lang="en-US" sz="1200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CBF2C534-E189-E495-13D0-BC45D8D14F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85" t="8016" r="5246" b="6447"/>
          <a:stretch>
            <a:fillRect/>
          </a:stretch>
        </p:blipFill>
        <p:spPr>
          <a:xfrm>
            <a:off x="8974570" y="1417966"/>
            <a:ext cx="2797967" cy="47375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AABCB01-0A03-2798-8D21-9FCCAB1C125E}"/>
              </a:ext>
            </a:extLst>
          </p:cNvPr>
          <p:cNvSpPr txBox="1"/>
          <p:nvPr/>
        </p:nvSpPr>
        <p:spPr>
          <a:xfrm>
            <a:off x="731520" y="2738646"/>
            <a:ext cx="6705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</a:t>
            </a:r>
            <a:r>
              <a:rPr lang="en-US" altLang="ko-KR" sz="16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애플리케이션</a:t>
            </a:r>
            <a:r>
              <a:rPr lang="en-US" altLang="ko-KR" sz="16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및 </a:t>
            </a:r>
            <a:r>
              <a:rPr lang="en-US" altLang="ko-KR" sz="16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</a:t>
            </a:r>
            <a:r>
              <a:rPr lang="en-US" altLang="ko-KR" sz="16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</a:t>
            </a:r>
            <a:r>
              <a:rPr lang="en-US" altLang="ko-KR" sz="16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인프라에</a:t>
            </a:r>
            <a:r>
              <a:rPr lang="en-US" altLang="ko-KR" sz="16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대한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6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침투</a:t>
            </a:r>
            <a:r>
              <a:rPr lang="en-US" altLang="ko-KR" sz="16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r>
              <a:rPr lang="en-US" altLang="ko-KR" sz="16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및 </a:t>
            </a:r>
            <a:r>
              <a:rPr lang="en-US" altLang="ko-KR" sz="16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</a:t>
            </a:r>
            <a:r>
              <a:rPr lang="en-US" altLang="ko-KR" sz="16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취약점</a:t>
            </a:r>
            <a:r>
              <a:rPr lang="en-US" altLang="ko-KR" sz="16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r>
              <a:rPr lang="en-US" altLang="ko-KR" sz="16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r>
              <a:rPr lang="en-US" altLang="ko-KR" sz="16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</a:t>
            </a:r>
            <a:endParaRPr lang="en-US" altLang="ko-KR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37AAA-DA78-5908-2F5D-829069315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4AA3A354-0800-4DA4-FCDF-CC6B048DBB1E}"/>
              </a:ext>
            </a:extLst>
          </p:cNvPr>
          <p:cNvSpPr txBox="1">
            <a:spLocks/>
          </p:cNvSpPr>
          <p:nvPr/>
        </p:nvSpPr>
        <p:spPr>
          <a:xfrm>
            <a:off x="438150" y="1790540"/>
            <a:ext cx="5372100" cy="38317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lnSpc>
                <a:spcPct val="200000"/>
              </a:lnSpc>
              <a:buAutoNum type="romanUcPeriod"/>
            </a:pPr>
            <a:r>
              <a:rPr lang="ko-KR" altLang="en-US" sz="2800" b="1"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개요</a:t>
            </a:r>
            <a:endParaRPr lang="en-US" altLang="ko-KR" sz="2800" b="1">
              <a:latin typeface="맑은 고딕" panose="020B0503020000020004" pitchFamily="50" charset="-127"/>
              <a:ea typeface="맑은 고딕" panose="020B0503020000020004" pitchFamily="50" charset="-127"/>
              <a:cs typeface="ADLaM Display" panose="020F0502020204030204" pitchFamily="2" charset="0"/>
            </a:endParaRPr>
          </a:p>
          <a:p>
            <a:pPr marL="514350" indent="-514350">
              <a:lnSpc>
                <a:spcPct val="200000"/>
              </a:lnSpc>
              <a:buAutoNum type="romanUcPeriod"/>
            </a:pPr>
            <a:r>
              <a:rPr lang="ko-KR" altLang="en-US" sz="2800" b="1"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모의 해킹 수행 개요</a:t>
            </a:r>
            <a:endParaRPr lang="en-US" altLang="ko-KR" sz="2800" b="1">
              <a:latin typeface="맑은 고딕" panose="020B0503020000020004" pitchFamily="50" charset="-127"/>
              <a:ea typeface="맑은 고딕" panose="020B0503020000020004" pitchFamily="50" charset="-127"/>
              <a:cs typeface="ADLaM Display" panose="020F0502020204030204" pitchFamily="2" charset="0"/>
            </a:endParaRPr>
          </a:p>
          <a:p>
            <a:pPr marL="514350" indent="-514350">
              <a:lnSpc>
                <a:spcPct val="200000"/>
              </a:lnSpc>
              <a:buAutoNum type="romanUcPeriod"/>
            </a:pPr>
            <a:r>
              <a:rPr lang="ko-KR" altLang="en-US" sz="2800" b="1"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공격 시나리오 및 검증 결과</a:t>
            </a:r>
            <a:endParaRPr lang="en-US" altLang="ko-KR" sz="2800" b="1">
              <a:latin typeface="맑은 고딕" panose="020B0503020000020004" pitchFamily="50" charset="-127"/>
              <a:ea typeface="맑은 고딕" panose="020B0503020000020004" pitchFamily="50" charset="-127"/>
              <a:cs typeface="ADLaM Display" panose="020F0502020204030204" pitchFamily="2" charset="0"/>
            </a:endParaRPr>
          </a:p>
          <a:p>
            <a:pPr marL="514350" indent="-514350">
              <a:lnSpc>
                <a:spcPct val="200000"/>
              </a:lnSpc>
              <a:buAutoNum type="romanUcPeriod"/>
            </a:pPr>
            <a:r>
              <a:rPr lang="ko-KR" altLang="en-US" sz="2800" b="1"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보안 대책 가이드</a:t>
            </a:r>
            <a:endParaRPr lang="en-US" altLang="ko-KR" sz="2800" b="1">
              <a:latin typeface="맑은 고딕" panose="020B0503020000020004" pitchFamily="50" charset="-127"/>
              <a:ea typeface="맑은 고딕" panose="020B0503020000020004" pitchFamily="50" charset="-127"/>
              <a:cs typeface="ADLaM Display" panose="020F0502020204030204" pitchFamily="2" charset="0"/>
            </a:endParaRPr>
          </a:p>
          <a:p>
            <a:pPr marL="514350" indent="-514350">
              <a:lnSpc>
                <a:spcPct val="200000"/>
              </a:lnSpc>
              <a:buAutoNum type="romanUcPeriod"/>
            </a:pPr>
            <a:endParaRPr lang="en-US" altLang="ko-KR" sz="3200" b="1">
              <a:latin typeface="맑은 고딕" panose="020B0503020000020004" pitchFamily="50" charset="-127"/>
              <a:ea typeface="맑은 고딕" panose="020B0503020000020004" pitchFamily="50" charset="-127"/>
              <a:cs typeface="ADLaM Display" panose="020F0502020204030204" pitchFamily="2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F4CB09B-BBFB-3AB5-BCBB-92A2C9EEBF2A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BBA29F4-6BAB-90BD-1BDC-D0426CFFE82B}"/>
              </a:ext>
            </a:extLst>
          </p:cNvPr>
          <p:cNvSpPr txBox="1"/>
          <p:nvPr/>
        </p:nvSpPr>
        <p:spPr>
          <a:xfrm>
            <a:off x="304800" y="236402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/>
              <a:t>목차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15611063-F661-E9A1-5801-3B294B58043E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3FA9A57A-0066-4F94-42F4-0410D77F4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EA686A-6146-8DF1-B07B-F6BD29103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fld id="{5E730BA1-3F6D-49E0-8F01-E02E0ED4523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878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D43AA-2E1B-738A-DA24-A25722774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4A1499-2C1D-377C-C921-60527811A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0900" y="150617"/>
            <a:ext cx="984250" cy="800105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I. 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개요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DD1F8BE-BDD2-1F96-21F6-B494872B2B2E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Shape 6">
            <a:extLst>
              <a:ext uri="{FF2B5EF4-FFF2-40B4-BE49-F238E27FC236}">
                <a16:creationId xmlns:a16="http://schemas.microsoft.com/office/drawing/2014/main" id="{15D174E8-A867-E13E-423A-4B3C4A5E50DE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A768D6-1C61-C09F-F92B-6AB70F1F9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071389-2770-7595-B073-53F984472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fld id="{5E730BA1-3F6D-49E0-8F01-E02E0ED4523B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8BF4E7E-3B5E-6CC7-90D2-1374B16530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71"/>
          <a:stretch>
            <a:fillRect/>
          </a:stretch>
        </p:blipFill>
        <p:spPr>
          <a:xfrm>
            <a:off x="2092575" y="3350792"/>
            <a:ext cx="9482682" cy="143847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85B882D-1C5B-9936-D0D9-1EBA005C5E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" y="1266247"/>
            <a:ext cx="8059275" cy="201005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2553B20-AEC0-2258-A6BE-A323C87F3B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" y="4646347"/>
            <a:ext cx="8135485" cy="17147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6972A4-E962-6B91-EDAC-321EF2973F2F}"/>
              </a:ext>
            </a:extLst>
          </p:cNvPr>
          <p:cNvSpPr txBox="1"/>
          <p:nvPr/>
        </p:nvSpPr>
        <p:spPr>
          <a:xfrm>
            <a:off x="285750" y="366003"/>
            <a:ext cx="3230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/>
              <a:t>보안 위협 동향 및 배경</a:t>
            </a:r>
          </a:p>
        </p:txBody>
      </p:sp>
    </p:spTree>
    <p:extLst>
      <p:ext uri="{BB962C8B-B14F-4D97-AF65-F5344CB8AC3E}">
        <p14:creationId xmlns:p14="http://schemas.microsoft.com/office/powerpoint/2010/main" val="2660304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166E6-AC98-BF5E-760A-A6D8DA09B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06DDBB-53AF-52FD-3318-69CFFB69D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0900" y="150617"/>
            <a:ext cx="984250" cy="800105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I. 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개요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728E69C-2A5E-48B9-9981-A9424EC1F922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9" name="내용 개체 틀 8">
            <a:extLst>
              <a:ext uri="{FF2B5EF4-FFF2-40B4-BE49-F238E27FC236}">
                <a16:creationId xmlns:a16="http://schemas.microsoft.com/office/drawing/2014/main" id="{EA5ECBB2-B90E-A463-8B76-B40B0241CB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9497956"/>
              </p:ext>
            </p:extLst>
          </p:nvPr>
        </p:nvGraphicFramePr>
        <p:xfrm>
          <a:off x="523875" y="1336664"/>
          <a:ext cx="10979150" cy="493297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670050">
                  <a:extLst>
                    <a:ext uri="{9D8B030D-6E8A-4147-A177-3AD203B41FA5}">
                      <a16:colId xmlns:a16="http://schemas.microsoft.com/office/drawing/2014/main" val="3065959597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119017867"/>
                    </a:ext>
                  </a:extLst>
                </a:gridCol>
                <a:gridCol w="1492250">
                  <a:extLst>
                    <a:ext uri="{9D8B030D-6E8A-4147-A177-3AD203B41FA5}">
                      <a16:colId xmlns:a16="http://schemas.microsoft.com/office/drawing/2014/main" val="2964510162"/>
                    </a:ext>
                  </a:extLst>
                </a:gridCol>
                <a:gridCol w="5111750">
                  <a:extLst>
                    <a:ext uri="{9D8B030D-6E8A-4147-A177-3AD203B41FA5}">
                      <a16:colId xmlns:a16="http://schemas.microsoft.com/office/drawing/2014/main" val="3792251683"/>
                    </a:ext>
                  </a:extLst>
                </a:gridCol>
              </a:tblGrid>
              <a:tr h="5356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>
                          <a:solidFill>
                            <a:schemeClr val="tx1"/>
                          </a:solidFill>
                        </a:rPr>
                        <a:t>특징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>
                          <a:solidFill>
                            <a:schemeClr val="tx1"/>
                          </a:solidFill>
                        </a:rPr>
                        <a:t>해당 사고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원인 및 문제점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069801"/>
                  </a:ext>
                </a:extLst>
              </a:tr>
              <a:tr h="67900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기본 </a:t>
                      </a:r>
                      <a:r>
                        <a:rPr lang="ko-KR" altLang="en-US" sz="1600"/>
                        <a:t>보호조치 미흡형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/>
                        <a:t>암호화 점검 등 </a:t>
                      </a:r>
                      <a:endParaRPr lang="en-US" altLang="ko-KR" sz="160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/>
                        <a:t>최소 보호조치 이행 실패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err="1"/>
                        <a:t>SKT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핵심 계정정보 </a:t>
                      </a:r>
                      <a:r>
                        <a:rPr lang="ko-KR" altLang="en-US" sz="1600" b="0" i="0" u="none" strike="noStrike" kern="1200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평문</a:t>
                      </a:r>
                      <a:r>
                        <a:rPr lang="ko-KR" alt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저장</a:t>
                      </a:r>
                      <a:endParaRPr lang="en-US" altLang="ko-KR" sz="16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암호화 조치 및 관리 부실</a:t>
                      </a:r>
                      <a:r>
                        <a:rPr lang="en-US" altLang="ko-KR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7783457"/>
                  </a:ext>
                </a:extLst>
              </a:tr>
              <a:tr h="67900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SGI</a:t>
                      </a:r>
                      <a:r>
                        <a:rPr lang="ko-KR" altLang="en-US" sz="1600"/>
                        <a:t>서울보증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SSL-VPN </a:t>
                      </a:r>
                      <a:r>
                        <a:rPr lang="ko-KR" alt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장비의 </a:t>
                      </a:r>
                      <a:r>
                        <a:rPr lang="en-US" altLang="ko-KR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SSH </a:t>
                      </a:r>
                      <a:r>
                        <a:rPr lang="ko-KR" alt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포트에 대한 무차별 대입 공격</a:t>
                      </a:r>
                    </a:p>
                    <a:p>
                      <a:pPr algn="ctr"/>
                      <a:r>
                        <a:rPr lang="ko-KR" alt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통제 미흡</a:t>
                      </a:r>
                      <a:r>
                        <a:rPr lang="en-US" altLang="ko-KR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로그인 시도 횟수 제한 </a:t>
                      </a:r>
                      <a:r>
                        <a:rPr lang="ko-KR" altLang="en-US" sz="1600" b="0" i="0" u="none" strike="noStrike" kern="1200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미설정</a:t>
                      </a:r>
                      <a:r>
                        <a:rPr lang="ko-KR" alt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등</a:t>
                      </a:r>
                      <a:r>
                        <a:rPr lang="en-US" altLang="ko-KR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5553815"/>
                  </a:ext>
                </a:extLst>
              </a:tr>
              <a:tr h="393392">
                <a:tc rowSpan="4">
                  <a:txBody>
                    <a:bodyPr/>
                    <a:lstStyle/>
                    <a:p>
                      <a:pPr algn="ctr"/>
                      <a:r>
                        <a:rPr lang="ko-KR" altLang="en-US" sz="1600" b="0" i="0" u="none" strike="noStrike" kern="1200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자산ㆍ계정</a:t>
                      </a:r>
                      <a:r>
                        <a:rPr lang="ko-KR" alt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altLang="ko-KR" sz="16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ko-KR" alt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 실패형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ko-KR" alt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장기 미사용 정보 자산</a:t>
                      </a:r>
                      <a:r>
                        <a:rPr lang="en-US" altLang="ko-KR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algn="ctr"/>
                      <a:r>
                        <a:rPr lang="ko-KR" alt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퇴사자 계정 등 방치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KT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미사용 </a:t>
                      </a:r>
                      <a:r>
                        <a:rPr lang="ko-KR" altLang="en-US" sz="1600" b="0" i="0" u="none" strike="noStrike" kern="1200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펨토셀</a:t>
                      </a:r>
                      <a:r>
                        <a:rPr lang="ko-KR" alt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600" b="0" i="0" u="none" strike="noStrike" kern="1200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인증ㆍ관리</a:t>
                      </a:r>
                      <a:r>
                        <a:rPr lang="ko-KR" alt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부실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9334956"/>
                  </a:ext>
                </a:extLst>
              </a:tr>
              <a:tr h="39339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err="1"/>
                        <a:t>예스</a:t>
                      </a:r>
                      <a:r>
                        <a:rPr lang="en-US" altLang="ko-KR" sz="1600" dirty="0"/>
                        <a:t>24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기술지원 종료된 </a:t>
                      </a:r>
                      <a:r>
                        <a:rPr lang="en-US" altLang="ko-KR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OS </a:t>
                      </a:r>
                      <a:r>
                        <a:rPr lang="ko-KR" alt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522255"/>
                  </a:ext>
                </a:extLst>
              </a:tr>
              <a:tr h="39339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/>
                        <a:t>롯데카드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i="0" u="none" strike="noStrike" kern="1200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보안패치</a:t>
                      </a:r>
                      <a:r>
                        <a:rPr lang="ko-KR" alt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미적용 서버 장기 운영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570167"/>
                  </a:ext>
                </a:extLst>
              </a:tr>
              <a:tr h="39339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err="1"/>
                        <a:t>쿠팡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퇴사자 접근권한 </a:t>
                      </a:r>
                      <a:r>
                        <a:rPr lang="ko-KR" altLang="en-US" sz="1600" b="0" i="0" u="none" strike="noStrike" kern="1200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미회수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7889369"/>
                  </a:ext>
                </a:extLst>
              </a:tr>
              <a:tr h="6790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보안 설계 </a:t>
                      </a:r>
                      <a:endParaRPr lang="en-US" altLang="ko-KR" sz="16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취약형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i="0" u="none" strike="noStrike" kern="1200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인증ㆍ접속</a:t>
                      </a:r>
                      <a:r>
                        <a:rPr lang="ko-KR" alt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구조의 </a:t>
                      </a:r>
                      <a:endParaRPr lang="en-US" altLang="ko-KR" sz="16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설계 취약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/>
                        <a:t>정부 행정망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VPN </a:t>
                      </a:r>
                      <a:r>
                        <a:rPr lang="ko-KR" alt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lang="ko-KR" altLang="en-US" sz="1600" b="0" i="0" u="none" strike="noStrike" kern="1200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내부망</a:t>
                      </a:r>
                      <a:r>
                        <a:rPr lang="ko-KR" alt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600" b="0" i="0" u="none" strike="noStrike" kern="1200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접근통제ㆍ인증체계</a:t>
                      </a:r>
                      <a:r>
                        <a:rPr lang="ko-KR" alt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미흡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9626164"/>
                  </a:ext>
                </a:extLst>
              </a:tr>
              <a:tr h="39339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공급망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위협형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ko-KR" alt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외주 </a:t>
                      </a:r>
                      <a:r>
                        <a:rPr lang="ko-KR" altLang="en-US" sz="1600" b="0" i="0" u="none" strike="noStrike" kern="1200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장비ㆍ</a:t>
                      </a:r>
                      <a:r>
                        <a:rPr lang="en-US" altLang="ko-KR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 </a:t>
                      </a:r>
                      <a:r>
                        <a:rPr lang="ko-KR" alt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구성요소</a:t>
                      </a:r>
                    </a:p>
                    <a:p>
                      <a:pPr algn="ctr"/>
                      <a:r>
                        <a:rPr lang="ko-KR" alt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대한 </a:t>
                      </a:r>
                      <a:r>
                        <a:rPr lang="ko-KR" altLang="en-US" sz="1600" b="0" i="0" u="none" strike="noStrike" kern="1200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검증ㆍ관리</a:t>
                      </a:r>
                      <a:r>
                        <a:rPr lang="ko-KR" alt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미흡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err="1"/>
                        <a:t>SKT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협력업체 공급 </a:t>
                      </a:r>
                      <a:r>
                        <a:rPr lang="en-US" altLang="ko-KR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 </a:t>
                      </a:r>
                      <a:r>
                        <a:rPr lang="ko-KR" altLang="en-US" sz="16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보안점검 미흡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6473934"/>
                  </a:ext>
                </a:extLst>
              </a:tr>
              <a:tr h="39339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KT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협력업체 공급 </a:t>
                      </a:r>
                      <a:r>
                        <a:rPr lang="ko-KR" altLang="en-US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펨토셀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SBOM 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관리체계 부재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506715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819518A-9347-2DE0-D5CC-300D3ACDB80D}"/>
              </a:ext>
            </a:extLst>
          </p:cNvPr>
          <p:cNvSpPr txBox="1"/>
          <p:nvPr/>
        </p:nvSpPr>
        <p:spPr>
          <a:xfrm>
            <a:off x="285750" y="366003"/>
            <a:ext cx="36679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/>
              <a:t>주요 침해 사례 </a:t>
            </a:r>
            <a:r>
              <a:rPr lang="en-US" altLang="ko-KR" sz="2400" b="1"/>
              <a:t>(2025</a:t>
            </a:r>
            <a:r>
              <a:rPr lang="ko-KR" altLang="en-US" sz="2400" b="1"/>
              <a:t>년도</a:t>
            </a:r>
            <a:r>
              <a:rPr lang="en-US" altLang="ko-KR" sz="2400" b="1"/>
              <a:t>)</a:t>
            </a:r>
            <a:endParaRPr lang="ko-KR" altLang="en-US" sz="2400" b="1"/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9E5539FF-927F-D25B-3AA5-81DB6FFD4C73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F5211F6-D94B-7EE6-8703-90A49D33B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13C656-34D6-8E22-306E-525C72E23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fld id="{5E730BA1-3F6D-49E0-8F01-E02E0ED4523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30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2377C-D30A-BD1F-EE53-B59A7B46C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EA611CA-F8F9-E2F1-E7FC-5C3683C19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6AD2BA-60D2-A17C-A691-3E95311F9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fld id="{5E730BA1-3F6D-49E0-8F01-E02E0ED4523B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D0F11FF5-D20E-A9AD-4234-FCC36C6DB956}"/>
              </a:ext>
            </a:extLst>
          </p:cNvPr>
          <p:cNvSpPr txBox="1">
            <a:spLocks/>
          </p:cNvSpPr>
          <p:nvPr/>
        </p:nvSpPr>
        <p:spPr>
          <a:xfrm>
            <a:off x="9251950" y="150617"/>
            <a:ext cx="2743200" cy="8001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I</a:t>
            </a:r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cs typeface="ADLaM Display" panose="020F0502020204030204" pitchFamily="2" charset="0"/>
              </a:rPr>
              <a:t>I</a:t>
            </a:r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. 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모의해킹 수행</a:t>
            </a:r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 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개요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8195E02-943A-0E9A-7778-308646294220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3C30786-EF14-0DFB-A7A5-9C1D8972C580}"/>
              </a:ext>
            </a:extLst>
          </p:cNvPr>
          <p:cNvSpPr txBox="1"/>
          <p:nvPr/>
        </p:nvSpPr>
        <p:spPr>
          <a:xfrm>
            <a:off x="285750" y="366003"/>
            <a:ext cx="1484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/>
              <a:t>수행 인력</a:t>
            </a:r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86CB3FB6-7D54-75B6-DD6B-4175223AB2D3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인력_카드_바_1">
            <a:extLst>
              <a:ext uri="{FF2B5EF4-FFF2-40B4-BE49-F238E27FC236}">
                <a16:creationId xmlns:a16="http://schemas.microsoft.com/office/drawing/2014/main" id="{24C77F88-599C-46CA-918A-85E1B973E1C0}"/>
              </a:ext>
            </a:extLst>
          </p:cNvPr>
          <p:cNvSpPr/>
          <p:nvPr/>
        </p:nvSpPr>
        <p:spPr>
          <a:xfrm rot="13480238">
            <a:off x="1645756" y="2391811"/>
            <a:ext cx="1800000" cy="180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인력_카드_바_1">
            <a:extLst>
              <a:ext uri="{FF2B5EF4-FFF2-40B4-BE49-F238E27FC236}">
                <a16:creationId xmlns:a16="http://schemas.microsoft.com/office/drawing/2014/main" id="{3066058E-6210-106D-6673-982533DA1ADD}"/>
              </a:ext>
            </a:extLst>
          </p:cNvPr>
          <p:cNvSpPr/>
          <p:nvPr/>
        </p:nvSpPr>
        <p:spPr>
          <a:xfrm rot="13480238">
            <a:off x="5104830" y="2317582"/>
            <a:ext cx="1800000" cy="180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0" cap="flat" cmpd="sng" algn="ctr">
            <a:solidFill>
              <a:srgbClr val="FFCC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인력_카드_바_1">
            <a:extLst>
              <a:ext uri="{FF2B5EF4-FFF2-40B4-BE49-F238E27FC236}">
                <a16:creationId xmlns:a16="http://schemas.microsoft.com/office/drawing/2014/main" id="{59576669-344B-B6A7-F4C0-07114DD3A5D5}"/>
              </a:ext>
            </a:extLst>
          </p:cNvPr>
          <p:cNvSpPr/>
          <p:nvPr/>
        </p:nvSpPr>
        <p:spPr>
          <a:xfrm rot="13480238">
            <a:off x="8526172" y="2286199"/>
            <a:ext cx="1800000" cy="1800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0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인력_카드_바_1">
            <a:extLst>
              <a:ext uri="{FF2B5EF4-FFF2-40B4-BE49-F238E27FC236}">
                <a16:creationId xmlns:a16="http://schemas.microsoft.com/office/drawing/2014/main" id="{8AB2B79F-5EA7-CCDD-0810-7F2F1271BD53}"/>
              </a:ext>
            </a:extLst>
          </p:cNvPr>
          <p:cNvSpPr/>
          <p:nvPr/>
        </p:nvSpPr>
        <p:spPr>
          <a:xfrm rot="13480238">
            <a:off x="3363165" y="3836387"/>
            <a:ext cx="1800000" cy="180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인력_카드_바_1">
            <a:extLst>
              <a:ext uri="{FF2B5EF4-FFF2-40B4-BE49-F238E27FC236}">
                <a16:creationId xmlns:a16="http://schemas.microsoft.com/office/drawing/2014/main" id="{F5BA2837-C42C-CBEF-0D9D-A0E2C65B90A6}"/>
              </a:ext>
            </a:extLst>
          </p:cNvPr>
          <p:cNvSpPr/>
          <p:nvPr/>
        </p:nvSpPr>
        <p:spPr>
          <a:xfrm rot="13480238">
            <a:off x="6815501" y="3836386"/>
            <a:ext cx="1800000" cy="1800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0" cap="flat" cmpd="sng" algn="ctr">
            <a:solidFill>
              <a:schemeClr val="accent5">
                <a:lumMod val="60000"/>
                <a:lumOff val="4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45AAFD-FF35-FA19-ECD4-A5EE4194548F}"/>
              </a:ext>
            </a:extLst>
          </p:cNvPr>
          <p:cNvSpPr txBox="1"/>
          <p:nvPr/>
        </p:nvSpPr>
        <p:spPr>
          <a:xfrm>
            <a:off x="3821645" y="6070772"/>
            <a:ext cx="883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이주희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014C88-96A5-E199-0305-D810BD70D97A}"/>
              </a:ext>
            </a:extLst>
          </p:cNvPr>
          <p:cNvSpPr txBox="1"/>
          <p:nvPr/>
        </p:nvSpPr>
        <p:spPr>
          <a:xfrm>
            <a:off x="2073730" y="1575478"/>
            <a:ext cx="883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err="1"/>
              <a:t>전상록</a:t>
            </a:r>
            <a:endParaRPr lang="ko-KR" altLang="en-US" b="1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77AA28-9CF1-4D2C-F5CB-BF6D25F77516}"/>
              </a:ext>
            </a:extLst>
          </p:cNvPr>
          <p:cNvSpPr txBox="1"/>
          <p:nvPr/>
        </p:nvSpPr>
        <p:spPr>
          <a:xfrm>
            <a:off x="7277602" y="6070772"/>
            <a:ext cx="883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err="1"/>
              <a:t>박혜지</a:t>
            </a:r>
            <a:endParaRPr lang="ko-KR" altLang="en-US" b="1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4B89FE3-246F-7534-339C-234D81E12598}"/>
              </a:ext>
            </a:extLst>
          </p:cNvPr>
          <p:cNvSpPr txBox="1"/>
          <p:nvPr/>
        </p:nvSpPr>
        <p:spPr>
          <a:xfrm>
            <a:off x="8998144" y="1575478"/>
            <a:ext cx="883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err="1"/>
              <a:t>이치승</a:t>
            </a:r>
            <a:endParaRPr lang="ko-KR" altLang="en-US" b="1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290E9EE-D79E-74EE-7684-2B1FF33DB3A3}"/>
              </a:ext>
            </a:extLst>
          </p:cNvPr>
          <p:cNvSpPr txBox="1"/>
          <p:nvPr/>
        </p:nvSpPr>
        <p:spPr>
          <a:xfrm>
            <a:off x="5535937" y="1575478"/>
            <a:ext cx="883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유진욱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D72426B-6BE9-D610-4F4E-810F39B5F2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087" y="2463811"/>
            <a:ext cx="1594666" cy="1656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C9D6C19-B03A-CF60-1EFA-13DE0364A9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010" y="3921973"/>
            <a:ext cx="1652167" cy="1656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96C8B7E-CA23-9BFC-5963-2C9B215607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054" y="3921973"/>
            <a:ext cx="1744167" cy="1656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99323CB-F457-B104-9E04-0E04B8E198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4454" y="2362204"/>
            <a:ext cx="1710417" cy="159589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5E8028B-DE01-2500-60F8-4911517F84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712" y="2430385"/>
            <a:ext cx="1687090" cy="167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84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9D899-4B81-5572-7D5B-F043CE36C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1481391-C7F8-142A-249C-26830CCFE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AB9EDA4-5915-23C8-BBD8-FFCF9A963973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60160DA-DC84-FC9A-5B80-324CB59787D5}"/>
              </a:ext>
            </a:extLst>
          </p:cNvPr>
          <p:cNvSpPr txBox="1"/>
          <p:nvPr/>
        </p:nvSpPr>
        <p:spPr>
          <a:xfrm>
            <a:off x="285750" y="366003"/>
            <a:ext cx="1553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/>
              <a:t>수행 일정 </a:t>
            </a:r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FFE5473B-B689-62AB-A43D-5674878628BA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graphicFrame>
        <p:nvGraphicFramePr>
          <p:cNvPr id="2" name="Timeline SmartArt 1">
            <a:extLst>
              <a:ext uri="{FF2B5EF4-FFF2-40B4-BE49-F238E27FC236}">
                <a16:creationId xmlns:a16="http://schemas.microsoft.com/office/drawing/2014/main" id="{66326F97-6C5E-E7A4-791A-D647673EF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7458259"/>
              </p:ext>
            </p:extLst>
          </p:nvPr>
        </p:nvGraphicFramePr>
        <p:xfrm>
          <a:off x="845910" y="1143193"/>
          <a:ext cx="10500179" cy="50033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21FFAF48-0B71-9CA4-F41C-E75106AAB9B1}"/>
              </a:ext>
            </a:extLst>
          </p:cNvPr>
          <p:cNvSpPr txBox="1">
            <a:spLocks/>
          </p:cNvSpPr>
          <p:nvPr/>
        </p:nvSpPr>
        <p:spPr>
          <a:xfrm>
            <a:off x="9251950" y="150617"/>
            <a:ext cx="2743200" cy="8001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I</a:t>
            </a:r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cs typeface="ADLaM Display" panose="020F0502020204030204" pitchFamily="2" charset="0"/>
              </a:rPr>
              <a:t>I</a:t>
            </a:r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. 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모의해킹 수행</a:t>
            </a:r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 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개요</a:t>
            </a: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18021AD8-C0D9-C0B9-BC44-A6A5A4F6C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fld id="{5E730BA1-3F6D-49E0-8F01-E02E0ED4523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3903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C9D0B-856A-7257-94AB-20CFD5E33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FA1CEDC-7FC5-D676-BA1B-D5691B6DD77C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9" name="내용 개체 틀 8">
            <a:extLst>
              <a:ext uri="{FF2B5EF4-FFF2-40B4-BE49-F238E27FC236}">
                <a16:creationId xmlns:a16="http://schemas.microsoft.com/office/drawing/2014/main" id="{5E0C52E1-CF22-EC17-D5C6-CFB836747A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7588883"/>
              </p:ext>
            </p:extLst>
          </p:nvPr>
        </p:nvGraphicFramePr>
        <p:xfrm>
          <a:off x="1073943" y="1852216"/>
          <a:ext cx="9865519" cy="37084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642395">
                  <a:extLst>
                    <a:ext uri="{9D8B030D-6E8A-4147-A177-3AD203B41FA5}">
                      <a16:colId xmlns:a16="http://schemas.microsoft.com/office/drawing/2014/main" val="3065959597"/>
                    </a:ext>
                  </a:extLst>
                </a:gridCol>
                <a:gridCol w="2927542">
                  <a:extLst>
                    <a:ext uri="{9D8B030D-6E8A-4147-A177-3AD203B41FA5}">
                      <a16:colId xmlns:a16="http://schemas.microsoft.com/office/drawing/2014/main" val="119017867"/>
                    </a:ext>
                  </a:extLst>
                </a:gridCol>
                <a:gridCol w="6295582">
                  <a:extLst>
                    <a:ext uri="{9D8B030D-6E8A-4147-A177-3AD203B41FA5}">
                      <a16:colId xmlns:a16="http://schemas.microsoft.com/office/drawing/2014/main" val="29645101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err="1">
                          <a:solidFill>
                            <a:schemeClr val="tx1"/>
                          </a:solidFill>
                        </a:rPr>
                        <a:t>대상명</a:t>
                      </a:r>
                      <a:endParaRPr lang="ko-KR" altLang="en-US" sz="16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도메인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/ IP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069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1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Spring Web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http://192.168.35.225:8011/spring-form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7783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2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TeamCity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172.18.0.3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5553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3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err="1"/>
                        <a:t>Gitea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172.18.0.2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9334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4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Nas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172.18.0.5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522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5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Spring MySQL DB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172.18.0.6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057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6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Apache </a:t>
                      </a:r>
                      <a:r>
                        <a:rPr lang="en-US" altLang="ko-KR" sz="1600" err="1"/>
                        <a:t>Struts2</a:t>
                      </a:r>
                      <a:r>
                        <a:rPr lang="en-US" altLang="ko-KR" sz="1600"/>
                        <a:t> Web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172.18.0.4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7889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7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Apache </a:t>
                      </a:r>
                      <a:r>
                        <a:rPr lang="en-US" altLang="ko-KR" sz="1600" err="1"/>
                        <a:t>Struts2</a:t>
                      </a:r>
                      <a:r>
                        <a:rPr lang="en-US" altLang="ko-KR" sz="1600"/>
                        <a:t> MySQL DB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172.18.0.7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9626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8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err="1"/>
                        <a:t>ChatBot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172.18.0.9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6473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9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Desktop</a:t>
                      </a:r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172.18.0.11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506715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D39889C-B88E-0D9E-50B1-66D584B14D18}"/>
              </a:ext>
            </a:extLst>
          </p:cNvPr>
          <p:cNvSpPr txBox="1"/>
          <p:nvPr/>
        </p:nvSpPr>
        <p:spPr>
          <a:xfrm>
            <a:off x="285750" y="36600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/>
              <a:t>수행대상</a:t>
            </a:r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AD59C71A-8ECE-478E-40A9-2DA56D3CE48F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A987A9F-A0A6-F729-5BB0-86B43A230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291012-B0C0-2A38-3B1A-E574D8E8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fld id="{5E730BA1-3F6D-49E0-8F01-E02E0ED4523B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2398C2B5-E5C9-1BE4-F6D7-8DAD1E2DCF92}"/>
              </a:ext>
            </a:extLst>
          </p:cNvPr>
          <p:cNvSpPr txBox="1">
            <a:spLocks/>
          </p:cNvSpPr>
          <p:nvPr/>
        </p:nvSpPr>
        <p:spPr>
          <a:xfrm>
            <a:off x="9251950" y="150617"/>
            <a:ext cx="2743200" cy="8001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I</a:t>
            </a:r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cs typeface="ADLaM Display" panose="020F0502020204030204" pitchFamily="2" charset="0"/>
              </a:rPr>
              <a:t>I</a:t>
            </a:r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. 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모의해킹 수행</a:t>
            </a:r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 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개요</a:t>
            </a:r>
          </a:p>
        </p:txBody>
      </p:sp>
    </p:spTree>
    <p:extLst>
      <p:ext uri="{BB962C8B-B14F-4D97-AF65-F5344CB8AC3E}">
        <p14:creationId xmlns:p14="http://schemas.microsoft.com/office/powerpoint/2010/main" val="708029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1417A-5C49-BFC2-CF8E-ED7CC0C08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직사각형 67">
            <a:extLst>
              <a:ext uri="{FF2B5EF4-FFF2-40B4-BE49-F238E27FC236}">
                <a16:creationId xmlns:a16="http://schemas.microsoft.com/office/drawing/2014/main" id="{207B8BB2-55DE-96FE-467A-B663FD0B5EC0}"/>
              </a:ext>
            </a:extLst>
          </p:cNvPr>
          <p:cNvSpPr/>
          <p:nvPr/>
        </p:nvSpPr>
        <p:spPr>
          <a:xfrm>
            <a:off x="3869728" y="1250237"/>
            <a:ext cx="7606792" cy="534948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595A7750-DBC1-73DF-44CD-11CFA67410ED}"/>
              </a:ext>
            </a:extLst>
          </p:cNvPr>
          <p:cNvSpPr/>
          <p:nvPr/>
        </p:nvSpPr>
        <p:spPr>
          <a:xfrm>
            <a:off x="444248" y="1266246"/>
            <a:ext cx="3217295" cy="5349481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875CFC-FE8E-C5B3-637F-D72CC08B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9150" y="6394221"/>
            <a:ext cx="2743200" cy="365125"/>
          </a:xfrm>
        </p:spPr>
        <p:txBody>
          <a:bodyPr/>
          <a:lstStyle/>
          <a:p>
            <a:fld id="{5E730BA1-3F6D-49E0-8F01-E02E0ED4523B}" type="slidenum">
              <a:rPr lang="ko-KR" altLang="en-US" smtClean="0"/>
              <a:t>8</a:t>
            </a:fld>
            <a:endParaRPr lang="ko-KR" altLang="en-US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A0EAC8B-F3F9-2F7C-9949-8BF4D9B83A7C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599982F-023F-EA2F-C5C4-20FE3272F8F8}"/>
              </a:ext>
            </a:extLst>
          </p:cNvPr>
          <p:cNvSpPr txBox="1"/>
          <p:nvPr/>
        </p:nvSpPr>
        <p:spPr>
          <a:xfrm>
            <a:off x="285750" y="366003"/>
            <a:ext cx="8691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/>
              <a:t>전체 </a:t>
            </a:r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522772F7-D269-B398-51CE-B9F96CB906DB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2FA2124-FAC8-9FED-2525-75DB3B1D9A5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58" y="3239016"/>
            <a:ext cx="720000" cy="719498"/>
          </a:xfrm>
          <a:prstGeom prst="rect">
            <a:avLst/>
          </a:prstGeom>
        </p:spPr>
      </p:pic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71321746-F60A-B8BF-687B-1F20DA859720}"/>
              </a:ext>
            </a:extLst>
          </p:cNvPr>
          <p:cNvCxnSpPr/>
          <p:nvPr/>
        </p:nvCxnSpPr>
        <p:spPr>
          <a:xfrm>
            <a:off x="1537607" y="3715662"/>
            <a:ext cx="520700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FCF05A6-39B0-E487-7638-68A9494D0596}"/>
              </a:ext>
            </a:extLst>
          </p:cNvPr>
          <p:cNvSpPr txBox="1"/>
          <p:nvPr/>
        </p:nvSpPr>
        <p:spPr>
          <a:xfrm>
            <a:off x="2213743" y="3394399"/>
            <a:ext cx="14478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/>
              <a:t>Spring</a:t>
            </a:r>
          </a:p>
          <a:p>
            <a:r>
              <a:rPr lang="ko-KR" altLang="en-US" sz="1400" b="1">
                <a:latin typeface="+mj-ea"/>
                <a:ea typeface="+mj-ea"/>
              </a:rPr>
              <a:t>취약점 악용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A0FDBAF9-635B-590B-5BBB-7FC37FDFA8F7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463" y="3213147"/>
            <a:ext cx="720000" cy="754026"/>
          </a:xfrm>
          <a:prstGeom prst="rect">
            <a:avLst/>
          </a:prstGeom>
        </p:spPr>
      </p:pic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15E63244-640D-B629-ED50-87B59B22799C}"/>
              </a:ext>
            </a:extLst>
          </p:cNvPr>
          <p:cNvCxnSpPr>
            <a:cxnSpLocks/>
          </p:cNvCxnSpPr>
          <p:nvPr/>
        </p:nvCxnSpPr>
        <p:spPr>
          <a:xfrm flipV="1">
            <a:off x="10572742" y="3695680"/>
            <a:ext cx="0" cy="691792"/>
          </a:xfrm>
          <a:prstGeom prst="straightConnector1">
            <a:avLst/>
          </a:prstGeom>
          <a:ln w="38100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0BA346C0-93B2-76D9-8776-88C06A4B92E4}"/>
              </a:ext>
            </a:extLst>
          </p:cNvPr>
          <p:cNvCxnSpPr>
            <a:cxnSpLocks/>
          </p:cNvCxnSpPr>
          <p:nvPr/>
        </p:nvCxnSpPr>
        <p:spPr>
          <a:xfrm>
            <a:off x="5195690" y="5792995"/>
            <a:ext cx="692150" cy="0"/>
          </a:xfrm>
          <a:prstGeom prst="straightConnector1">
            <a:avLst/>
          </a:prstGeom>
          <a:ln w="38100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그림 35">
            <a:extLst>
              <a:ext uri="{FF2B5EF4-FFF2-40B4-BE49-F238E27FC236}">
                <a16:creationId xmlns:a16="http://schemas.microsoft.com/office/drawing/2014/main" id="{4DBD193E-08CB-A3C4-1B23-7102D689C523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307" y="5265714"/>
            <a:ext cx="808688" cy="900000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F4BDE7E0-3792-553D-D0E6-5593FDC693B1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318" y="3218129"/>
            <a:ext cx="720000" cy="720000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CD42009B-439D-96F7-D2C8-06C81B5C28D3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3" b="9623"/>
          <a:stretch>
            <a:fillRect/>
          </a:stretch>
        </p:blipFill>
        <p:spPr>
          <a:xfrm>
            <a:off x="7948773" y="3207431"/>
            <a:ext cx="915391" cy="759742"/>
          </a:xfrm>
          <a:prstGeom prst="rect">
            <a:avLst/>
          </a:prstGeom>
        </p:spPr>
      </p:pic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3BDDD2F-E3CF-DEBD-99C9-E1CEA4BC61C8}"/>
              </a:ext>
            </a:extLst>
          </p:cNvPr>
          <p:cNvCxnSpPr>
            <a:cxnSpLocks/>
          </p:cNvCxnSpPr>
          <p:nvPr/>
        </p:nvCxnSpPr>
        <p:spPr>
          <a:xfrm>
            <a:off x="6980974" y="3638927"/>
            <a:ext cx="692150" cy="0"/>
          </a:xfrm>
          <a:prstGeom prst="straightConnector1">
            <a:avLst/>
          </a:prstGeom>
          <a:ln w="38100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그림 42">
            <a:extLst>
              <a:ext uri="{FF2B5EF4-FFF2-40B4-BE49-F238E27FC236}">
                <a16:creationId xmlns:a16="http://schemas.microsoft.com/office/drawing/2014/main" id="{7215ED0E-CFC6-91C4-8F7D-71E8DC638EC7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742" y="4609267"/>
            <a:ext cx="720000" cy="720000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326C24EE-0325-EB0B-CFD0-8ED11E8DF2B5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37" y="1548024"/>
            <a:ext cx="808688" cy="90000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EF2467B0-A7D4-A093-5C1C-9A515C2E9207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968" y="5329267"/>
            <a:ext cx="635943" cy="720000"/>
          </a:xfrm>
          <a:prstGeom prst="rect">
            <a:avLst/>
          </a:prstGeom>
        </p:spPr>
      </p:pic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1875127E-FDAA-3962-C11E-704085A4B43C}"/>
              </a:ext>
            </a:extLst>
          </p:cNvPr>
          <p:cNvCxnSpPr>
            <a:cxnSpLocks/>
          </p:cNvCxnSpPr>
          <p:nvPr/>
        </p:nvCxnSpPr>
        <p:spPr>
          <a:xfrm>
            <a:off x="4499574" y="4495955"/>
            <a:ext cx="0" cy="764992"/>
          </a:xfrm>
          <a:prstGeom prst="straightConnector1">
            <a:avLst/>
          </a:prstGeom>
          <a:ln w="38100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그림 57">
            <a:extLst>
              <a:ext uri="{FF2B5EF4-FFF2-40B4-BE49-F238E27FC236}">
                <a16:creationId xmlns:a16="http://schemas.microsoft.com/office/drawing/2014/main" id="{1C48433E-5ED8-2C46-FF1E-D72285DB2F27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4164" y="1470386"/>
            <a:ext cx="720000" cy="720000"/>
          </a:xfrm>
          <a:prstGeom prst="rect">
            <a:avLst/>
          </a:prstGeom>
        </p:spPr>
      </p:pic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851730C4-E835-2D56-C807-3EC368E986A4}"/>
              </a:ext>
            </a:extLst>
          </p:cNvPr>
          <p:cNvCxnSpPr>
            <a:cxnSpLocks/>
          </p:cNvCxnSpPr>
          <p:nvPr/>
        </p:nvCxnSpPr>
        <p:spPr>
          <a:xfrm flipV="1">
            <a:off x="4569133" y="2374073"/>
            <a:ext cx="0" cy="691792"/>
          </a:xfrm>
          <a:prstGeom prst="straightConnector1">
            <a:avLst/>
          </a:prstGeom>
          <a:ln w="38100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644FDD83-6AF8-B72B-F7F2-5100D3FA3161}"/>
              </a:ext>
            </a:extLst>
          </p:cNvPr>
          <p:cNvSpPr txBox="1"/>
          <p:nvPr/>
        </p:nvSpPr>
        <p:spPr>
          <a:xfrm>
            <a:off x="4038258" y="6092511"/>
            <a:ext cx="144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err="1"/>
              <a:t>Struts2</a:t>
            </a:r>
            <a:r>
              <a:rPr lang="ko-KR" altLang="en-US" sz="1400" b="1"/>
              <a:t> </a:t>
            </a:r>
            <a:r>
              <a:rPr lang="en-US" altLang="ko-KR" sz="1400" b="1"/>
              <a:t>Web</a:t>
            </a:r>
            <a:br>
              <a:rPr lang="en-US" altLang="ko-KR" sz="1400" b="1"/>
            </a:br>
            <a:r>
              <a:rPr lang="en-US" altLang="ko-KR" sz="1400" b="1"/>
              <a:t>Application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B9F975E-69DF-9959-6448-2F95ED395B27}"/>
              </a:ext>
            </a:extLst>
          </p:cNvPr>
          <p:cNvSpPr txBox="1"/>
          <p:nvPr/>
        </p:nvSpPr>
        <p:spPr>
          <a:xfrm>
            <a:off x="10212742" y="5296126"/>
            <a:ext cx="959486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/>
              <a:t>Chatbot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B901D7E-1B58-FD90-47B6-76000D4F3DB5}"/>
              </a:ext>
            </a:extLst>
          </p:cNvPr>
          <p:cNvSpPr txBox="1"/>
          <p:nvPr/>
        </p:nvSpPr>
        <p:spPr>
          <a:xfrm>
            <a:off x="5879249" y="3933552"/>
            <a:ext cx="1447800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/>
              <a:t>TeamCity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669A7F-8D57-A5B6-7BD8-35AE60BE5C2B}"/>
              </a:ext>
            </a:extLst>
          </p:cNvPr>
          <p:cNvSpPr txBox="1"/>
          <p:nvPr/>
        </p:nvSpPr>
        <p:spPr>
          <a:xfrm>
            <a:off x="4093965" y="3972735"/>
            <a:ext cx="144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/>
              <a:t>Spring Web</a:t>
            </a:r>
          </a:p>
          <a:p>
            <a:r>
              <a:rPr lang="en-US" altLang="ko-KR" sz="1400" b="1"/>
              <a:t>Application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6BCD50-F794-C46D-D3DC-C3DEB4F3B9C2}"/>
              </a:ext>
            </a:extLst>
          </p:cNvPr>
          <p:cNvSpPr txBox="1"/>
          <p:nvPr/>
        </p:nvSpPr>
        <p:spPr>
          <a:xfrm>
            <a:off x="8218488" y="3865738"/>
            <a:ext cx="645676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err="1"/>
              <a:t>Gitea</a:t>
            </a:r>
            <a:endParaRPr lang="en-US" altLang="ko-KR" sz="1400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351EAD-0BA2-3251-1D2C-A6D1DC0C06DA}"/>
              </a:ext>
            </a:extLst>
          </p:cNvPr>
          <p:cNvSpPr txBox="1"/>
          <p:nvPr/>
        </p:nvSpPr>
        <p:spPr>
          <a:xfrm>
            <a:off x="10239829" y="3146496"/>
            <a:ext cx="10285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/>
              <a:t>내부 </a:t>
            </a:r>
            <a:r>
              <a:rPr lang="en-US" altLang="ko-KR" sz="1400" b="1"/>
              <a:t>Desktop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FECA86F-797D-3AE0-B51C-874721671EF4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6549" y="2228148"/>
            <a:ext cx="892385" cy="892385"/>
          </a:xfrm>
          <a:prstGeom prst="rect">
            <a:avLst/>
          </a:prstGeom>
        </p:spPr>
      </p:pic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4AA49F05-60AF-434D-BE74-12C64F1A68A0}"/>
              </a:ext>
            </a:extLst>
          </p:cNvPr>
          <p:cNvCxnSpPr>
            <a:cxnSpLocks/>
          </p:cNvCxnSpPr>
          <p:nvPr/>
        </p:nvCxnSpPr>
        <p:spPr>
          <a:xfrm>
            <a:off x="4727809" y="4518333"/>
            <a:ext cx="5298841" cy="658001"/>
          </a:xfrm>
          <a:prstGeom prst="bentConnector3">
            <a:avLst>
              <a:gd name="adj1" fmla="val 148"/>
            </a:avLst>
          </a:prstGeom>
          <a:ln w="38100">
            <a:solidFill>
              <a:schemeClr val="accent4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18133FD0-A44D-60D7-C096-104060C95F18}"/>
              </a:ext>
            </a:extLst>
          </p:cNvPr>
          <p:cNvCxnSpPr>
            <a:cxnSpLocks/>
          </p:cNvCxnSpPr>
          <p:nvPr/>
        </p:nvCxnSpPr>
        <p:spPr>
          <a:xfrm flipV="1">
            <a:off x="8541326" y="2428331"/>
            <a:ext cx="0" cy="691792"/>
          </a:xfrm>
          <a:prstGeom prst="straightConnector1">
            <a:avLst/>
          </a:prstGeom>
          <a:ln w="38100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AE671E93-4C1E-4B65-074A-277A3C59D572}"/>
              </a:ext>
            </a:extLst>
          </p:cNvPr>
          <p:cNvSpPr txBox="1"/>
          <p:nvPr/>
        </p:nvSpPr>
        <p:spPr>
          <a:xfrm>
            <a:off x="8262434" y="2111338"/>
            <a:ext cx="645676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/>
              <a:t>NAS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F42CE59-6DB2-2393-FFB2-909498839C94}"/>
              </a:ext>
            </a:extLst>
          </p:cNvPr>
          <p:cNvSpPr txBox="1"/>
          <p:nvPr/>
        </p:nvSpPr>
        <p:spPr>
          <a:xfrm>
            <a:off x="3943850" y="1317097"/>
            <a:ext cx="2572457" cy="380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/>
              <a:t>내부 시스템 및 확장 경로</a:t>
            </a:r>
            <a:endParaRPr lang="ko-KR" altLang="en-US" sz="1400" b="1">
              <a:latin typeface="+mj-ea"/>
              <a:ea typeface="+mj-ea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1F6FC0C-A8E8-5127-33BC-2182B92DC25F}"/>
              </a:ext>
            </a:extLst>
          </p:cNvPr>
          <p:cNvSpPr txBox="1"/>
          <p:nvPr/>
        </p:nvSpPr>
        <p:spPr>
          <a:xfrm>
            <a:off x="400302" y="1266246"/>
            <a:ext cx="2572457" cy="380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/>
              <a:t>공개 시작점 </a:t>
            </a:r>
            <a:r>
              <a:rPr lang="en-US" altLang="ko-KR" sz="1400" b="1"/>
              <a:t>/ </a:t>
            </a:r>
            <a:r>
              <a:rPr lang="ko-KR" altLang="en-US" sz="1400" b="1"/>
              <a:t>외부 노출 자산 </a:t>
            </a:r>
            <a:endParaRPr lang="ko-KR" altLang="en-US" sz="1400" b="1">
              <a:latin typeface="+mj-ea"/>
              <a:ea typeface="+mj-ea"/>
            </a:endParaRP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24AF4477-2C6D-4A17-4048-FE6BB11D6B89}"/>
              </a:ext>
            </a:extLst>
          </p:cNvPr>
          <p:cNvCxnSpPr>
            <a:cxnSpLocks/>
          </p:cNvCxnSpPr>
          <p:nvPr/>
        </p:nvCxnSpPr>
        <p:spPr>
          <a:xfrm>
            <a:off x="3372757" y="3715662"/>
            <a:ext cx="6921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99686F61-D993-F566-E357-FB8AD09291D4}"/>
              </a:ext>
            </a:extLst>
          </p:cNvPr>
          <p:cNvCxnSpPr>
            <a:cxnSpLocks/>
          </p:cNvCxnSpPr>
          <p:nvPr/>
        </p:nvCxnSpPr>
        <p:spPr>
          <a:xfrm>
            <a:off x="5115888" y="3695680"/>
            <a:ext cx="692150" cy="0"/>
          </a:xfrm>
          <a:prstGeom prst="straightConnector1">
            <a:avLst/>
          </a:prstGeom>
          <a:ln w="38100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19F6E084-BD65-C573-10D3-14F99D80F31F}"/>
              </a:ext>
            </a:extLst>
          </p:cNvPr>
          <p:cNvGrpSpPr/>
          <p:nvPr/>
        </p:nvGrpSpPr>
        <p:grpSpPr>
          <a:xfrm>
            <a:off x="10510750" y="6001395"/>
            <a:ext cx="1134300" cy="531513"/>
            <a:chOff x="10629903" y="1253610"/>
            <a:chExt cx="1213478" cy="585088"/>
          </a:xfrm>
        </p:grpSpPr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B1F6F068-BD0C-A849-0206-029DDA8FF624}"/>
                </a:ext>
              </a:extLst>
            </p:cNvPr>
            <p:cNvCxnSpPr>
              <a:cxnSpLocks/>
            </p:cNvCxnSpPr>
            <p:nvPr/>
          </p:nvCxnSpPr>
          <p:spPr>
            <a:xfrm>
              <a:off x="10640342" y="1434113"/>
              <a:ext cx="360000" cy="108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34C08F61-4468-BF30-A2B3-B963831C8B43}"/>
                </a:ext>
              </a:extLst>
            </p:cNvPr>
            <p:cNvCxnSpPr>
              <a:cxnSpLocks/>
            </p:cNvCxnSpPr>
            <p:nvPr/>
          </p:nvCxnSpPr>
          <p:spPr>
            <a:xfrm>
              <a:off x="10629903" y="1737456"/>
              <a:ext cx="360000" cy="0"/>
            </a:xfrm>
            <a:prstGeom prst="straightConnector1">
              <a:avLst/>
            </a:prstGeom>
            <a:ln w="38100">
              <a:solidFill>
                <a:schemeClr val="accent4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F82D06A0-B8CF-0982-821E-F5C5EEF36239}"/>
                </a:ext>
              </a:extLst>
            </p:cNvPr>
            <p:cNvSpPr txBox="1"/>
            <p:nvPr/>
          </p:nvSpPr>
          <p:spPr>
            <a:xfrm>
              <a:off x="11036596" y="1545284"/>
              <a:ext cx="806785" cy="2934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/>
                <a:t>내부</a:t>
              </a:r>
              <a:endParaRPr lang="en-US" altLang="ko-KR" sz="1000" b="1">
                <a:latin typeface="+mj-ea"/>
                <a:ea typeface="+mj-ea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8DD9E99-B0C3-C259-5575-70EB2D91B704}"/>
                </a:ext>
              </a:extLst>
            </p:cNvPr>
            <p:cNvSpPr txBox="1"/>
            <p:nvPr/>
          </p:nvSpPr>
          <p:spPr>
            <a:xfrm>
              <a:off x="10980498" y="1253610"/>
              <a:ext cx="806785" cy="2980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/>
                <a:t> </a:t>
              </a:r>
              <a:r>
                <a:rPr lang="en-US" altLang="ko-KR" sz="1000" b="1"/>
                <a:t> </a:t>
              </a:r>
              <a:r>
                <a:rPr lang="ko-KR" altLang="en-US" sz="1000" b="1"/>
                <a:t>외부</a:t>
              </a:r>
              <a:endParaRPr lang="en-US" altLang="ko-KR" sz="1000" b="1">
                <a:latin typeface="+mj-ea"/>
                <a:ea typeface="+mj-ea"/>
              </a:endParaRPr>
            </a:p>
          </p:txBody>
        </p:sp>
      </p:grpSp>
      <p:sp>
        <p:nvSpPr>
          <p:cNvPr id="8" name="타원 7">
            <a:extLst>
              <a:ext uri="{FF2B5EF4-FFF2-40B4-BE49-F238E27FC236}">
                <a16:creationId xmlns:a16="http://schemas.microsoft.com/office/drawing/2014/main" id="{DD507B67-B2BD-9674-ABC9-AD1C2CA064BE}"/>
              </a:ext>
            </a:extLst>
          </p:cNvPr>
          <p:cNvSpPr/>
          <p:nvPr/>
        </p:nvSpPr>
        <p:spPr>
          <a:xfrm>
            <a:off x="3991624" y="2937120"/>
            <a:ext cx="315611" cy="30189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AB67672-2F42-4B58-C2C8-B98832BF1B42}"/>
              </a:ext>
            </a:extLst>
          </p:cNvPr>
          <p:cNvSpPr/>
          <p:nvPr/>
        </p:nvSpPr>
        <p:spPr>
          <a:xfrm>
            <a:off x="5274585" y="3207431"/>
            <a:ext cx="315611" cy="30189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99CAD018-AEC8-D03F-141C-9001438E77EC}"/>
              </a:ext>
            </a:extLst>
          </p:cNvPr>
          <p:cNvSpPr/>
          <p:nvPr/>
        </p:nvSpPr>
        <p:spPr>
          <a:xfrm>
            <a:off x="4006368" y="4956180"/>
            <a:ext cx="315611" cy="30189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3</a:t>
            </a:r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5EDB7B2D-81B5-F0FE-D477-144D2CA0C8B3}"/>
              </a:ext>
            </a:extLst>
          </p:cNvPr>
          <p:cNvSpPr/>
          <p:nvPr/>
        </p:nvSpPr>
        <p:spPr>
          <a:xfrm>
            <a:off x="4862864" y="4734131"/>
            <a:ext cx="315611" cy="30189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4</a:t>
            </a:r>
            <a:endParaRPr lang="ko-KR" altLang="en-US"/>
          </a:p>
        </p:txBody>
      </p:sp>
      <p:sp>
        <p:nvSpPr>
          <p:cNvPr id="19" name="제목 1">
            <a:extLst>
              <a:ext uri="{FF2B5EF4-FFF2-40B4-BE49-F238E27FC236}">
                <a16:creationId xmlns:a16="http://schemas.microsoft.com/office/drawing/2014/main" id="{2369EE7D-699F-0F9F-D618-419257D2656E}"/>
              </a:ext>
            </a:extLst>
          </p:cNvPr>
          <p:cNvSpPr txBox="1">
            <a:spLocks/>
          </p:cNvSpPr>
          <p:nvPr/>
        </p:nvSpPr>
        <p:spPr>
          <a:xfrm>
            <a:off x="7761438" y="150617"/>
            <a:ext cx="4210613" cy="8909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III.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 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cs typeface="ADLaM Display" panose="020F0502020204030204" pitchFamily="2" charset="0"/>
              </a:rPr>
              <a:t>공격 시나리오 및 검증 결과</a:t>
            </a:r>
            <a:endParaRPr lang="en-US" altLang="ko-KR" sz="2000" b="1">
              <a:solidFill>
                <a:schemeClr val="bg2">
                  <a:lumMod val="90000"/>
                </a:schemeClr>
              </a:solidFill>
              <a:latin typeface="맑은 고딕" panose="020B0503020000020004" pitchFamily="50" charset="-127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60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05074-BC09-8003-2C04-72613C2EB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5F802E8-3C85-FA81-515F-141246A69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8B7196-CCE7-0363-EB3D-48E6FCC45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fld id="{5E730BA1-3F6D-49E0-8F01-E02E0ED4523B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923EBFF4-5008-5681-3BA6-A6911D10C93F}"/>
              </a:ext>
            </a:extLst>
          </p:cNvPr>
          <p:cNvSpPr txBox="1">
            <a:spLocks/>
          </p:cNvSpPr>
          <p:nvPr/>
        </p:nvSpPr>
        <p:spPr>
          <a:xfrm>
            <a:off x="-121898" y="1197094"/>
            <a:ext cx="8320995" cy="4616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ko-KR" altLang="ko-KR" b="1" dirty="0"/>
              <a:t>서버 정보 노출로 인한</a:t>
            </a:r>
            <a:r>
              <a:rPr lang="en-US" altLang="ko-KR" b="1" dirty="0"/>
              <a:t> Spring4Shell </a:t>
            </a:r>
            <a:r>
              <a:rPr lang="ko-KR" altLang="ko-KR" b="1" dirty="0"/>
              <a:t>취약점 악용</a:t>
            </a:r>
            <a:r>
              <a:rPr lang="ko-KR" altLang="en-US" b="1" dirty="0"/>
              <a:t> 및 데이터 접근 </a:t>
            </a:r>
            <a:endParaRPr lang="ko-KR" altLang="ko-KR" b="1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FA882DD5-E4B6-FC1B-6A7F-2C81138CD51D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77DD01F-F1A5-993C-0875-6D682398C55A}"/>
              </a:ext>
            </a:extLst>
          </p:cNvPr>
          <p:cNvSpPr txBox="1"/>
          <p:nvPr/>
        </p:nvSpPr>
        <p:spPr>
          <a:xfrm>
            <a:off x="285750" y="366003"/>
            <a:ext cx="17780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/>
              <a:t>시나리오 </a:t>
            </a:r>
            <a:r>
              <a:rPr lang="en-US" altLang="ko-KR" sz="2400" b="1"/>
              <a:t>1</a:t>
            </a:r>
            <a:r>
              <a:rPr lang="ko-KR" altLang="en-US" sz="2400" b="1"/>
              <a:t>  </a:t>
            </a:r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3F3C4373-688E-EE2B-8B2D-9A7BB08918DD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791D1D-5DB3-5B55-8A54-BF4D01979EF4}"/>
              </a:ext>
            </a:extLst>
          </p:cNvPr>
          <p:cNvSpPr txBox="1"/>
          <p:nvPr/>
        </p:nvSpPr>
        <p:spPr>
          <a:xfrm>
            <a:off x="1790614" y="3629937"/>
            <a:ext cx="2160000" cy="2132187"/>
          </a:xfrm>
          <a:prstGeom prst="rect">
            <a:avLst/>
          </a:prstGeom>
          <a:solidFill>
            <a:srgbClr val="FFF2CC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latin typeface="+mj-ea"/>
                <a:ea typeface="+mj-ea"/>
              </a:rPr>
              <a:t>공개된 </a:t>
            </a:r>
            <a:r>
              <a:rPr lang="en-US" altLang="ko-KR" sz="1500" b="1">
                <a:latin typeface="+mj-ea"/>
                <a:ea typeface="+mj-ea"/>
              </a:rPr>
              <a:t>Spring </a:t>
            </a:r>
            <a:r>
              <a:rPr lang="ko-KR" altLang="en-US" sz="1500" b="1">
                <a:latin typeface="+mj-ea"/>
                <a:ea typeface="+mj-ea"/>
              </a:rPr>
              <a:t>서비스의 취약점을 악용하여 웹쉘</a:t>
            </a:r>
            <a:r>
              <a:rPr lang="en-US" altLang="ko-KR" sz="1500" b="1" dirty="0">
                <a:latin typeface="+mj-ea"/>
                <a:ea typeface="+mj-ea"/>
              </a:rPr>
              <a:t>(JSP) </a:t>
            </a:r>
            <a:r>
              <a:rPr lang="ko-KR" altLang="en-US" sz="1500" b="1" dirty="0">
                <a:latin typeface="+mj-ea"/>
                <a:ea typeface="+mj-ea"/>
              </a:rPr>
              <a:t>파일을 생성하고</a:t>
            </a:r>
            <a:r>
              <a:rPr lang="en-US" altLang="ko-KR" sz="1500" b="1" dirty="0">
                <a:latin typeface="+mj-ea"/>
                <a:ea typeface="+mj-ea"/>
              </a:rPr>
              <a:t>, </a:t>
            </a:r>
            <a:r>
              <a:rPr lang="ko-KR" altLang="en-US" sz="1500" b="1" dirty="0">
                <a:latin typeface="+mj-ea"/>
                <a:ea typeface="+mj-ea"/>
              </a:rPr>
              <a:t>원격 명령 실행이 가능한 상태를 확보</a:t>
            </a:r>
            <a:endParaRPr lang="en-US" altLang="ko-KR" sz="15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FA61D05-9BEF-7173-548E-2C5290E0173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06" y="2683567"/>
            <a:ext cx="1260000" cy="1259121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90D880F-853C-9808-9426-633DD8D27707}"/>
              </a:ext>
            </a:extLst>
          </p:cNvPr>
          <p:cNvCxnSpPr>
            <a:cxnSpLocks/>
          </p:cNvCxnSpPr>
          <p:nvPr/>
        </p:nvCxnSpPr>
        <p:spPr>
          <a:xfrm>
            <a:off x="1816046" y="3634917"/>
            <a:ext cx="2160000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C6563F5-2556-FF67-9B5F-5EE13C0A22A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180" y="2709143"/>
            <a:ext cx="1260000" cy="131954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FC1363F-A521-F05B-5DAD-CA5442DDF65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6375" y="2626417"/>
            <a:ext cx="1260000" cy="14022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34243B9-D559-4D3A-F20C-987BFB02133A}"/>
              </a:ext>
            </a:extLst>
          </p:cNvPr>
          <p:cNvSpPr txBox="1"/>
          <p:nvPr/>
        </p:nvSpPr>
        <p:spPr>
          <a:xfrm>
            <a:off x="9525893" y="3660903"/>
            <a:ext cx="2160000" cy="18235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latin typeface="+mj-ea"/>
                <a:ea typeface="+mj-ea"/>
              </a:rPr>
              <a:t>확보한 계정 정보를 기반으로 </a:t>
            </a:r>
            <a:r>
              <a:rPr lang="en-US" altLang="ko-KR" sz="1500" b="1" dirty="0">
                <a:latin typeface="+mj-ea"/>
                <a:ea typeface="+mj-ea"/>
              </a:rPr>
              <a:t>DB</a:t>
            </a:r>
            <a:r>
              <a:rPr lang="ko-KR" altLang="en-US" sz="1500" b="1" dirty="0">
                <a:latin typeface="+mj-ea"/>
                <a:ea typeface="+mj-ea"/>
              </a:rPr>
              <a:t>에 접근하여 고객 정보 조회 및 내부 침투 경로 확보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029DB659-E1AF-4004-8208-EDF08993E912}"/>
              </a:ext>
            </a:extLst>
          </p:cNvPr>
          <p:cNvCxnSpPr>
            <a:cxnSpLocks/>
          </p:cNvCxnSpPr>
          <p:nvPr/>
        </p:nvCxnSpPr>
        <p:spPr>
          <a:xfrm>
            <a:off x="9525895" y="3629937"/>
            <a:ext cx="2160000" cy="0"/>
          </a:xfrm>
          <a:prstGeom prst="straightConnector1">
            <a:avLst/>
          </a:prstGeom>
          <a:ln w="63500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C4FBBEB-7675-6E65-E0A3-227C4926FB1B}"/>
              </a:ext>
            </a:extLst>
          </p:cNvPr>
          <p:cNvSpPr txBox="1"/>
          <p:nvPr/>
        </p:nvSpPr>
        <p:spPr>
          <a:xfrm>
            <a:off x="5424688" y="3655652"/>
            <a:ext cx="2448000" cy="21251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latin typeface="+mj-ea"/>
                <a:ea typeface="+mj-ea"/>
              </a:rPr>
              <a:t>외부 노출 </a:t>
            </a:r>
            <a:r>
              <a:rPr lang="en-US" altLang="ko-KR" sz="1500" b="1" dirty="0">
                <a:latin typeface="+mj-ea"/>
                <a:ea typeface="+mj-ea"/>
              </a:rPr>
              <a:t>Spring </a:t>
            </a:r>
            <a:r>
              <a:rPr lang="ko-KR" altLang="en-US" sz="1500" b="1" dirty="0">
                <a:latin typeface="+mj-ea"/>
                <a:ea typeface="+mj-ea"/>
              </a:rPr>
              <a:t>서비스에서 원격 코드 실행을 수행하여 </a:t>
            </a:r>
            <a:r>
              <a:rPr lang="ko-KR" altLang="en-US" sz="1500" b="1" dirty="0" err="1">
                <a:latin typeface="+mj-ea"/>
                <a:ea typeface="+mj-ea"/>
              </a:rPr>
              <a:t>웹서버</a:t>
            </a:r>
            <a:r>
              <a:rPr lang="ko-KR" altLang="en-US" sz="1500" b="1" dirty="0">
                <a:latin typeface="+mj-ea"/>
                <a:ea typeface="+mj-ea"/>
              </a:rPr>
              <a:t> 권한을 확보하고</a:t>
            </a:r>
            <a:r>
              <a:rPr lang="en-US" altLang="ko-KR" sz="1500" b="1">
                <a:latin typeface="+mj-ea"/>
                <a:ea typeface="+mj-ea"/>
              </a:rPr>
              <a:t>, </a:t>
            </a:r>
            <a:r>
              <a:rPr lang="ko-KR" altLang="en-US" sz="1500" b="1">
                <a:latin typeface="+mj-ea"/>
                <a:ea typeface="+mj-ea"/>
              </a:rPr>
              <a:t>내부 </a:t>
            </a:r>
            <a:r>
              <a:rPr lang="ko-KR" altLang="en-US" sz="1500" b="1" dirty="0">
                <a:latin typeface="+mj-ea"/>
                <a:ea typeface="+mj-ea"/>
              </a:rPr>
              <a:t>설정 파일에 </a:t>
            </a:r>
            <a:r>
              <a:rPr lang="ko-KR" altLang="en-US" sz="1500" b="1">
                <a:latin typeface="+mj-ea"/>
                <a:ea typeface="+mj-ea"/>
              </a:rPr>
              <a:t>접근하여 </a:t>
            </a:r>
            <a:br>
              <a:rPr lang="en-US" altLang="ko-KR" sz="1500" b="1">
                <a:latin typeface="+mj-ea"/>
                <a:ea typeface="+mj-ea"/>
              </a:rPr>
            </a:br>
            <a:r>
              <a:rPr lang="en-US" altLang="ko-KR" sz="1500" b="1">
                <a:latin typeface="+mj-ea"/>
                <a:ea typeface="+mj-ea"/>
              </a:rPr>
              <a:t>DB </a:t>
            </a:r>
            <a:r>
              <a:rPr lang="ko-KR" altLang="en-US" sz="1500" b="1" dirty="0">
                <a:latin typeface="+mj-ea"/>
                <a:ea typeface="+mj-ea"/>
              </a:rPr>
              <a:t>계정 정보를 확보</a:t>
            </a:r>
            <a:r>
              <a:rPr lang="en-US" altLang="ko-KR" sz="1500" b="1" dirty="0">
                <a:latin typeface="+mj-ea"/>
                <a:ea typeface="+mj-ea"/>
              </a:rPr>
              <a:t> 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51CCF7A-8BE1-8669-7820-6682380E6B61}"/>
              </a:ext>
            </a:extLst>
          </p:cNvPr>
          <p:cNvCxnSpPr>
            <a:cxnSpLocks/>
          </p:cNvCxnSpPr>
          <p:nvPr/>
        </p:nvCxnSpPr>
        <p:spPr>
          <a:xfrm>
            <a:off x="5449195" y="3629937"/>
            <a:ext cx="2520000" cy="0"/>
          </a:xfrm>
          <a:prstGeom prst="straightConnector1">
            <a:avLst/>
          </a:prstGeom>
          <a:ln w="63500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4108BB0-F44C-9974-A4F3-BA4A498A4E43}"/>
              </a:ext>
            </a:extLst>
          </p:cNvPr>
          <p:cNvSpPr txBox="1"/>
          <p:nvPr/>
        </p:nvSpPr>
        <p:spPr>
          <a:xfrm>
            <a:off x="5397293" y="3145589"/>
            <a:ext cx="2655347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>
                <a:latin typeface="+mj-ea"/>
                <a:ea typeface="+mj-ea"/>
              </a:rPr>
              <a:t>데이터 유출 및 서버 권한 확보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26E809-333E-33EF-A958-637430B108D7}"/>
              </a:ext>
            </a:extLst>
          </p:cNvPr>
          <p:cNvSpPr txBox="1"/>
          <p:nvPr/>
        </p:nvSpPr>
        <p:spPr>
          <a:xfrm>
            <a:off x="1738250" y="3153956"/>
            <a:ext cx="2196322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+mj-ea"/>
                <a:ea typeface="+mj-ea"/>
              </a:rPr>
              <a:t>[1] CVE-2022-22965</a:t>
            </a:r>
            <a:endParaRPr lang="ko-KR" altLang="en-US" sz="1600" b="1" dirty="0">
              <a:latin typeface="+mj-ea"/>
              <a:ea typeface="+mj-ea"/>
            </a:endParaRPr>
          </a:p>
        </p:txBody>
      </p:sp>
      <p:sp>
        <p:nvSpPr>
          <p:cNvPr id="31" name="제목 1">
            <a:extLst>
              <a:ext uri="{FF2B5EF4-FFF2-40B4-BE49-F238E27FC236}">
                <a16:creationId xmlns:a16="http://schemas.microsoft.com/office/drawing/2014/main" id="{3A742E21-2A3F-CC24-DF17-AA91DAF58D1C}"/>
              </a:ext>
            </a:extLst>
          </p:cNvPr>
          <p:cNvSpPr txBox="1">
            <a:spLocks/>
          </p:cNvSpPr>
          <p:nvPr/>
        </p:nvSpPr>
        <p:spPr>
          <a:xfrm>
            <a:off x="7761438" y="150617"/>
            <a:ext cx="4210613" cy="8909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III.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 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cs typeface="ADLaM Display" panose="020F0502020204030204" pitchFamily="2" charset="0"/>
              </a:rPr>
              <a:t>공격 시나리오 및 검증 결과</a:t>
            </a:r>
            <a:endParaRPr lang="en-US" altLang="ko-KR" sz="2000" b="1">
              <a:solidFill>
                <a:schemeClr val="bg2">
                  <a:lumMod val="90000"/>
                </a:schemeClr>
              </a:solidFill>
              <a:latin typeface="맑은 고딕" panose="020B0503020000020004" pitchFamily="50" charset="-127"/>
              <a:cs typeface="ADLaM Display" panose="020F0502020204030204" pitchFamily="2" charset="0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F561392-13E3-CD52-7AE8-31F7A6FC309E}"/>
              </a:ext>
            </a:extLst>
          </p:cNvPr>
          <p:cNvSpPr/>
          <p:nvPr/>
        </p:nvSpPr>
        <p:spPr>
          <a:xfrm flipV="1">
            <a:off x="426720" y="1808896"/>
            <a:ext cx="11148536" cy="4197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943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5AF76-AB43-59D7-2265-980E0C6DF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FC6A739-324F-290D-2C01-E61462669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135C45-DEE1-F9E6-059E-C8453171A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fld id="{5E730BA1-3F6D-49E0-8F01-E02E0ED4523B}" type="slidenum">
              <a:rPr lang="ko-KR" altLang="en-US" smtClean="0"/>
              <a:t>10</a:t>
            </a:fld>
            <a:endParaRPr lang="ko-KR" altLang="en-US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D77965C-497E-16A8-C5A8-B86EA5B38DF1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2150427-355D-97C5-2337-4089F32AE935}"/>
              </a:ext>
            </a:extLst>
          </p:cNvPr>
          <p:cNvSpPr txBox="1"/>
          <p:nvPr/>
        </p:nvSpPr>
        <p:spPr>
          <a:xfrm>
            <a:off x="285750" y="366003"/>
            <a:ext cx="3172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/>
              <a:t>시나리오 </a:t>
            </a:r>
            <a:r>
              <a:rPr lang="en-US" altLang="ko-KR" sz="2400" b="1"/>
              <a:t>1 - </a:t>
            </a:r>
            <a:r>
              <a:rPr lang="ko-KR" altLang="en-US" sz="2400" b="1"/>
              <a:t>정보 수집</a:t>
            </a:r>
            <a:endParaRPr lang="ko-KR" altLang="en-US" sz="2400" b="1" dirty="0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CB984451-DCC1-1324-7507-114DF10A269A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 dirty="0"/>
          </a:p>
        </p:txBody>
      </p:sp>
      <p:sp>
        <p:nvSpPr>
          <p:cNvPr id="39" name="Shape 5"/>
          <p:cNvSpPr/>
          <p:nvPr/>
        </p:nvSpPr>
        <p:spPr>
          <a:xfrm flipV="1">
            <a:off x="426720" y="1808896"/>
            <a:ext cx="11148536" cy="4197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제목 1">
            <a:extLst>
              <a:ext uri="{FF2B5EF4-FFF2-40B4-BE49-F238E27FC236}">
                <a16:creationId xmlns:a16="http://schemas.microsoft.com/office/drawing/2014/main" id="{923EBFF4-5008-5681-3BA6-A6911D10C93F}"/>
              </a:ext>
            </a:extLst>
          </p:cNvPr>
          <p:cNvSpPr txBox="1">
            <a:spLocks/>
          </p:cNvSpPr>
          <p:nvPr/>
        </p:nvSpPr>
        <p:spPr>
          <a:xfrm>
            <a:off x="438149" y="1197094"/>
            <a:ext cx="11137107" cy="4616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eaLnBrk="0" fontAlgn="base" latinLnBrk="0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u"/>
            </a:pPr>
            <a:r>
              <a:rPr lang="ko-KR" altLang="ko-KR" sz="1800" b="1">
                <a:latin typeface="Arial" panose="020B0604020202020204" pitchFamily="34" charset="0"/>
              </a:rPr>
              <a:t>외부에 노출된 Spring 웹서비스에서 CVE-2022-22965(Spring4Shell) 영향 가능 버전을 확인 </a:t>
            </a:r>
            <a:r>
              <a:rPr lang="en-US" altLang="ko-KR" sz="1800" b="1">
                <a:latin typeface="Arial" panose="020B0604020202020204" pitchFamily="34" charset="0"/>
              </a:rPr>
              <a:t> </a:t>
            </a:r>
            <a:endParaRPr lang="ko-KR" altLang="ko-KR" sz="1800" b="1" dirty="0">
              <a:latin typeface="Arial" panose="020B0604020202020204" pitchFamily="34" charset="0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E8AE4C53-DD94-35D3-5CCD-482C5B974F95}"/>
              </a:ext>
            </a:extLst>
          </p:cNvPr>
          <p:cNvSpPr txBox="1">
            <a:spLocks/>
          </p:cNvSpPr>
          <p:nvPr/>
        </p:nvSpPr>
        <p:spPr>
          <a:xfrm>
            <a:off x="7761438" y="150617"/>
            <a:ext cx="4210613" cy="8909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III.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 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cs typeface="ADLaM Display" panose="020F0502020204030204" pitchFamily="2" charset="0"/>
              </a:rPr>
              <a:t>공격 시나리오 및 검증 결과</a:t>
            </a:r>
            <a:endParaRPr lang="en-US" altLang="ko-KR" sz="2000" b="1">
              <a:solidFill>
                <a:schemeClr val="bg2">
                  <a:lumMod val="90000"/>
                </a:schemeClr>
              </a:solidFill>
              <a:latin typeface="맑은 고딕" panose="020B0503020000020004" pitchFamily="50" charset="-127"/>
              <a:cs typeface="ADLaM Display" panose="020F0502020204030204" pitchFamily="2" charset="0"/>
            </a:endParaRPr>
          </a:p>
        </p:txBody>
      </p:sp>
      <p:sp>
        <p:nvSpPr>
          <p:cNvPr id="42" name="Text 8"/>
          <p:cNvSpPr/>
          <p:nvPr/>
        </p:nvSpPr>
        <p:spPr>
          <a:xfrm>
            <a:off x="574151" y="5334127"/>
            <a:ext cx="3512838" cy="344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JSESSIONID </a:t>
            </a:r>
            <a:r>
              <a:rPr lang="en-US" sz="120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쿠키</a:t>
            </a:r>
            <a:r>
              <a:rPr 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r>
              <a:rPr 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Java 기반 서버 추정</a:t>
            </a:r>
            <a:endParaRPr lang="en-US" sz="1200" b="1" dirty="0"/>
          </a:p>
        </p:txBody>
      </p:sp>
      <p:sp>
        <p:nvSpPr>
          <p:cNvPr id="44" name="Text 10"/>
          <p:cNvSpPr/>
          <p:nvPr/>
        </p:nvSpPr>
        <p:spPr>
          <a:xfrm>
            <a:off x="8604252" y="5334127"/>
            <a:ext cx="2812396" cy="344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500 에러 → Whitelabel Error Page </a:t>
            </a:r>
          </a:p>
          <a:p>
            <a:pPr marL="0" indent="0" algn="ctr">
              <a:buNone/>
            </a:pPr>
            <a:r>
              <a:rPr 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(Spring Boot 확인)</a:t>
            </a:r>
            <a:endParaRPr lang="en-US" sz="1200" b="1" dirty="0"/>
          </a:p>
        </p:txBody>
      </p:sp>
      <p:sp>
        <p:nvSpPr>
          <p:cNvPr id="43" name="Text 9"/>
          <p:cNvSpPr/>
          <p:nvPr/>
        </p:nvSpPr>
        <p:spPr>
          <a:xfrm>
            <a:off x="4491098" y="5334127"/>
            <a:ext cx="3433234" cy="344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404 에러 → Apache Tomcat/9.0.60 버전 노출</a:t>
            </a:r>
            <a:endParaRPr lang="en-US" sz="1200" b="1" dirty="0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3050" y="2586674"/>
            <a:ext cx="3214800" cy="2519999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71" y="2586673"/>
            <a:ext cx="3214398" cy="2519999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0315" y="2586674"/>
            <a:ext cx="3214800" cy="2519999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586080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0221C-0FA1-AD95-DCE2-FBCE78636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0810597-E647-2E58-405E-82134C907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E9862C-6C8E-32F6-3EF0-08DB95629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fld id="{5E730BA1-3F6D-49E0-8F01-E02E0ED4523B}" type="slidenum">
              <a:rPr lang="ko-KR" altLang="en-US" smtClean="0"/>
              <a:t>11</a:t>
            </a:fld>
            <a:endParaRPr lang="ko-KR" altLang="en-US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F2B302A-08F0-A635-7872-95964F5735B9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AA4E2C8-C09A-BDAD-E3A2-3E8E9AFC6E0E}"/>
              </a:ext>
            </a:extLst>
          </p:cNvPr>
          <p:cNvSpPr txBox="1"/>
          <p:nvPr/>
        </p:nvSpPr>
        <p:spPr>
          <a:xfrm>
            <a:off x="285750" y="366003"/>
            <a:ext cx="3241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시나리오 </a:t>
            </a:r>
            <a:r>
              <a:rPr lang="en-US" altLang="ko-KR" sz="2400" b="1" dirty="0"/>
              <a:t>1  - </a:t>
            </a:r>
            <a:r>
              <a:rPr lang="ko-KR" altLang="en-US" sz="2400" b="1" dirty="0"/>
              <a:t>공격 과정</a:t>
            </a:r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7B6F4021-5E9B-2257-85E1-AD9F43EDDA46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 dirty="0"/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C818B0AB-FE71-FC68-3BC1-3A7E5BE42669}"/>
              </a:ext>
            </a:extLst>
          </p:cNvPr>
          <p:cNvSpPr/>
          <p:nvPr/>
        </p:nvSpPr>
        <p:spPr>
          <a:xfrm flipV="1">
            <a:off x="426720" y="1808896"/>
            <a:ext cx="11148536" cy="4197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제목 1">
            <a:extLst>
              <a:ext uri="{FF2B5EF4-FFF2-40B4-BE49-F238E27FC236}">
                <a16:creationId xmlns:a16="http://schemas.microsoft.com/office/drawing/2014/main" id="{12B33EE9-F37D-C78B-8638-D1A9EE35DDDB}"/>
              </a:ext>
            </a:extLst>
          </p:cNvPr>
          <p:cNvSpPr txBox="1">
            <a:spLocks/>
          </p:cNvSpPr>
          <p:nvPr/>
        </p:nvSpPr>
        <p:spPr>
          <a:xfrm>
            <a:off x="438149" y="1197094"/>
            <a:ext cx="11137107" cy="4616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eaLnBrk="0" fontAlgn="base" latinLnBrk="0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u"/>
            </a:pPr>
            <a:r>
              <a:rPr lang="ko-KR" altLang="en-US" sz="1800" b="1">
                <a:latin typeface="+mj-ea"/>
              </a:rPr>
              <a:t>웹쉘 획득 후 설정 파일 내 </a:t>
            </a:r>
            <a:r>
              <a:rPr lang="en-US" altLang="ko-KR" sz="1800" b="1">
                <a:latin typeface="+mj-ea"/>
              </a:rPr>
              <a:t>DB </a:t>
            </a:r>
            <a:r>
              <a:rPr lang="ko-KR" altLang="en-US" sz="1800" b="1">
                <a:latin typeface="+mj-ea"/>
              </a:rPr>
              <a:t>계정 정보 확인</a:t>
            </a:r>
            <a:endParaRPr lang="ko-KR" altLang="ko-KR" sz="1800" b="1" dirty="0">
              <a:latin typeface="+mj-ea"/>
            </a:endParaRPr>
          </a:p>
        </p:txBody>
      </p:sp>
      <p:sp>
        <p:nvSpPr>
          <p:cNvPr id="34" name="제목 1">
            <a:extLst>
              <a:ext uri="{FF2B5EF4-FFF2-40B4-BE49-F238E27FC236}">
                <a16:creationId xmlns:a16="http://schemas.microsoft.com/office/drawing/2014/main" id="{7FCF0C14-45C7-7E47-42DE-33C352F1795F}"/>
              </a:ext>
            </a:extLst>
          </p:cNvPr>
          <p:cNvSpPr txBox="1">
            <a:spLocks/>
          </p:cNvSpPr>
          <p:nvPr/>
        </p:nvSpPr>
        <p:spPr>
          <a:xfrm>
            <a:off x="7761438" y="150617"/>
            <a:ext cx="4210613" cy="8909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III.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 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cs typeface="ADLaM Display" panose="020F0502020204030204" pitchFamily="2" charset="0"/>
              </a:rPr>
              <a:t>공격 시나리오 및 검증 결과</a:t>
            </a:r>
            <a:endParaRPr lang="en-US" altLang="ko-KR" sz="2000" b="1">
              <a:solidFill>
                <a:schemeClr val="bg2">
                  <a:lumMod val="90000"/>
                </a:schemeClr>
              </a:solidFill>
              <a:latin typeface="맑은 고딕" panose="020B0503020000020004" pitchFamily="50" charset="-127"/>
              <a:cs typeface="ADLaM Display" panose="020F0502020204030204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F0BFDA-5598-7C70-D326-47F799D646E0}"/>
              </a:ext>
            </a:extLst>
          </p:cNvPr>
          <p:cNvSpPr txBox="1"/>
          <p:nvPr/>
        </p:nvSpPr>
        <p:spPr>
          <a:xfrm>
            <a:off x="1940641" y="5667431"/>
            <a:ext cx="28119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u="sng">
                <a:hlinkClick r:id="rId2" tooltip="https://github.com/Leovalcante/spring4shell/tree/9c55e052c008d03999ac9d508aa8ea09758b8a06"/>
              </a:rPr>
              <a:t>참조 </a:t>
            </a:r>
            <a:r>
              <a:rPr lang="en-US" altLang="ko-KR" sz="1000" u="sng">
                <a:hlinkClick r:id="rId2" tooltip="https://github.com/Leovalcante/spring4shell/tree/9c55e052c008d03999ac9d508aa8ea09758b8a06"/>
              </a:rPr>
              <a:t>https://github.com/Leovalcante/spring4shell</a:t>
            </a:r>
            <a:endParaRPr lang="ko-KR" altLang="en-US" sz="100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36D66415-887B-382C-86D5-3E8E72F2ED39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03" b="3888"/>
          <a:stretch>
            <a:fillRect/>
          </a:stretch>
        </p:blipFill>
        <p:spPr>
          <a:xfrm>
            <a:off x="6209349" y="2399218"/>
            <a:ext cx="5400000" cy="2808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9F6A19E7-0904-EC4D-F8E9-E4ECE2C61E3F}"/>
              </a:ext>
            </a:extLst>
          </p:cNvPr>
          <p:cNvSpPr/>
          <p:nvPr/>
        </p:nvSpPr>
        <p:spPr>
          <a:xfrm>
            <a:off x="6209349" y="3991896"/>
            <a:ext cx="5400000" cy="8103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C4E0718D-8050-AEC6-4F0C-B6AB49DFC8AF}"/>
              </a:ext>
            </a:extLst>
          </p:cNvPr>
          <p:cNvSpPr/>
          <p:nvPr/>
        </p:nvSpPr>
        <p:spPr>
          <a:xfrm>
            <a:off x="1813153" y="5527473"/>
            <a:ext cx="2880000" cy="139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Spring4Shell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성공 </a:t>
            </a:r>
            <a:r>
              <a:rPr lang="en-US" altLang="ko-KR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&amp; 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쉘 획득 완료</a:t>
            </a:r>
            <a:endParaRPr lang="en-US" altLang="ko-KR" sz="1200" b="1" dirty="0"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49" name="Text 9">
            <a:extLst>
              <a:ext uri="{FF2B5EF4-FFF2-40B4-BE49-F238E27FC236}">
                <a16:creationId xmlns:a16="http://schemas.microsoft.com/office/drawing/2014/main" id="{D37B475C-A397-603A-D3C1-737F8B70D5A8}"/>
              </a:ext>
            </a:extLst>
          </p:cNvPr>
          <p:cNvSpPr/>
          <p:nvPr/>
        </p:nvSpPr>
        <p:spPr>
          <a:xfrm>
            <a:off x="8147998" y="5483680"/>
            <a:ext cx="1522702" cy="178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r>
              <a:rPr lang="en-US" altLang="ko-KR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정보 획득</a:t>
            </a:r>
            <a:endParaRPr lang="en-US" altLang="ko-KR" sz="1200" b="1" dirty="0"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ECFBEE89-63F3-1450-FF00-282BD990396D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82651" y="2399218"/>
            <a:ext cx="5400000" cy="2808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124639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5EEE0-E8C9-B56D-9393-9AE53DDE4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1A4BCED-2C54-EFFE-6446-301F8528C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r>
              <a:rPr lang="en-US" altLang="ko-KR" dirty="0"/>
              <a:t>© 2026 Team ONE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8FF4E-1281-9ACF-D599-EF6FDCC2D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fld id="{5E730BA1-3F6D-49E0-8F01-E02E0ED4523B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48DA6D9E-1794-1877-B045-8323FB3E5CC3}"/>
              </a:ext>
            </a:extLst>
          </p:cNvPr>
          <p:cNvSpPr txBox="1">
            <a:spLocks/>
          </p:cNvSpPr>
          <p:nvPr/>
        </p:nvSpPr>
        <p:spPr>
          <a:xfrm>
            <a:off x="73152" y="1266247"/>
            <a:ext cx="10166677" cy="5915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/>
              <a:t>별첨</a:t>
            </a:r>
            <a:r>
              <a:rPr lang="en-US" altLang="ko-KR" b="1"/>
              <a:t>. DB </a:t>
            </a:r>
            <a:r>
              <a:rPr lang="ko-KR" altLang="en-US" b="1"/>
              <a:t>내 고객 데이터 </a:t>
            </a:r>
            <a:r>
              <a:rPr lang="en-US" altLang="ko-KR" b="1"/>
              <a:t>(30</a:t>
            </a:r>
            <a:r>
              <a:rPr lang="ko-KR" altLang="en-US" b="1"/>
              <a:t>개</a:t>
            </a:r>
            <a:r>
              <a:rPr lang="en-US" altLang="ko-KR" b="1"/>
              <a:t>)</a:t>
            </a:r>
            <a:endParaRPr lang="ko-KR" altLang="ko-KR" b="1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9F6ABE7-EA64-AE1B-56B2-EE1FDE2918E7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6164922-6A34-37DD-C044-F9E9FA1FAD82}"/>
              </a:ext>
            </a:extLst>
          </p:cNvPr>
          <p:cNvSpPr txBox="1"/>
          <p:nvPr/>
        </p:nvSpPr>
        <p:spPr>
          <a:xfrm>
            <a:off x="285750" y="366003"/>
            <a:ext cx="2557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/>
              <a:t>시나리오 </a:t>
            </a:r>
            <a:r>
              <a:rPr lang="en-US" altLang="ko-KR" sz="2400" b="1"/>
              <a:t>1</a:t>
            </a:r>
            <a:r>
              <a:rPr lang="ko-KR" altLang="en-US" sz="2400" b="1"/>
              <a:t> </a:t>
            </a:r>
            <a:r>
              <a:rPr lang="en-US" altLang="ko-KR" sz="2400" b="1"/>
              <a:t>- </a:t>
            </a:r>
            <a:r>
              <a:rPr lang="ko-KR" altLang="en-US" sz="2400" b="1"/>
              <a:t>결과 </a:t>
            </a:r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07CFCAFE-6B7B-845C-FB47-52B6ADB4F249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38A3BBB5-8A62-FF24-2DC8-CD1E96E200B4}"/>
              </a:ext>
            </a:extLst>
          </p:cNvPr>
          <p:cNvSpPr/>
          <p:nvPr/>
        </p:nvSpPr>
        <p:spPr>
          <a:xfrm>
            <a:off x="4524950" y="6021524"/>
            <a:ext cx="3142100" cy="344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확인한 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</a:t>
            </a:r>
            <a:endParaRPr lang="en-US" altLang="ko-KR" sz="1200" b="1" dirty="0"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9EE9384D-1233-D817-31E9-2306033CDF7C}"/>
              </a:ext>
            </a:extLst>
          </p:cNvPr>
          <p:cNvSpPr txBox="1">
            <a:spLocks/>
          </p:cNvSpPr>
          <p:nvPr/>
        </p:nvSpPr>
        <p:spPr>
          <a:xfrm>
            <a:off x="7761438" y="150617"/>
            <a:ext cx="4210613" cy="8909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III.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 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cs typeface="ADLaM Display" panose="020F0502020204030204" pitchFamily="2" charset="0"/>
              </a:rPr>
              <a:t>공격 시나리오 및 검증 결과</a:t>
            </a:r>
            <a:endParaRPr lang="en-US" altLang="ko-KR" sz="2000" b="1">
              <a:solidFill>
                <a:schemeClr val="bg2">
                  <a:lumMod val="90000"/>
                </a:schemeClr>
              </a:solidFill>
              <a:latin typeface="맑은 고딕" panose="020B0503020000020004" pitchFamily="50" charset="-127"/>
              <a:cs typeface="ADLaM Display" panose="020F0502020204030204" pitchFamily="2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0763FE6-EBA2-6F53-6F88-0E9CC3C154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6" t="4108" r="839" b="3728"/>
          <a:stretch>
            <a:fillRect/>
          </a:stretch>
        </p:blipFill>
        <p:spPr>
          <a:xfrm>
            <a:off x="594235" y="2154876"/>
            <a:ext cx="10824936" cy="339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110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E2FF0-B976-8862-6B11-89AF34CCD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0F4F44F-A16C-C789-8D05-BC9EB685E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r>
              <a:rPr lang="en-US" altLang="ko-KR" dirty="0"/>
              <a:t>© 2026 Team ONE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CD0CA0-E3C7-328E-EB61-3334693D5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fld id="{5E730BA1-3F6D-49E0-8F01-E02E0ED4523B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143BF4F9-39E4-E744-83E5-C2A71F03BA4D}"/>
              </a:ext>
            </a:extLst>
          </p:cNvPr>
          <p:cNvSpPr txBox="1">
            <a:spLocks/>
          </p:cNvSpPr>
          <p:nvPr/>
        </p:nvSpPr>
        <p:spPr>
          <a:xfrm>
            <a:off x="73152" y="1266247"/>
            <a:ext cx="10166677" cy="5915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dirty="0"/>
              <a:t>별첨</a:t>
            </a:r>
            <a:r>
              <a:rPr lang="en-US" altLang="ko-KR" b="1"/>
              <a:t>. </a:t>
            </a:r>
            <a:r>
              <a:rPr lang="ko-KR" altLang="en-US" b="1"/>
              <a:t>내부 스캔 결과</a:t>
            </a:r>
            <a:endParaRPr lang="ko-KR" altLang="ko-KR" b="1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25B0849-C037-BB88-2EF9-3B9B7929ACD0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4D3A3F7-4EEB-74C9-B968-5D688A85DAF1}"/>
              </a:ext>
            </a:extLst>
          </p:cNvPr>
          <p:cNvSpPr txBox="1"/>
          <p:nvPr/>
        </p:nvSpPr>
        <p:spPr>
          <a:xfrm>
            <a:off x="285750" y="366003"/>
            <a:ext cx="2557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/>
              <a:t>시나리오 </a:t>
            </a:r>
            <a:r>
              <a:rPr lang="en-US" altLang="ko-KR" sz="2400" b="1"/>
              <a:t>1</a:t>
            </a:r>
            <a:r>
              <a:rPr lang="ko-KR" altLang="en-US" sz="2400" b="1"/>
              <a:t> </a:t>
            </a:r>
            <a:r>
              <a:rPr lang="en-US" altLang="ko-KR" sz="2400" b="1"/>
              <a:t>- </a:t>
            </a:r>
            <a:r>
              <a:rPr lang="ko-KR" altLang="en-US" sz="2400" b="1"/>
              <a:t>결과 </a:t>
            </a:r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97F9B9A6-2B0D-0D81-697C-B946AE28DD86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83C547FB-6128-F69E-1137-5F5F820EB8A5}"/>
              </a:ext>
            </a:extLst>
          </p:cNvPr>
          <p:cNvSpPr/>
          <p:nvPr/>
        </p:nvSpPr>
        <p:spPr>
          <a:xfrm>
            <a:off x="4524950" y="6021524"/>
            <a:ext cx="3142100" cy="344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</a:t>
            </a:r>
            <a:r>
              <a:rPr lang="en-US" altLang="ko-KR" sz="1200" b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00" b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결과</a:t>
            </a:r>
            <a:endParaRPr lang="en-US" altLang="ko-KR" sz="1200" b="1" dirty="0"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DDEE6F87-19CC-518C-DD2F-0158137399FC}"/>
              </a:ext>
            </a:extLst>
          </p:cNvPr>
          <p:cNvSpPr txBox="1">
            <a:spLocks/>
          </p:cNvSpPr>
          <p:nvPr/>
        </p:nvSpPr>
        <p:spPr>
          <a:xfrm>
            <a:off x="7761438" y="150617"/>
            <a:ext cx="4210613" cy="8909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III.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 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cs typeface="ADLaM Display" panose="020F0502020204030204" pitchFamily="2" charset="0"/>
              </a:rPr>
              <a:t>공격 시나리오 및 검증 결과</a:t>
            </a:r>
            <a:endParaRPr lang="en-US" altLang="ko-KR" sz="2000" b="1">
              <a:solidFill>
                <a:schemeClr val="bg2">
                  <a:lumMod val="90000"/>
                </a:schemeClr>
              </a:solidFill>
              <a:latin typeface="맑은 고딕" panose="020B0503020000020004" pitchFamily="50" charset="-127"/>
              <a:cs typeface="ADLaM Display" panose="020F0502020204030204" pitchFamily="2" charset="0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856628"/>
              </p:ext>
            </p:extLst>
          </p:nvPr>
        </p:nvGraphicFramePr>
        <p:xfrm>
          <a:off x="3522142" y="2214880"/>
          <a:ext cx="5236616" cy="3440477"/>
        </p:xfrm>
        <a:graphic>
          <a:graphicData uri="http://schemas.openxmlformats.org/drawingml/2006/table">
            <a:tbl>
              <a:tblPr/>
              <a:tblGrid>
                <a:gridCol w="510015">
                  <a:extLst>
                    <a:ext uri="{9D8B030D-6E8A-4147-A177-3AD203B41FA5}">
                      <a16:colId xmlns:a16="http://schemas.microsoft.com/office/drawing/2014/main" val="2379652158"/>
                    </a:ext>
                  </a:extLst>
                </a:gridCol>
                <a:gridCol w="1498693">
                  <a:extLst>
                    <a:ext uri="{9D8B030D-6E8A-4147-A177-3AD203B41FA5}">
                      <a16:colId xmlns:a16="http://schemas.microsoft.com/office/drawing/2014/main" val="56969812"/>
                    </a:ext>
                  </a:extLst>
                </a:gridCol>
                <a:gridCol w="3227908">
                  <a:extLst>
                    <a:ext uri="{9D8B030D-6E8A-4147-A177-3AD203B41FA5}">
                      <a16:colId xmlns:a16="http://schemas.microsoft.com/office/drawing/2014/main" val="1544562053"/>
                    </a:ext>
                  </a:extLst>
                </a:gridCol>
              </a:tblGrid>
              <a:tr h="34853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C1F"/>
                          </a:solidFill>
                          <a:effectLst/>
                        </a:rPr>
                        <a:t>No.</a:t>
                      </a: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C1F"/>
                          </a:solidFill>
                          <a:effectLst/>
                        </a:rPr>
                        <a:t>IP </a:t>
                      </a:r>
                      <a:r>
                        <a:rPr lang="ko-KR" altLang="en-US" sz="1400" b="1">
                          <a:solidFill>
                            <a:srgbClr val="1A1C1F"/>
                          </a:solidFill>
                          <a:effectLst/>
                        </a:rPr>
                        <a:t>주소</a:t>
                      </a: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1A1C1F"/>
                          </a:solidFill>
                          <a:effectLst/>
                        </a:rPr>
                        <a:t>열린 포트</a:t>
                      </a: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6925721"/>
                  </a:ext>
                </a:extLst>
              </a:tr>
              <a:tr h="32968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+mn-ea"/>
                          <a:ea typeface="+mn-ea"/>
                        </a:rPr>
                        <a:t>172.18.0.1</a:t>
                      </a: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111/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tcp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, 8011/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tcp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, 11434/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tcp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, 33165/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tcp</a:t>
                      </a:r>
                      <a:endParaRPr lang="en-US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862688"/>
                  </a:ext>
                </a:extLst>
              </a:tr>
              <a:tr h="30981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+mn-ea"/>
                          <a:ea typeface="+mn-ea"/>
                        </a:rPr>
                        <a:t>172.18.0.2</a:t>
                      </a: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22/tcp, 3000/tcp</a:t>
                      </a: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55707"/>
                  </a:ext>
                </a:extLst>
              </a:tr>
              <a:tr h="30981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+mn-ea"/>
                          <a:ea typeface="+mn-ea"/>
                        </a:rPr>
                        <a:t>172.18.0.3</a:t>
                      </a: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8111/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tcp</a:t>
                      </a:r>
                      <a:endParaRPr lang="en-US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546688"/>
                  </a:ext>
                </a:extLst>
              </a:tr>
              <a:tr h="30981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+mn-ea"/>
                          <a:ea typeface="+mn-ea"/>
                        </a:rPr>
                        <a:t>172.18.0.4</a:t>
                      </a: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22/tcp, 8080/tcp</a:t>
                      </a: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172394"/>
                  </a:ext>
                </a:extLst>
              </a:tr>
              <a:tr h="30981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+mn-ea"/>
                          <a:ea typeface="+mn-ea"/>
                        </a:rPr>
                        <a:t>172.18.0.5</a:t>
                      </a: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139/tcp, 445/tcp</a:t>
                      </a: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20613"/>
                  </a:ext>
                </a:extLst>
              </a:tr>
              <a:tr h="30981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+mn-ea"/>
                          <a:ea typeface="+mn-ea"/>
                        </a:rPr>
                        <a:t>172.18.0.6</a:t>
                      </a: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3306/tcp</a:t>
                      </a: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8061785"/>
                  </a:ext>
                </a:extLst>
              </a:tr>
              <a:tr h="30981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+mn-ea"/>
                          <a:ea typeface="+mn-ea"/>
                        </a:rPr>
                        <a:t>172.18.0.7</a:t>
                      </a: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3306/tcp</a:t>
                      </a: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695307"/>
                  </a:ext>
                </a:extLst>
              </a:tr>
              <a:tr h="30981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+mn-ea"/>
                          <a:ea typeface="+mn-ea"/>
                        </a:rPr>
                        <a:t>172.18.0.9</a:t>
                      </a: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11434/tcp</a:t>
                      </a: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941223"/>
                  </a:ext>
                </a:extLst>
              </a:tr>
              <a:tr h="30981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+mn-ea"/>
                          <a:ea typeface="+mn-ea"/>
                        </a:rPr>
                        <a:t>172.18.0.10</a:t>
                      </a: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+mn-ea"/>
                          <a:ea typeface="+mn-ea"/>
                        </a:rPr>
                        <a:t>22/tcp, 8080/tcp</a:t>
                      </a: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167803"/>
                  </a:ext>
                </a:extLst>
              </a:tr>
              <a:tr h="28375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effectLst/>
                          <a:latin typeface="+mn-ea"/>
                          <a:ea typeface="+mn-ea"/>
                        </a:rPr>
                        <a:t>172.18.0.11</a:t>
                      </a: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22/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tcp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, 4902/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tcp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, 4904/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tcp</a:t>
                      </a:r>
                      <a:r>
                        <a:rPr lang="en-US" sz="1200" dirty="0">
                          <a:effectLst/>
                          <a:latin typeface="+mn-ea"/>
                          <a:ea typeface="+mn-ea"/>
                        </a:rPr>
                        <a:t>, 6901/</a:t>
                      </a:r>
                      <a:r>
                        <a:rPr lang="en-US" sz="1200" dirty="0" err="1">
                          <a:effectLst/>
                          <a:latin typeface="+mn-ea"/>
                          <a:ea typeface="+mn-ea"/>
                        </a:rPr>
                        <a:t>tcp</a:t>
                      </a:r>
                      <a:endParaRPr lang="en-US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0480" marR="30480" marT="30480" marB="304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94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2568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8EFF6-0D50-C0B0-EFC8-116378F1F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D280489-AF66-8F91-CFBE-EB562828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FE9A3A-90FE-7170-D581-FC3CA8FB1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fld id="{5E730BA1-3F6D-49E0-8F01-E02E0ED4523B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CA4306DD-D406-A3B5-AC66-AE429584D21A}"/>
              </a:ext>
            </a:extLst>
          </p:cNvPr>
          <p:cNvSpPr txBox="1">
            <a:spLocks/>
          </p:cNvSpPr>
          <p:nvPr/>
        </p:nvSpPr>
        <p:spPr>
          <a:xfrm>
            <a:off x="-121898" y="1267903"/>
            <a:ext cx="8320995" cy="4616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ko-KR" b="1">
                <a:latin typeface="+mn-ea"/>
              </a:rPr>
              <a:t>TeamCity </a:t>
            </a:r>
            <a:r>
              <a:rPr lang="ko-KR" altLang="en-US" b="1">
                <a:latin typeface="+mn-ea"/>
              </a:rPr>
              <a:t>서버 취약점을 악용한 공격 확장 단계</a:t>
            </a:r>
            <a:endParaRPr lang="ko-KR" altLang="ko-KR" b="1">
              <a:latin typeface="+mn-ea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F6382A0A-AECD-EB1E-0366-0C296F348EFF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037A39E-AF06-E598-91C8-9CF2075574E6}"/>
              </a:ext>
            </a:extLst>
          </p:cNvPr>
          <p:cNvSpPr txBox="1"/>
          <p:nvPr/>
        </p:nvSpPr>
        <p:spPr>
          <a:xfrm>
            <a:off x="285750" y="366003"/>
            <a:ext cx="17780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/>
              <a:t>시나리오 </a:t>
            </a:r>
            <a:r>
              <a:rPr lang="en-US" altLang="ko-KR" sz="2400" b="1"/>
              <a:t>2</a:t>
            </a:r>
            <a:r>
              <a:rPr lang="ko-KR" altLang="en-US" sz="2400" b="1"/>
              <a:t>  </a:t>
            </a:r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BE023785-8369-6415-FF57-4993933CF86A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36249C-E7A1-58F9-E177-8E7BF682DD92}"/>
              </a:ext>
            </a:extLst>
          </p:cNvPr>
          <p:cNvSpPr txBox="1"/>
          <p:nvPr/>
        </p:nvSpPr>
        <p:spPr>
          <a:xfrm>
            <a:off x="1425213" y="3694148"/>
            <a:ext cx="1800000" cy="144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+mj-ea"/>
                <a:ea typeface="+mj-ea"/>
              </a:rPr>
              <a:t>공개된 </a:t>
            </a:r>
            <a:r>
              <a:rPr lang="en-US" altLang="ko-KR" sz="1400" b="1" dirty="0">
                <a:latin typeface="+mj-ea"/>
                <a:ea typeface="+mj-ea"/>
              </a:rPr>
              <a:t>TeamCity </a:t>
            </a:r>
            <a:r>
              <a:rPr lang="ko-KR" altLang="en-US" sz="1400" b="1" dirty="0">
                <a:latin typeface="+mj-ea"/>
                <a:ea typeface="+mj-ea"/>
              </a:rPr>
              <a:t>서비스의 취약점을 악용하여</a:t>
            </a:r>
            <a:endParaRPr lang="en-US" altLang="ko-KR" sz="1400" b="1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latin typeface="+mj-ea"/>
                <a:ea typeface="+mj-ea"/>
              </a:rPr>
              <a:t>관리자 권한 확보</a:t>
            </a:r>
            <a:endParaRPr lang="en-US" altLang="ko-KR" sz="1400" b="1" dirty="0">
              <a:latin typeface="+mj-ea"/>
              <a:ea typeface="+mj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A28A93A-52CD-C506-1B41-3FE53532932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460" y="2720661"/>
            <a:ext cx="1080754" cy="1080000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1005F66-BABA-B84E-F1E6-E3CA1DC9F648}"/>
              </a:ext>
            </a:extLst>
          </p:cNvPr>
          <p:cNvCxnSpPr>
            <a:cxnSpLocks/>
          </p:cNvCxnSpPr>
          <p:nvPr/>
        </p:nvCxnSpPr>
        <p:spPr>
          <a:xfrm>
            <a:off x="1449800" y="3672011"/>
            <a:ext cx="1800000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3DA066C-6F52-D9B5-809A-F9339B349A78}"/>
              </a:ext>
            </a:extLst>
          </p:cNvPr>
          <p:cNvSpPr txBox="1"/>
          <p:nvPr/>
        </p:nvSpPr>
        <p:spPr>
          <a:xfrm>
            <a:off x="10041202" y="3672011"/>
            <a:ext cx="1587524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NAS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접근을 통해 제품 설계도 및 </a:t>
            </a:r>
            <a:r>
              <a:rPr lang="en-US" altLang="ko-KR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Teamcity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Keys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정보 확인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DB8DE1D3-4E64-3D05-2B71-2DBE8D1161BD}"/>
              </a:ext>
            </a:extLst>
          </p:cNvPr>
          <p:cNvCxnSpPr>
            <a:cxnSpLocks/>
          </p:cNvCxnSpPr>
          <p:nvPr/>
        </p:nvCxnSpPr>
        <p:spPr>
          <a:xfrm>
            <a:off x="10023541" y="3672011"/>
            <a:ext cx="1800000" cy="0"/>
          </a:xfrm>
          <a:prstGeom prst="straightConnector1">
            <a:avLst/>
          </a:prstGeom>
          <a:ln w="63500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B6BD5D5-9FAF-7BFB-31DF-68FEE00E34B7}"/>
              </a:ext>
            </a:extLst>
          </p:cNvPr>
          <p:cNvSpPr txBox="1"/>
          <p:nvPr/>
        </p:nvSpPr>
        <p:spPr>
          <a:xfrm>
            <a:off x="10090907" y="3209799"/>
            <a:ext cx="170105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latin typeface="+mj-ea"/>
                <a:ea typeface="+mj-ea"/>
              </a:rPr>
              <a:t>NAS </a:t>
            </a:r>
            <a:r>
              <a:rPr lang="ko-KR" altLang="en-US" sz="1400" b="1" dirty="0">
                <a:latin typeface="+mj-ea"/>
                <a:ea typeface="+mj-ea"/>
              </a:rPr>
              <a:t>데이터 확보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15EF9B-A24D-5B5B-DD10-F84F3E00314F}"/>
              </a:ext>
            </a:extLst>
          </p:cNvPr>
          <p:cNvSpPr txBox="1"/>
          <p:nvPr/>
        </p:nvSpPr>
        <p:spPr>
          <a:xfrm>
            <a:off x="1348648" y="3209800"/>
            <a:ext cx="2196322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latin typeface="+mj-ea"/>
                <a:ea typeface="+mj-ea"/>
              </a:rPr>
              <a:t>[2] CVE-2024-27198</a:t>
            </a:r>
            <a:endParaRPr lang="ko-KR" altLang="en-US" sz="1400" b="1" dirty="0">
              <a:latin typeface="+mj-ea"/>
              <a:ea typeface="+mj-ea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0DFD701-341D-5047-B4C1-86121CC8A3E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5096" y="3036743"/>
            <a:ext cx="720000" cy="720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54D91F3-A8E6-FA24-3C75-EAB9400ECAA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3" b="9623"/>
          <a:stretch>
            <a:fillRect/>
          </a:stretch>
        </p:blipFill>
        <p:spPr>
          <a:xfrm>
            <a:off x="6047008" y="2992230"/>
            <a:ext cx="1080000" cy="8963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6BC21A8-BBF0-2AB9-1A51-942FD18B4D9E}"/>
              </a:ext>
            </a:extLst>
          </p:cNvPr>
          <p:cNvSpPr txBox="1"/>
          <p:nvPr/>
        </p:nvSpPr>
        <p:spPr>
          <a:xfrm>
            <a:off x="4260356" y="3694148"/>
            <a:ext cx="1800000" cy="13433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VCS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Root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정보 조회를 통한 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Gitea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연계 저장소 정보 확보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51D3B22-5860-72B4-792C-E8081CB766D7}"/>
              </a:ext>
            </a:extLst>
          </p:cNvPr>
          <p:cNvCxnSpPr>
            <a:cxnSpLocks/>
          </p:cNvCxnSpPr>
          <p:nvPr/>
        </p:nvCxnSpPr>
        <p:spPr>
          <a:xfrm>
            <a:off x="4242695" y="3694148"/>
            <a:ext cx="1800000" cy="0"/>
          </a:xfrm>
          <a:prstGeom prst="straightConnector1">
            <a:avLst/>
          </a:prstGeom>
          <a:ln w="63500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997644A-148B-8BB0-9125-9583B3B778ED}"/>
              </a:ext>
            </a:extLst>
          </p:cNvPr>
          <p:cNvSpPr txBox="1"/>
          <p:nvPr/>
        </p:nvSpPr>
        <p:spPr>
          <a:xfrm>
            <a:off x="4339352" y="3209799"/>
            <a:ext cx="1443400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latin typeface="+mj-ea"/>
                <a:ea typeface="+mj-ea"/>
              </a:rPr>
              <a:t>VCS Root</a:t>
            </a:r>
            <a:r>
              <a:rPr lang="ko-KR" altLang="en-US" sz="1400" b="1" dirty="0">
                <a:latin typeface="+mj-ea"/>
                <a:ea typeface="+mj-ea"/>
              </a:rPr>
              <a:t> 확보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BA722C3-C54B-4B63-0D53-756A608F4D2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1854" y="3036743"/>
            <a:ext cx="720000" cy="7200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DF0FC83-083F-41BE-0249-9607324611C4}"/>
              </a:ext>
            </a:extLst>
          </p:cNvPr>
          <p:cNvSpPr txBox="1"/>
          <p:nvPr/>
        </p:nvSpPr>
        <p:spPr>
          <a:xfrm>
            <a:off x="7230462" y="3698204"/>
            <a:ext cx="1726427" cy="10618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/>
              <a:t>설정 파일을  확인하여 </a:t>
            </a:r>
            <a:endParaRPr lang="en-US" altLang="ko-KR" sz="1400" b="1" dirty="0"/>
          </a:p>
          <a:p>
            <a:pPr>
              <a:lnSpc>
                <a:spcPct val="150000"/>
              </a:lnSpc>
            </a:pPr>
            <a:r>
              <a:rPr lang="en-US" altLang="ko-KR" sz="1400" b="1" dirty="0"/>
              <a:t>NAS </a:t>
            </a:r>
            <a:r>
              <a:rPr lang="ko-KR" altLang="en-US" sz="1400" b="1" dirty="0"/>
              <a:t>계정 정보 확보</a:t>
            </a:r>
            <a:r>
              <a:rPr lang="en-US" altLang="ko-KR" sz="1400" b="1" dirty="0"/>
              <a:t> 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5571727D-84EE-9C46-522D-7F72CE0922DB}"/>
              </a:ext>
            </a:extLst>
          </p:cNvPr>
          <p:cNvCxnSpPr>
            <a:cxnSpLocks/>
          </p:cNvCxnSpPr>
          <p:nvPr/>
        </p:nvCxnSpPr>
        <p:spPr>
          <a:xfrm>
            <a:off x="7212801" y="3698204"/>
            <a:ext cx="1800000" cy="0"/>
          </a:xfrm>
          <a:prstGeom prst="straightConnector1">
            <a:avLst/>
          </a:prstGeom>
          <a:ln w="63500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5C9BF84F-D4BC-9A2B-9492-F33A00A362FB}"/>
              </a:ext>
            </a:extLst>
          </p:cNvPr>
          <p:cNvSpPr txBox="1"/>
          <p:nvPr/>
        </p:nvSpPr>
        <p:spPr>
          <a:xfrm>
            <a:off x="7306061" y="3213856"/>
            <a:ext cx="1532997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+mj-ea"/>
                <a:ea typeface="+mj-ea"/>
              </a:rPr>
              <a:t>소스코드 확보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4822CD3-A6B8-8A01-49FA-8CB85983B1C2}"/>
              </a:ext>
            </a:extLst>
          </p:cNvPr>
          <p:cNvSpPr/>
          <p:nvPr/>
        </p:nvSpPr>
        <p:spPr>
          <a:xfrm flipV="1">
            <a:off x="426720" y="1808896"/>
            <a:ext cx="11148536" cy="4197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30FF7779-CB90-5DF2-DC1C-1DE4B8C27FD9}"/>
              </a:ext>
            </a:extLst>
          </p:cNvPr>
          <p:cNvSpPr txBox="1">
            <a:spLocks/>
          </p:cNvSpPr>
          <p:nvPr/>
        </p:nvSpPr>
        <p:spPr>
          <a:xfrm>
            <a:off x="7761438" y="150617"/>
            <a:ext cx="4210613" cy="8909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III.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 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cs typeface="ADLaM Display" panose="020F0502020204030204" pitchFamily="2" charset="0"/>
              </a:rPr>
              <a:t>공격 시나리오 및 검증 결과</a:t>
            </a:r>
            <a:endParaRPr lang="en-US" altLang="ko-KR" sz="2000" b="1">
              <a:solidFill>
                <a:schemeClr val="bg2">
                  <a:lumMod val="90000"/>
                </a:schemeClr>
              </a:solidFill>
              <a:latin typeface="맑은 고딕" panose="020B0503020000020004" pitchFamily="50" charset="-127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483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2D237-66E1-9C3A-DB42-0D6BA79FD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A5F4FF-0033-108F-5F4F-A6088ECC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294427-54F8-37D9-C6A4-21C11D387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fld id="{5E730BA1-3F6D-49E0-8F01-E02E0ED4523B}" type="slidenum">
              <a:rPr lang="ko-KR" altLang="en-US" smtClean="0"/>
              <a:t>15</a:t>
            </a:fld>
            <a:endParaRPr lang="ko-KR" altLang="en-US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E3ADD32-6A34-A9AE-4AB0-42CF97552701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F5419D8-DABA-CC62-C018-9E286D7BD07F}"/>
              </a:ext>
            </a:extLst>
          </p:cNvPr>
          <p:cNvSpPr txBox="1"/>
          <p:nvPr/>
        </p:nvSpPr>
        <p:spPr>
          <a:xfrm>
            <a:off x="285750" y="366003"/>
            <a:ext cx="3310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/>
              <a:t>시나리오</a:t>
            </a:r>
            <a:r>
              <a:rPr lang="en-US" altLang="ko-KR" sz="2400" b="1"/>
              <a:t> 2 - </a:t>
            </a:r>
            <a:r>
              <a:rPr lang="ko-KR" altLang="en-US" sz="2400" b="1"/>
              <a:t>정보 수집  </a:t>
            </a:r>
            <a:endParaRPr lang="ko-KR" altLang="en-US" sz="2400" b="1" dirty="0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0E8B8B82-D7B2-260F-BEBA-3E4BE36284EF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 dirty="0"/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68B081D2-E94D-C106-AE56-2EA9E9CCC638}"/>
              </a:ext>
            </a:extLst>
          </p:cNvPr>
          <p:cNvSpPr/>
          <p:nvPr/>
        </p:nvSpPr>
        <p:spPr>
          <a:xfrm flipV="1">
            <a:off x="438149" y="1792213"/>
            <a:ext cx="11148536" cy="4197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9EB6480F-F12E-B5AB-3AFA-4A30735385B2}"/>
              </a:ext>
            </a:extLst>
          </p:cNvPr>
          <p:cNvSpPr/>
          <p:nvPr/>
        </p:nvSpPr>
        <p:spPr>
          <a:xfrm>
            <a:off x="519059" y="1978303"/>
            <a:ext cx="10963858" cy="319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 우회를 이용한 관리자 권한 계정 생성</a:t>
            </a:r>
            <a:endParaRPr lang="en-US" sz="1600" dirty="0"/>
          </a:p>
        </p:txBody>
      </p:sp>
      <p:sp>
        <p:nvSpPr>
          <p:cNvPr id="52" name="제목 1">
            <a:extLst>
              <a:ext uri="{FF2B5EF4-FFF2-40B4-BE49-F238E27FC236}">
                <a16:creationId xmlns:a16="http://schemas.microsoft.com/office/drawing/2014/main" id="{25FB046E-7668-DD79-5F2A-F1F49EE63F5E}"/>
              </a:ext>
            </a:extLst>
          </p:cNvPr>
          <p:cNvSpPr txBox="1">
            <a:spLocks/>
          </p:cNvSpPr>
          <p:nvPr/>
        </p:nvSpPr>
        <p:spPr>
          <a:xfrm>
            <a:off x="438149" y="1197094"/>
            <a:ext cx="11137107" cy="4616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eaLnBrk="0" fontAlgn="base" latinLnBrk="0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u"/>
            </a:pPr>
            <a:r>
              <a:rPr lang="en-US" altLang="ko-KR" sz="1800" b="1" dirty="0">
                <a:latin typeface="Arial" panose="020B0604020202020204" pitchFamily="34" charset="0"/>
              </a:rPr>
              <a:t>TeamCity </a:t>
            </a:r>
            <a:r>
              <a:rPr lang="ko-KR" altLang="en-US" sz="1800" b="1" dirty="0">
                <a:latin typeface="Arial" panose="020B0604020202020204" pitchFamily="34" charset="0"/>
              </a:rPr>
              <a:t>환경에서</a:t>
            </a:r>
            <a:r>
              <a:rPr lang="en-US" altLang="ko-KR" sz="1800" b="1" dirty="0">
                <a:latin typeface="Arial" panose="020B0604020202020204" pitchFamily="34" charset="0"/>
              </a:rPr>
              <a:t> </a:t>
            </a:r>
            <a:r>
              <a:rPr lang="ko-KR" altLang="ko-KR" sz="1800" b="1" dirty="0">
                <a:latin typeface="Arial" panose="020B0604020202020204" pitchFamily="34" charset="0"/>
              </a:rPr>
              <a:t>CVE-202</a:t>
            </a:r>
            <a:r>
              <a:rPr lang="en-US" altLang="ko-KR" sz="1800" b="1" dirty="0">
                <a:latin typeface="Arial" panose="020B0604020202020204" pitchFamily="34" charset="0"/>
              </a:rPr>
              <a:t>4</a:t>
            </a:r>
            <a:r>
              <a:rPr lang="ko-KR" altLang="ko-KR" sz="1800" b="1" dirty="0">
                <a:latin typeface="Arial" panose="020B0604020202020204" pitchFamily="34" charset="0"/>
              </a:rPr>
              <a:t>-2</a:t>
            </a:r>
            <a:r>
              <a:rPr lang="en-US" altLang="ko-KR" sz="1800" b="1" dirty="0">
                <a:latin typeface="Arial" panose="020B0604020202020204" pitchFamily="34" charset="0"/>
              </a:rPr>
              <a:t>7198 </a:t>
            </a:r>
            <a:r>
              <a:rPr lang="ko-KR" altLang="en-US" sz="1800" b="1" dirty="0">
                <a:latin typeface="Arial" panose="020B0604020202020204" pitchFamily="34" charset="0"/>
              </a:rPr>
              <a:t>인증 우회 취약점 확인</a:t>
            </a:r>
            <a:r>
              <a:rPr lang="en-US" altLang="ko-KR" sz="1800" b="1" dirty="0">
                <a:latin typeface="Arial" panose="020B0604020202020204" pitchFamily="34" charset="0"/>
              </a:rPr>
              <a:t> </a:t>
            </a:r>
            <a:endParaRPr lang="ko-KR" altLang="ko-KR" sz="1800" dirty="0">
              <a:latin typeface="Arial" panose="020B0604020202020204" pitchFamily="34" charset="0"/>
            </a:endParaRPr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920113FE-8B0C-335D-269D-19947522F605}"/>
              </a:ext>
            </a:extLst>
          </p:cNvPr>
          <p:cNvSpPr txBox="1">
            <a:spLocks/>
          </p:cNvSpPr>
          <p:nvPr/>
        </p:nvSpPr>
        <p:spPr>
          <a:xfrm>
            <a:off x="7761438" y="150617"/>
            <a:ext cx="4210613" cy="8909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III.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 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cs typeface="ADLaM Display" panose="020F0502020204030204" pitchFamily="2" charset="0"/>
              </a:rPr>
              <a:t>공격 시나리오 및 검증 결과</a:t>
            </a:r>
            <a:endParaRPr lang="en-US" altLang="ko-KR" sz="2000" b="1">
              <a:solidFill>
                <a:schemeClr val="bg2">
                  <a:lumMod val="90000"/>
                </a:schemeClr>
              </a:solidFill>
              <a:latin typeface="맑은 고딕" panose="020B0503020000020004" pitchFamily="50" charset="-127"/>
              <a:cs typeface="ADLaM Display" panose="020F0502020204030204" pitchFamily="2" charset="0"/>
            </a:endParaRPr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C0C9BB80-747A-6C2E-FA3B-48D82C5A84A8}"/>
              </a:ext>
            </a:extLst>
          </p:cNvPr>
          <p:cNvSpPr/>
          <p:nvPr/>
        </p:nvSpPr>
        <p:spPr>
          <a:xfrm>
            <a:off x="2154685" y="5638454"/>
            <a:ext cx="2226435" cy="344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TeamCity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23.11.3 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 확인</a:t>
            </a:r>
            <a:endParaRPr lang="en-US" sz="1200" b="1" dirty="0"/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D37B475C-A397-603A-D3C1-737F8B70D5A8}"/>
              </a:ext>
            </a:extLst>
          </p:cNvPr>
          <p:cNvSpPr/>
          <p:nvPr/>
        </p:nvSpPr>
        <p:spPr>
          <a:xfrm>
            <a:off x="7853901" y="5638454"/>
            <a:ext cx="2140396" cy="344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TeamCity 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계정 생성 </a:t>
            </a:r>
            <a:endParaRPr lang="en-US" sz="1200" b="1" dirty="0"/>
          </a:p>
        </p:txBody>
      </p:sp>
      <p:pic>
        <p:nvPicPr>
          <p:cNvPr id="21" name="그림 20"/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224099" y="2648561"/>
            <a:ext cx="5400000" cy="2808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25" name="그림 24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67332" y="2648647"/>
            <a:ext cx="5400000" cy="2808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517367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A4455-4981-93CE-C487-5C649EEA5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7560F9-317B-57EF-D791-3FF9E12D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3D0FAA-D0C8-994B-836B-C5126A1CC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fld id="{5E730BA1-3F6D-49E0-8F01-E02E0ED4523B}" type="slidenum">
              <a:rPr lang="ko-KR" altLang="en-US" smtClean="0"/>
              <a:t>16</a:t>
            </a:fld>
            <a:endParaRPr lang="ko-KR" altLang="en-US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CA4C386-6236-F097-CD3A-CC549D9A3FE4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1FDC08B-AF1D-065F-9A6D-D63904D14927}"/>
              </a:ext>
            </a:extLst>
          </p:cNvPr>
          <p:cNvSpPr txBox="1"/>
          <p:nvPr/>
        </p:nvSpPr>
        <p:spPr>
          <a:xfrm>
            <a:off x="285750" y="366003"/>
            <a:ext cx="3172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시나리오</a:t>
            </a:r>
            <a:r>
              <a:rPr lang="en-US" altLang="ko-KR" sz="2400" b="1" dirty="0"/>
              <a:t> 2 - </a:t>
            </a:r>
            <a:r>
              <a:rPr lang="ko-KR" altLang="en-US" sz="2400" b="1" dirty="0"/>
              <a:t>공격 과정</a:t>
            </a:r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FA5E695D-1639-2B9F-81D7-BE75488A9FAC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 dirty="0"/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D8737B99-709F-74BC-5D92-83C5598198E6}"/>
              </a:ext>
            </a:extLst>
          </p:cNvPr>
          <p:cNvSpPr/>
          <p:nvPr/>
        </p:nvSpPr>
        <p:spPr>
          <a:xfrm flipV="1">
            <a:off x="426720" y="1808896"/>
            <a:ext cx="11148536" cy="4197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6CA2AE41-5AB7-760D-3A7A-1AE6F965F6C6}"/>
              </a:ext>
            </a:extLst>
          </p:cNvPr>
          <p:cNvSpPr/>
          <p:nvPr/>
        </p:nvSpPr>
        <p:spPr>
          <a:xfrm>
            <a:off x="519059" y="1978303"/>
            <a:ext cx="10963858" cy="319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계정 생성 후 </a:t>
            </a:r>
            <a:r>
              <a:rPr lang="en-US" altLang="ko-KR" sz="1600" b="1" dirty="0" err="1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Gitea</a:t>
            </a:r>
            <a:r>
              <a:rPr lang="en-US" altLang="ko-KR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 정보 확보</a:t>
            </a:r>
            <a:endParaRPr lang="en-US" sz="1600" dirty="0"/>
          </a:p>
        </p:txBody>
      </p:sp>
      <p:sp>
        <p:nvSpPr>
          <p:cNvPr id="52" name="제목 1">
            <a:extLst>
              <a:ext uri="{FF2B5EF4-FFF2-40B4-BE49-F238E27FC236}">
                <a16:creationId xmlns:a16="http://schemas.microsoft.com/office/drawing/2014/main" id="{52B799D7-F5B5-A750-66C6-3D1AD6FAFDAC}"/>
              </a:ext>
            </a:extLst>
          </p:cNvPr>
          <p:cNvSpPr txBox="1">
            <a:spLocks/>
          </p:cNvSpPr>
          <p:nvPr/>
        </p:nvSpPr>
        <p:spPr>
          <a:xfrm>
            <a:off x="438149" y="1197094"/>
            <a:ext cx="11137107" cy="4616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eaLnBrk="0" fontAlgn="base" latinLnBrk="0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u"/>
            </a:pPr>
            <a:r>
              <a:rPr lang="ko-KR" altLang="ko-KR" sz="1800" b="1" dirty="0">
                <a:latin typeface="+mj-ea"/>
              </a:rPr>
              <a:t>연계 시스템</a:t>
            </a:r>
            <a:r>
              <a:rPr lang="en-US" altLang="ko-KR" sz="1800" b="1" dirty="0">
                <a:latin typeface="+mj-ea"/>
              </a:rPr>
              <a:t>(</a:t>
            </a:r>
            <a:r>
              <a:rPr lang="en-US" altLang="ko-KR" sz="1800" b="1" dirty="0" err="1">
                <a:latin typeface="+mj-ea"/>
              </a:rPr>
              <a:t>Gitea</a:t>
            </a:r>
            <a:r>
              <a:rPr lang="en-US" altLang="ko-KR" sz="1800" b="1" dirty="0">
                <a:latin typeface="+mj-ea"/>
              </a:rPr>
              <a:t>) </a:t>
            </a:r>
            <a:r>
              <a:rPr lang="ko-KR" altLang="ko-KR" sz="1800" b="1" dirty="0">
                <a:latin typeface="+mj-ea"/>
              </a:rPr>
              <a:t>접근 및 내부 소스코드 확보</a:t>
            </a:r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05164F55-C237-C081-8773-F10B2733C928}"/>
              </a:ext>
            </a:extLst>
          </p:cNvPr>
          <p:cNvSpPr txBox="1">
            <a:spLocks/>
          </p:cNvSpPr>
          <p:nvPr/>
        </p:nvSpPr>
        <p:spPr>
          <a:xfrm>
            <a:off x="7761438" y="150617"/>
            <a:ext cx="4210613" cy="8909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III.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 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cs typeface="ADLaM Display" panose="020F0502020204030204" pitchFamily="2" charset="0"/>
              </a:rPr>
              <a:t>공격 시나리오 및 검증 결과</a:t>
            </a:r>
            <a:endParaRPr lang="en-US" altLang="ko-KR" sz="2000" b="1">
              <a:solidFill>
                <a:schemeClr val="bg2">
                  <a:lumMod val="90000"/>
                </a:schemeClr>
              </a:solidFill>
              <a:latin typeface="맑은 고딕" panose="020B0503020000020004" pitchFamily="50" charset="-127"/>
              <a:cs typeface="ADLaM Display" panose="020F0502020204030204" pitchFamily="2" charset="0"/>
            </a:endParaRPr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C4E0718D-8050-AEC6-4F0C-B6AB49DFC8AF}"/>
              </a:ext>
            </a:extLst>
          </p:cNvPr>
          <p:cNvSpPr/>
          <p:nvPr/>
        </p:nvSpPr>
        <p:spPr>
          <a:xfrm>
            <a:off x="2137458" y="5688152"/>
            <a:ext cx="2213083" cy="192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서버에 등록된 프로젝트 확인</a:t>
            </a:r>
            <a:endParaRPr lang="en-US" altLang="ko-KR" sz="1200" b="1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D37B475C-A397-603A-D3C1-737F8B70D5A8}"/>
              </a:ext>
            </a:extLst>
          </p:cNvPr>
          <p:cNvSpPr/>
          <p:nvPr/>
        </p:nvSpPr>
        <p:spPr>
          <a:xfrm>
            <a:off x="7183278" y="5688152"/>
            <a:ext cx="3529446" cy="192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VCS Root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에서 </a:t>
            </a:r>
            <a:r>
              <a:rPr lang="en-US" altLang="ko-KR" sz="120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Gitea</a:t>
            </a:r>
            <a:r>
              <a:rPr lang="en-US" altLang="ko-KR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연결 정보 확인</a:t>
            </a:r>
            <a:endParaRPr lang="en-US" sz="1200" b="1" dirty="0"/>
          </a:p>
        </p:txBody>
      </p:sp>
      <p:pic>
        <p:nvPicPr>
          <p:cNvPr id="17" name="그림 16"/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01" y="2656267"/>
            <a:ext cx="5400000" cy="2808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32" name="그림 31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43999" y="2657214"/>
            <a:ext cx="5400000" cy="2808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453607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99A5B-C6F9-CD81-AA1C-2E29B4BBA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549A503-33C2-470B-4447-7F1D9F2B7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12C59F-35A0-FBF0-11AB-0B6200D2D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fld id="{5E730BA1-3F6D-49E0-8F01-E02E0ED4523B}" type="slidenum">
              <a:rPr lang="ko-KR" altLang="en-US" smtClean="0"/>
              <a:t>17</a:t>
            </a:fld>
            <a:endParaRPr lang="ko-KR" altLang="en-US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1689D37-9A17-121F-FE76-759C9772ABEE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BE3613F-EF77-F3E5-C588-27125D9719B2}"/>
              </a:ext>
            </a:extLst>
          </p:cNvPr>
          <p:cNvSpPr txBox="1"/>
          <p:nvPr/>
        </p:nvSpPr>
        <p:spPr>
          <a:xfrm>
            <a:off x="285750" y="366003"/>
            <a:ext cx="3172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/>
              <a:t>시나리오</a:t>
            </a:r>
            <a:r>
              <a:rPr lang="en-US" altLang="ko-KR" sz="2400" b="1"/>
              <a:t> 2 - </a:t>
            </a:r>
            <a:r>
              <a:rPr lang="ko-KR" altLang="en-US" sz="2400" b="1"/>
              <a:t>공격 과정</a:t>
            </a:r>
            <a:endParaRPr lang="ko-KR" altLang="en-US" sz="2400" b="1" dirty="0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0D3794F1-9DB0-0DDA-A626-E7C4D94E83EA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 dirty="0"/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163FC59C-5871-BF47-5B21-1AEFD035E705}"/>
              </a:ext>
            </a:extLst>
          </p:cNvPr>
          <p:cNvSpPr/>
          <p:nvPr/>
        </p:nvSpPr>
        <p:spPr>
          <a:xfrm flipV="1">
            <a:off x="426720" y="1808896"/>
            <a:ext cx="11148536" cy="4197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98A03B2F-7149-94D3-EB15-E55A04AC813E}"/>
              </a:ext>
            </a:extLst>
          </p:cNvPr>
          <p:cNvSpPr/>
          <p:nvPr/>
        </p:nvSpPr>
        <p:spPr>
          <a:xfrm>
            <a:off x="519059" y="1978303"/>
            <a:ext cx="10963858" cy="319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README </a:t>
            </a:r>
            <a:r>
              <a:rPr lang="ko-KR" alt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</a:t>
            </a:r>
            <a:r>
              <a:rPr lang="ko-KR" altLang="en-US" sz="1600" b="1" dirty="0" err="1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하드코딩된</a:t>
            </a:r>
            <a:r>
              <a:rPr lang="ko-KR" alt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계정 정보를 이용한 내부 데이터 확보</a:t>
            </a:r>
            <a:endParaRPr lang="en-US" sz="16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DB71510-9D56-3773-5FB0-6B94F4AB16F3}"/>
              </a:ext>
            </a:extLst>
          </p:cNvPr>
          <p:cNvSpPr txBox="1">
            <a:spLocks/>
          </p:cNvSpPr>
          <p:nvPr/>
        </p:nvSpPr>
        <p:spPr>
          <a:xfrm>
            <a:off x="7761438" y="150617"/>
            <a:ext cx="4210613" cy="8909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III.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 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cs typeface="ADLaM Display" panose="020F0502020204030204" pitchFamily="2" charset="0"/>
              </a:rPr>
              <a:t>공격 시나리오 및 검증 결과</a:t>
            </a:r>
            <a:endParaRPr lang="en-US" altLang="ko-KR" sz="2000" b="1">
              <a:solidFill>
                <a:schemeClr val="bg2">
                  <a:lumMod val="90000"/>
                </a:schemeClr>
              </a:solidFill>
              <a:latin typeface="맑은 고딕" panose="020B0503020000020004" pitchFamily="50" charset="-127"/>
              <a:cs typeface="ADLaM Display" panose="020F0502020204030204" pitchFamily="2" charset="0"/>
            </a:endParaRPr>
          </a:p>
        </p:txBody>
      </p:sp>
      <p:pic>
        <p:nvPicPr>
          <p:cNvPr id="15" name="그림 14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19059" y="2655234"/>
            <a:ext cx="5400000" cy="2808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16" name="그림 15"/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175256" y="2655234"/>
            <a:ext cx="5400000" cy="2808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28" name="Text 8">
            <a:extLst>
              <a:ext uri="{FF2B5EF4-FFF2-40B4-BE49-F238E27FC236}">
                <a16:creationId xmlns:a16="http://schemas.microsoft.com/office/drawing/2014/main" id="{C4E0718D-8050-AEC6-4F0C-B6AB49DFC8AF}"/>
              </a:ext>
            </a:extLst>
          </p:cNvPr>
          <p:cNvSpPr/>
          <p:nvPr/>
        </p:nvSpPr>
        <p:spPr>
          <a:xfrm>
            <a:off x="1872081" y="5773279"/>
            <a:ext cx="2700000" cy="139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r>
              <a:rPr lang="en-US" altLang="ko-KR" sz="1200" b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00" b="1" dirty="0" err="1">
                <a:latin typeface="맑은 고딕" pitchFamily="34" charset="0"/>
                <a:ea typeface="맑은 고딕" pitchFamily="34" charset="-122"/>
              </a:rPr>
              <a:t>Gitea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</a:rPr>
              <a:t> </a:t>
            </a:r>
            <a:r>
              <a:rPr lang="en-US" altLang="ko-KR" sz="1200" b="1" dirty="0">
                <a:latin typeface="맑은 고딕" pitchFamily="34" charset="0"/>
                <a:ea typeface="맑은 고딕" pitchFamily="34" charset="-122"/>
              </a:rPr>
              <a:t>README 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</a:rPr>
              <a:t>에 </a:t>
            </a:r>
            <a:r>
              <a:rPr lang="en-US" altLang="ko-KR" sz="1200" b="1" dirty="0">
                <a:latin typeface="맑은 고딕" pitchFamily="34" charset="0"/>
                <a:ea typeface="맑은 고딕" pitchFamily="34" charset="-122"/>
              </a:rPr>
              <a:t>NAS 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</a:rPr>
              <a:t>계정 확보 </a:t>
            </a:r>
            <a:endParaRPr lang="en-US" altLang="ko-KR" sz="1200" b="1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D37B475C-A397-603A-D3C1-737F8B70D5A8}"/>
              </a:ext>
            </a:extLst>
          </p:cNvPr>
          <p:cNvSpPr/>
          <p:nvPr/>
        </p:nvSpPr>
        <p:spPr>
          <a:xfrm>
            <a:off x="8350503" y="5773278"/>
            <a:ext cx="1404714" cy="139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r>
              <a:rPr lang="en-US" altLang="ko-KR" sz="1200" b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NAS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데이터 확보</a:t>
            </a:r>
            <a:endParaRPr lang="en-US" altLang="ko-KR" sz="1200" b="1" dirty="0"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A4E56FF7-7172-F87B-8AEB-42FEECFAC75E}"/>
              </a:ext>
            </a:extLst>
          </p:cNvPr>
          <p:cNvSpPr txBox="1">
            <a:spLocks/>
          </p:cNvSpPr>
          <p:nvPr/>
        </p:nvSpPr>
        <p:spPr>
          <a:xfrm>
            <a:off x="438149" y="1197094"/>
            <a:ext cx="11137107" cy="4616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eaLnBrk="0" fontAlgn="base" latinLnBrk="0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u"/>
            </a:pPr>
            <a:r>
              <a:rPr lang="en-US" altLang="ko-KR" sz="1800" b="1" dirty="0">
                <a:latin typeface="Arial" panose="020B0604020202020204" pitchFamily="34" charset="0"/>
              </a:rPr>
              <a:t>NAS </a:t>
            </a:r>
            <a:r>
              <a:rPr lang="ko-KR" altLang="en-US" sz="1800" b="1" dirty="0">
                <a:latin typeface="Arial" panose="020B0604020202020204" pitchFamily="34" charset="0"/>
              </a:rPr>
              <a:t>데이터 확보</a:t>
            </a:r>
            <a:endParaRPr lang="ko-KR" altLang="ko-KR" sz="1800" dirty="0">
              <a:latin typeface="Arial" panose="020B0604020202020204" pitchFamily="34" charset="0"/>
            </a:endParaRPr>
          </a:p>
        </p:txBody>
      </p:sp>
      <p:pic>
        <p:nvPicPr>
          <p:cNvPr id="21" name="그림 20"/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175256" y="2656300"/>
            <a:ext cx="5400000" cy="2808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33745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D3D1A-39B4-FEFC-C605-0A1AF6D94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B3BFD03-F1A8-38A4-2B2F-CE2873682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AEE01C-C28F-6FF6-9C86-F488E389B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fld id="{5E730BA1-3F6D-49E0-8F01-E02E0ED4523B}" type="slidenum">
              <a:rPr lang="ko-KR" altLang="en-US" smtClean="0"/>
              <a:t>18</a:t>
            </a:fld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A63E751-8238-0874-29A1-283B574F5FB2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BDD5B95-8559-FC00-0C64-435383B3C75A}"/>
              </a:ext>
            </a:extLst>
          </p:cNvPr>
          <p:cNvSpPr txBox="1"/>
          <p:nvPr/>
        </p:nvSpPr>
        <p:spPr>
          <a:xfrm>
            <a:off x="285750" y="366003"/>
            <a:ext cx="2557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/>
              <a:t>시나리오 </a:t>
            </a:r>
            <a:r>
              <a:rPr lang="en-US" altLang="ko-KR" sz="2400" b="1"/>
              <a:t>2 - </a:t>
            </a:r>
            <a:r>
              <a:rPr lang="ko-KR" altLang="en-US" sz="2400" b="1"/>
              <a:t>결과 </a:t>
            </a:r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61AD4348-CDAC-EA75-6072-16E32002C762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19CF8293-B24A-3DA2-A47E-EAA3478BF2DF}"/>
              </a:ext>
            </a:extLst>
          </p:cNvPr>
          <p:cNvSpPr/>
          <p:nvPr/>
        </p:nvSpPr>
        <p:spPr>
          <a:xfrm flipV="1">
            <a:off x="426720" y="1808896"/>
            <a:ext cx="11148536" cy="4197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EDCF51A9-A270-1AA9-3D3A-33839BA1B15B}"/>
              </a:ext>
            </a:extLst>
          </p:cNvPr>
          <p:cNvSpPr txBox="1">
            <a:spLocks/>
          </p:cNvSpPr>
          <p:nvPr/>
        </p:nvSpPr>
        <p:spPr>
          <a:xfrm>
            <a:off x="7761438" y="150617"/>
            <a:ext cx="4210613" cy="8909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III.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 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cs typeface="ADLaM Display" panose="020F0502020204030204" pitchFamily="2" charset="0"/>
              </a:rPr>
              <a:t>공격 시나리오 및 검증 결과</a:t>
            </a:r>
            <a:endParaRPr lang="en-US" altLang="ko-KR" sz="2000" b="1">
              <a:solidFill>
                <a:schemeClr val="bg2">
                  <a:lumMod val="90000"/>
                </a:schemeClr>
              </a:solidFill>
              <a:latin typeface="맑은 고딕" panose="020B0503020000020004" pitchFamily="50" charset="-127"/>
              <a:cs typeface="ADLaM Display" panose="020F0502020204030204" pitchFamily="2" charset="0"/>
            </a:endParaRPr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A4E56FF7-7172-F87B-8AEB-42FEECFAC75E}"/>
              </a:ext>
            </a:extLst>
          </p:cNvPr>
          <p:cNvSpPr txBox="1">
            <a:spLocks/>
          </p:cNvSpPr>
          <p:nvPr/>
        </p:nvSpPr>
        <p:spPr>
          <a:xfrm>
            <a:off x="438149" y="1197094"/>
            <a:ext cx="11137107" cy="4616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eaLnBrk="0" fontAlgn="base" latinLnBrk="0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u"/>
            </a:pPr>
            <a:r>
              <a:rPr lang="ko-KR" altLang="en-US" sz="1800" b="1" dirty="0">
                <a:latin typeface="Arial" panose="020B0604020202020204" pitchFamily="34" charset="0"/>
              </a:rPr>
              <a:t>별첨 </a:t>
            </a:r>
            <a:r>
              <a:rPr lang="en-US" altLang="ko-KR" sz="1800" b="1" dirty="0">
                <a:latin typeface="Arial" panose="020B0604020202020204" pitchFamily="34" charset="0"/>
              </a:rPr>
              <a:t>: TeamCity Key / </a:t>
            </a:r>
            <a:r>
              <a:rPr lang="ko-KR" altLang="en-US" sz="1800" b="1" dirty="0">
                <a:latin typeface="Arial" panose="020B0604020202020204" pitchFamily="34" charset="0"/>
              </a:rPr>
              <a:t>제품 설계도</a:t>
            </a:r>
            <a:endParaRPr lang="ko-KR" altLang="ko-KR" sz="1800" dirty="0">
              <a:latin typeface="Arial" panose="020B0604020202020204" pitchFamily="34" charset="0"/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98A03B2F-7149-94D3-EB15-E55A04AC813E}"/>
              </a:ext>
            </a:extLst>
          </p:cNvPr>
          <p:cNvSpPr/>
          <p:nvPr/>
        </p:nvSpPr>
        <p:spPr>
          <a:xfrm>
            <a:off x="519059" y="1978303"/>
            <a:ext cx="10963858" cy="319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</a:rPr>
              <a:t>NAS </a:t>
            </a:r>
            <a:r>
              <a:rPr lang="ko-KR" alt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</a:rPr>
              <a:t>내부 데이터 탈취 </a:t>
            </a:r>
            <a:r>
              <a:rPr lang="en-US" altLang="ko-KR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</a:rPr>
              <a:t>– TeamCity Key </a:t>
            </a:r>
            <a:r>
              <a:rPr lang="ko-KR" alt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</a:rPr>
              <a:t>및 제품 설계도 확보</a:t>
            </a:r>
            <a:endParaRPr lang="en-US" sz="16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B5ACC06-FFDD-61C0-2D28-03B0E15831FC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rcRect l="18654" t="11606" r="19753" b="1530"/>
          <a:stretch>
            <a:fillRect/>
          </a:stretch>
        </p:blipFill>
        <p:spPr>
          <a:xfrm>
            <a:off x="6229783" y="2652090"/>
            <a:ext cx="5400000" cy="2808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25" name="Text 8">
            <a:extLst>
              <a:ext uri="{FF2B5EF4-FFF2-40B4-BE49-F238E27FC236}">
                <a16:creationId xmlns:a16="http://schemas.microsoft.com/office/drawing/2014/main" id="{C4E0718D-8050-AEC6-4F0C-B6AB49DFC8AF}"/>
              </a:ext>
            </a:extLst>
          </p:cNvPr>
          <p:cNvSpPr/>
          <p:nvPr/>
        </p:nvSpPr>
        <p:spPr>
          <a:xfrm>
            <a:off x="2528892" y="5773279"/>
            <a:ext cx="1466651" cy="139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TeamCity Key</a:t>
            </a:r>
            <a:endParaRPr lang="en-US" altLang="ko-KR" sz="1200" b="1" dirty="0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D37B475C-A397-603A-D3C1-737F8B70D5A8}"/>
              </a:ext>
            </a:extLst>
          </p:cNvPr>
          <p:cNvSpPr/>
          <p:nvPr/>
        </p:nvSpPr>
        <p:spPr>
          <a:xfrm>
            <a:off x="8662072" y="5773279"/>
            <a:ext cx="1059792" cy="139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설계도</a:t>
            </a:r>
            <a:endParaRPr lang="en-US" altLang="ko-KR" sz="1200" b="1" dirty="0"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pic>
        <p:nvPicPr>
          <p:cNvPr id="17" name="그림 16"/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62217" y="2666701"/>
            <a:ext cx="5400000" cy="2808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82485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0A0B9-F8EE-2F07-A774-BB966771E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A2E254B2-DD5B-49C2-7AE0-2AC865AEC3DC}"/>
              </a:ext>
            </a:extLst>
          </p:cNvPr>
          <p:cNvSpPr txBox="1"/>
          <p:nvPr/>
        </p:nvSpPr>
        <p:spPr>
          <a:xfrm>
            <a:off x="1273201" y="3366711"/>
            <a:ext cx="1800000" cy="16665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>
                <a:latin typeface="+mj-ea"/>
                <a:ea typeface="+mj-ea"/>
              </a:rPr>
              <a:t>TeamCity</a:t>
            </a:r>
            <a:r>
              <a:rPr lang="ko-KR" altLang="en-US" sz="1400" b="1">
                <a:latin typeface="+mj-ea"/>
                <a:ea typeface="+mj-ea"/>
              </a:rPr>
              <a:t>에서 </a:t>
            </a:r>
            <a:r>
              <a:rPr lang="en-US" altLang="ko-KR" sz="1400" b="1">
                <a:latin typeface="+mj-ea"/>
                <a:ea typeface="+mj-ea"/>
              </a:rPr>
              <a:t>Apache Struts2 </a:t>
            </a:r>
            <a:r>
              <a:rPr lang="ko-KR" altLang="en-US" sz="1400" b="1">
                <a:latin typeface="+mj-ea"/>
                <a:ea typeface="+mj-ea"/>
              </a:rPr>
              <a:t>서버 삭제된 기록을 확인 후 </a:t>
            </a:r>
            <a:r>
              <a:rPr lang="en-US" altLang="ko-KR" sz="1400" b="1">
                <a:latin typeface="+mj-ea"/>
                <a:ea typeface="+mj-ea"/>
              </a:rPr>
              <a:t>Gitea</a:t>
            </a:r>
            <a:r>
              <a:rPr lang="ko-KR" altLang="en-US" sz="1400" b="1">
                <a:latin typeface="+mj-ea"/>
                <a:ea typeface="+mj-ea"/>
              </a:rPr>
              <a:t>에서 소스코드 확보 </a:t>
            </a:r>
            <a:endParaRPr lang="en-US" altLang="ko-KR" sz="1400" b="1" dirty="0">
              <a:latin typeface="+mj-ea"/>
              <a:ea typeface="+mj-ea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8853C7A-0F60-9AB0-F22E-2EC3FE52B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39CF54-E514-CB8C-94ED-32194FBD0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fld id="{5E730BA1-3F6D-49E0-8F01-E02E0ED4523B}" type="slidenum">
              <a:rPr lang="ko-KR" altLang="en-US" smtClean="0"/>
              <a:t>19</a:t>
            </a:fld>
            <a:endParaRPr lang="ko-KR" altLang="en-US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913820F0-0C27-4BF1-9C44-F1CB2BEE5730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979B6F2-A4D2-FE94-40AB-9644FCCAE3CB}"/>
              </a:ext>
            </a:extLst>
          </p:cNvPr>
          <p:cNvSpPr txBox="1"/>
          <p:nvPr/>
        </p:nvSpPr>
        <p:spPr>
          <a:xfrm>
            <a:off x="285750" y="366003"/>
            <a:ext cx="17780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/>
              <a:t>시나리오 </a:t>
            </a:r>
            <a:r>
              <a:rPr lang="en-US" altLang="ko-KR" sz="2400" b="1"/>
              <a:t>3</a:t>
            </a:r>
            <a:r>
              <a:rPr lang="ko-KR" altLang="en-US" sz="2400" b="1"/>
              <a:t>  </a:t>
            </a:r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3FA26441-5BB9-16CD-0202-0498B3ED47CD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00168FE-DC2F-BD2C-CCBC-CB24643A944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91" y="2396205"/>
            <a:ext cx="1080754" cy="1080000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F58B3A45-9FF3-AE36-7575-58AC4D8F1AB3}"/>
              </a:ext>
            </a:extLst>
          </p:cNvPr>
          <p:cNvCxnSpPr>
            <a:cxnSpLocks/>
          </p:cNvCxnSpPr>
          <p:nvPr/>
        </p:nvCxnSpPr>
        <p:spPr>
          <a:xfrm>
            <a:off x="1282031" y="3347555"/>
            <a:ext cx="1800000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251D700-576D-3865-F821-14C38F647BC9}"/>
              </a:ext>
            </a:extLst>
          </p:cNvPr>
          <p:cNvSpPr txBox="1"/>
          <p:nvPr/>
        </p:nvSpPr>
        <p:spPr>
          <a:xfrm>
            <a:off x="9987733" y="3347555"/>
            <a:ext cx="1800000" cy="13433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>
                <a:latin typeface="+mn-ea"/>
              </a:rPr>
              <a:t>확보한 계정 정보를 기반으로 </a:t>
            </a:r>
            <a:r>
              <a:rPr lang="en-US" altLang="ko-KR" sz="1400" b="1">
                <a:latin typeface="+mn-ea"/>
              </a:rPr>
              <a:t>DB</a:t>
            </a:r>
            <a:r>
              <a:rPr lang="ko-KR" altLang="en-US" sz="1400" b="1">
                <a:latin typeface="+mn-ea"/>
              </a:rPr>
              <a:t>에 접근하여 내부 직원 정보 확보</a:t>
            </a:r>
            <a:endParaRPr lang="ko-KR" altLang="en-US" sz="1400" b="1" dirty="0">
              <a:latin typeface="+mn-ea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09B0C52C-593C-6B82-CAC5-13FCCD291664}"/>
              </a:ext>
            </a:extLst>
          </p:cNvPr>
          <p:cNvCxnSpPr>
            <a:cxnSpLocks/>
          </p:cNvCxnSpPr>
          <p:nvPr/>
        </p:nvCxnSpPr>
        <p:spPr>
          <a:xfrm>
            <a:off x="9970072" y="3347555"/>
            <a:ext cx="1800000" cy="0"/>
          </a:xfrm>
          <a:prstGeom prst="straightConnector1">
            <a:avLst/>
          </a:prstGeom>
          <a:ln w="63500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58BAADB-5EF2-95E8-B5A8-E0D111CD2A1E}"/>
              </a:ext>
            </a:extLst>
          </p:cNvPr>
          <p:cNvSpPr txBox="1"/>
          <p:nvPr/>
        </p:nvSpPr>
        <p:spPr>
          <a:xfrm>
            <a:off x="10261965" y="2876357"/>
            <a:ext cx="1216213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+mj-ea"/>
                <a:ea typeface="+mj-ea"/>
              </a:rPr>
              <a:t>데이터 확보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B560E9-7E4A-5353-FB85-0D74F0F8FE00}"/>
              </a:ext>
            </a:extLst>
          </p:cNvPr>
          <p:cNvSpPr txBox="1"/>
          <p:nvPr/>
        </p:nvSpPr>
        <p:spPr>
          <a:xfrm>
            <a:off x="4206887" y="3369692"/>
            <a:ext cx="1800000" cy="16730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>
                <a:latin typeface="+mn-ea"/>
              </a:rPr>
              <a:t>내부 </a:t>
            </a:r>
            <a:r>
              <a:rPr lang="en-US" altLang="ko-KR" sz="1400" b="1">
                <a:latin typeface="+mn-ea"/>
              </a:rPr>
              <a:t>A</a:t>
            </a:r>
            <a:r>
              <a:rPr lang="en-US" altLang="ko-KR" sz="1400" b="1">
                <a:latin typeface="+mj-ea"/>
                <a:ea typeface="+mj-ea"/>
              </a:rPr>
              <a:t>pache</a:t>
            </a:r>
            <a:r>
              <a:rPr lang="ko-KR" altLang="en-US" sz="1400" b="1">
                <a:latin typeface="+mj-ea"/>
                <a:ea typeface="+mj-ea"/>
              </a:rPr>
              <a:t> </a:t>
            </a:r>
            <a:r>
              <a:rPr lang="en-US" altLang="ko-KR" sz="1400" b="1">
                <a:latin typeface="+mj-ea"/>
                <a:ea typeface="+mj-ea"/>
              </a:rPr>
              <a:t>Struts2 </a:t>
            </a:r>
            <a:r>
              <a:rPr lang="ko-KR" altLang="en-US" sz="1400" b="1">
                <a:latin typeface="+mj-ea"/>
                <a:ea typeface="+mj-ea"/>
              </a:rPr>
              <a:t>서비스의 취약점을 악용하여</a:t>
            </a:r>
            <a:r>
              <a:rPr lang="en-US" altLang="ko-KR" sz="1400" b="1">
                <a:latin typeface="+mj-ea"/>
                <a:ea typeface="+mj-ea"/>
              </a:rPr>
              <a:t> </a:t>
            </a:r>
            <a:r>
              <a:rPr lang="ko-KR" altLang="en-US" sz="1400" b="1">
                <a:latin typeface="+mj-ea"/>
                <a:ea typeface="+mj-ea"/>
              </a:rPr>
              <a:t>내부</a:t>
            </a:r>
            <a:r>
              <a:rPr lang="en-US" altLang="ko-KR" sz="1400" b="1">
                <a:latin typeface="+mj-ea"/>
                <a:ea typeface="+mj-ea"/>
              </a:rPr>
              <a:t> </a:t>
            </a:r>
            <a:r>
              <a:rPr lang="ko-KR" altLang="en-US" sz="1400" b="1">
                <a:latin typeface="+mj-ea"/>
                <a:ea typeface="+mj-ea"/>
              </a:rPr>
              <a:t>침투 경로를 확보</a:t>
            </a:r>
            <a:endParaRPr lang="en-US" altLang="ko-KR" sz="1400" b="1" dirty="0">
              <a:latin typeface="+mj-ea"/>
              <a:ea typeface="+mj-ea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25C638C1-5066-831A-3D8F-748A45B2D4EE}"/>
              </a:ext>
            </a:extLst>
          </p:cNvPr>
          <p:cNvCxnSpPr>
            <a:cxnSpLocks/>
          </p:cNvCxnSpPr>
          <p:nvPr/>
        </p:nvCxnSpPr>
        <p:spPr>
          <a:xfrm>
            <a:off x="4189226" y="3369692"/>
            <a:ext cx="1800000" cy="0"/>
          </a:xfrm>
          <a:prstGeom prst="straightConnector1">
            <a:avLst/>
          </a:prstGeom>
          <a:ln w="63500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7A97B50-48C5-957E-BAC5-CF326BF94A6B}"/>
              </a:ext>
            </a:extLst>
          </p:cNvPr>
          <p:cNvSpPr txBox="1"/>
          <p:nvPr/>
        </p:nvSpPr>
        <p:spPr>
          <a:xfrm>
            <a:off x="7176992" y="3373748"/>
            <a:ext cx="1836000" cy="23193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>
                <a:latin typeface="+mn-ea"/>
              </a:rPr>
              <a:t>JSPX</a:t>
            </a:r>
            <a:r>
              <a:rPr lang="ko-KR" altLang="en-US" sz="1400" b="1">
                <a:latin typeface="+mn-ea"/>
              </a:rPr>
              <a:t> 웹쉘을 생성 후 원격 코드 실행을 수행하여 웹서버 권한을 확보하고</a:t>
            </a:r>
            <a:r>
              <a:rPr lang="en-US" altLang="ko-KR" sz="1400" b="1">
                <a:latin typeface="+mn-ea"/>
              </a:rPr>
              <a:t>, </a:t>
            </a:r>
            <a:r>
              <a:rPr lang="ko-KR" altLang="en-US" sz="1400" b="1">
                <a:latin typeface="+mn-ea"/>
              </a:rPr>
              <a:t>내부 설정 파일에 접근하여 </a:t>
            </a:r>
            <a:r>
              <a:rPr lang="en-US" altLang="ko-KR" sz="1400" b="1">
                <a:latin typeface="+mn-ea"/>
              </a:rPr>
              <a:t>DB </a:t>
            </a:r>
            <a:r>
              <a:rPr lang="ko-KR" altLang="en-US" sz="1400" b="1">
                <a:latin typeface="+mn-ea"/>
              </a:rPr>
              <a:t>계정 정보를 확보</a:t>
            </a:r>
            <a:endParaRPr lang="en-US" altLang="ko-KR" sz="1400" b="1" dirty="0">
              <a:latin typeface="+mn-ea"/>
            </a:endParaRP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27676D90-B752-AB60-C108-6C9AA0891E29}"/>
              </a:ext>
            </a:extLst>
          </p:cNvPr>
          <p:cNvCxnSpPr>
            <a:cxnSpLocks/>
          </p:cNvCxnSpPr>
          <p:nvPr/>
        </p:nvCxnSpPr>
        <p:spPr>
          <a:xfrm>
            <a:off x="7159332" y="3373748"/>
            <a:ext cx="1800000" cy="0"/>
          </a:xfrm>
          <a:prstGeom prst="straightConnector1">
            <a:avLst/>
          </a:prstGeom>
          <a:ln w="63500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997B1C3-AE28-E2DC-C1F3-20299EA24980}"/>
              </a:ext>
            </a:extLst>
          </p:cNvPr>
          <p:cNvSpPr txBox="1"/>
          <p:nvPr/>
        </p:nvSpPr>
        <p:spPr>
          <a:xfrm>
            <a:off x="7252592" y="2897555"/>
            <a:ext cx="1532997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>
                <a:latin typeface="+mj-ea"/>
                <a:ea typeface="+mj-ea"/>
              </a:rPr>
              <a:t>설정 파일 접근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B18F303-E470-884C-BA7D-3EF5F4EE7CE7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945" y="2576205"/>
            <a:ext cx="794929" cy="900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AB48E7E-8D8B-F221-9AC6-E7F16A5207FB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307" y="2447555"/>
            <a:ext cx="808688" cy="9000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E5801CF-F4B7-D704-25EB-1E1A442AF289}"/>
              </a:ext>
            </a:extLst>
          </p:cNvPr>
          <p:cNvSpPr txBox="1"/>
          <p:nvPr/>
        </p:nvSpPr>
        <p:spPr>
          <a:xfrm>
            <a:off x="4121860" y="2869881"/>
            <a:ext cx="1892642" cy="380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latin typeface="+mj-ea"/>
                <a:ea typeface="+mj-ea"/>
              </a:rPr>
              <a:t>[3] CVE-2024-53677</a:t>
            </a:r>
            <a:endParaRPr lang="ko-KR" altLang="en-US" sz="1400" b="1" dirty="0">
              <a:latin typeface="+mj-ea"/>
              <a:ea typeface="+mj-ea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2FDD2DAA-DE5F-E3A7-2A18-0EE06820AF9F}"/>
              </a:ext>
            </a:extLst>
          </p:cNvPr>
          <p:cNvSpPr txBox="1">
            <a:spLocks/>
          </p:cNvSpPr>
          <p:nvPr/>
        </p:nvSpPr>
        <p:spPr>
          <a:xfrm>
            <a:off x="7761438" y="150617"/>
            <a:ext cx="4210613" cy="8909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III.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 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cs typeface="ADLaM Display" panose="020F0502020204030204" pitchFamily="2" charset="0"/>
              </a:rPr>
              <a:t>공격 시나리오 및 검증 결과</a:t>
            </a:r>
            <a:endParaRPr lang="en-US" altLang="ko-KR" sz="2000" b="1">
              <a:solidFill>
                <a:schemeClr val="bg2">
                  <a:lumMod val="90000"/>
                </a:schemeClr>
              </a:solidFill>
              <a:latin typeface="맑은 고딕" panose="020B0503020000020004" pitchFamily="50" charset="-127"/>
              <a:cs typeface="ADLaM Display" panose="020F0502020204030204" pitchFamily="2" charset="0"/>
            </a:endParaRPr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1EDA66F7-BC87-C547-46E6-FED59AB0156C}"/>
              </a:ext>
            </a:extLst>
          </p:cNvPr>
          <p:cNvSpPr/>
          <p:nvPr/>
        </p:nvSpPr>
        <p:spPr>
          <a:xfrm flipV="1">
            <a:off x="426720" y="1821958"/>
            <a:ext cx="11148536" cy="4197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제목 1">
            <a:extLst>
              <a:ext uri="{FF2B5EF4-FFF2-40B4-BE49-F238E27FC236}">
                <a16:creationId xmlns:a16="http://schemas.microsoft.com/office/drawing/2014/main" id="{A4E56FF7-7172-F87B-8AEB-42FEECFAC75E}"/>
              </a:ext>
            </a:extLst>
          </p:cNvPr>
          <p:cNvSpPr txBox="1">
            <a:spLocks/>
          </p:cNvSpPr>
          <p:nvPr/>
        </p:nvSpPr>
        <p:spPr>
          <a:xfrm>
            <a:off x="438149" y="1197094"/>
            <a:ext cx="11137107" cy="4616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eaLnBrk="0" fontAlgn="base" latinLnBrk="0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u"/>
            </a:pPr>
            <a:r>
              <a:rPr lang="en-US" altLang="ko-KR" sz="1800" b="1" dirty="0">
                <a:latin typeface="Arial" panose="020B0604020202020204" pitchFamily="34" charset="0"/>
              </a:rPr>
              <a:t>Apache Struts2 </a:t>
            </a:r>
            <a:r>
              <a:rPr lang="ko-KR" altLang="en-US" sz="1800" b="1" dirty="0">
                <a:latin typeface="Arial" panose="020B0604020202020204" pitchFamily="34" charset="0"/>
              </a:rPr>
              <a:t>취약점 검증을 통한 내부 </a:t>
            </a:r>
            <a:r>
              <a:rPr lang="en-US" altLang="ko-KR" sz="1800" b="1" dirty="0">
                <a:latin typeface="Arial" panose="020B0604020202020204" pitchFamily="34" charset="0"/>
              </a:rPr>
              <a:t>DB </a:t>
            </a:r>
            <a:r>
              <a:rPr lang="ko-KR" altLang="en-US" sz="1800" b="1" dirty="0">
                <a:latin typeface="Arial" panose="020B0604020202020204" pitchFamily="34" charset="0"/>
              </a:rPr>
              <a:t>접근 정보 확인</a:t>
            </a:r>
            <a:endParaRPr lang="ko-KR" altLang="ko-KR" sz="1800" dirty="0">
              <a:latin typeface="Arial" panose="020B0604020202020204" pitchFamily="34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700DD2C-7D0D-B1F9-B516-EE8FFE70267D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3" b="9623"/>
          <a:stretch>
            <a:fillRect/>
          </a:stretch>
        </p:blipFill>
        <p:spPr>
          <a:xfrm>
            <a:off x="3082031" y="2711013"/>
            <a:ext cx="900000" cy="74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607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B9EBC-8018-11DA-9738-65D751786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14A9908-1F55-E972-CF87-E23805B41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1AFDAB-C6F8-196F-FA0C-651063CA4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fld id="{5E730BA1-3F6D-49E0-8F01-E02E0ED4523B}" type="slidenum">
              <a:rPr lang="ko-KR" altLang="en-US" smtClean="0"/>
              <a:t>20</a:t>
            </a:fld>
            <a:endParaRPr lang="ko-KR" altLang="en-US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C173859-8E97-401C-A78A-0C9DD24ECB0C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237D266-3984-06EF-54CF-1FADDA4FEDB3}"/>
              </a:ext>
            </a:extLst>
          </p:cNvPr>
          <p:cNvSpPr txBox="1"/>
          <p:nvPr/>
        </p:nvSpPr>
        <p:spPr>
          <a:xfrm>
            <a:off x="285750" y="366003"/>
            <a:ext cx="3310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시나리오 </a:t>
            </a:r>
            <a:r>
              <a:rPr lang="en-US" altLang="ko-KR" sz="2400" b="1"/>
              <a:t>3 - </a:t>
            </a:r>
            <a:r>
              <a:rPr lang="ko-KR" altLang="en-US" sz="2400" b="1"/>
              <a:t> 정보수집 </a:t>
            </a:r>
            <a:endParaRPr lang="ko-KR" altLang="en-US" sz="2400" b="1" dirty="0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DD8D061D-37F8-2097-09B9-B16A39623FEE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 dirty="0"/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E206F21B-76BB-79A3-869B-07B06BB8F169}"/>
              </a:ext>
            </a:extLst>
          </p:cNvPr>
          <p:cNvSpPr/>
          <p:nvPr/>
        </p:nvSpPr>
        <p:spPr>
          <a:xfrm flipV="1">
            <a:off x="426720" y="1808896"/>
            <a:ext cx="11148536" cy="4197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666A0F40-29B4-8A96-C7B1-A0ABCA29F241}"/>
              </a:ext>
            </a:extLst>
          </p:cNvPr>
          <p:cNvSpPr/>
          <p:nvPr/>
        </p:nvSpPr>
        <p:spPr>
          <a:xfrm>
            <a:off x="519059" y="1978303"/>
            <a:ext cx="10963858" cy="319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</a:rPr>
              <a:t>삭제된 </a:t>
            </a:r>
            <a:r>
              <a:rPr lang="en-US" altLang="ko-KR" sz="1600" b="1" dirty="0" err="1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</a:rPr>
              <a:t>gitea</a:t>
            </a:r>
            <a:r>
              <a:rPr lang="en-US" altLang="ko-KR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</a:rPr>
              <a:t> </a:t>
            </a:r>
            <a:r>
              <a:rPr lang="ko-KR" altLang="en-US" sz="1600" b="1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</a:rPr>
              <a:t>정보 확인</a:t>
            </a:r>
            <a:endParaRPr lang="en-US" sz="1600" dirty="0"/>
          </a:p>
        </p:txBody>
      </p:sp>
      <p:sp>
        <p:nvSpPr>
          <p:cNvPr id="52" name="제목 1">
            <a:extLst>
              <a:ext uri="{FF2B5EF4-FFF2-40B4-BE49-F238E27FC236}">
                <a16:creationId xmlns:a16="http://schemas.microsoft.com/office/drawing/2014/main" id="{EFE85A5F-D9A0-155A-3D0D-B2F1CFF660BD}"/>
              </a:ext>
            </a:extLst>
          </p:cNvPr>
          <p:cNvSpPr txBox="1">
            <a:spLocks/>
          </p:cNvSpPr>
          <p:nvPr/>
        </p:nvSpPr>
        <p:spPr>
          <a:xfrm>
            <a:off x="438149" y="1197094"/>
            <a:ext cx="11137107" cy="4616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eaLnBrk="0" fontAlgn="base" latinLnBrk="0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u"/>
            </a:pPr>
            <a:r>
              <a:rPr lang="en-US" altLang="ko-KR" sz="1800" dirty="0">
                <a:latin typeface="Arial" panose="020B0604020202020204" pitchFamily="34" charset="0"/>
              </a:rPr>
              <a:t> </a:t>
            </a:r>
            <a:r>
              <a:rPr lang="ko-KR" altLang="en-US" sz="1800" b="1" dirty="0">
                <a:latin typeface="+mj-ea"/>
              </a:rPr>
              <a:t>삭제된 </a:t>
            </a:r>
            <a:r>
              <a:rPr lang="en-US" altLang="ko-KR" sz="1800" b="1" dirty="0" err="1">
                <a:latin typeface="+mj-ea"/>
              </a:rPr>
              <a:t>gitea</a:t>
            </a:r>
            <a:r>
              <a:rPr lang="en-US" altLang="ko-KR" sz="1800" b="1" dirty="0">
                <a:latin typeface="+mj-ea"/>
              </a:rPr>
              <a:t> </a:t>
            </a:r>
            <a:r>
              <a:rPr lang="ko-KR" altLang="en-US" sz="1800" b="1">
                <a:latin typeface="+mj-ea"/>
              </a:rPr>
              <a:t>정보 확인</a:t>
            </a:r>
            <a:endParaRPr lang="ko-KR" altLang="ko-KR" sz="1800" dirty="0">
              <a:latin typeface="Arial" panose="020B0604020202020204" pitchFamily="34" charset="0"/>
            </a:endParaRP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74B9143B-B0A3-2CB9-57D9-915990F21478}"/>
              </a:ext>
            </a:extLst>
          </p:cNvPr>
          <p:cNvSpPr txBox="1">
            <a:spLocks/>
          </p:cNvSpPr>
          <p:nvPr/>
        </p:nvSpPr>
        <p:spPr>
          <a:xfrm>
            <a:off x="7761438" y="150617"/>
            <a:ext cx="4210613" cy="8909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III.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 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cs typeface="ADLaM Display" panose="020F0502020204030204" pitchFamily="2" charset="0"/>
              </a:rPr>
              <a:t>공격 시나리오 및 검증 결과</a:t>
            </a:r>
            <a:endParaRPr lang="en-US" altLang="ko-KR" sz="2000" b="1">
              <a:solidFill>
                <a:schemeClr val="bg2">
                  <a:lumMod val="90000"/>
                </a:schemeClr>
              </a:solidFill>
              <a:latin typeface="맑은 고딕" panose="020B0503020000020004" pitchFamily="50" charset="-127"/>
              <a:cs typeface="ADLaM Display" panose="020F0502020204030204" pitchFamily="2" charset="0"/>
            </a:endParaRPr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C4E0718D-8050-AEC6-4F0C-B6AB49DFC8AF}"/>
              </a:ext>
            </a:extLst>
          </p:cNvPr>
          <p:cNvSpPr/>
          <p:nvPr/>
        </p:nvSpPr>
        <p:spPr>
          <a:xfrm>
            <a:off x="2127972" y="5773278"/>
            <a:ext cx="2259682" cy="139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Struts Server 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 확인</a:t>
            </a:r>
            <a:endParaRPr lang="en-US" altLang="ko-KR" sz="1200" b="1" dirty="0"/>
          </a:p>
        </p:txBody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6FC6FA32-4471-14A3-1258-7C643D4FB559}"/>
              </a:ext>
            </a:extLst>
          </p:cNvPr>
          <p:cNvSpPr/>
          <p:nvPr/>
        </p:nvSpPr>
        <p:spPr>
          <a:xfrm>
            <a:off x="7501850" y="5772616"/>
            <a:ext cx="2864676" cy="139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r>
              <a:rPr lang="ko-KR" altLang="en-US" sz="1200" b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소스코드</a:t>
            </a:r>
            <a:r>
              <a:rPr lang="en-US" altLang="ko-KR" sz="1200" b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00" b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복제 및 프로젝트 구조 확인</a:t>
            </a:r>
            <a:endParaRPr lang="en-US" altLang="ko-KR" sz="1200" b="1" dirty="0"/>
          </a:p>
        </p:txBody>
      </p:sp>
      <p:pic>
        <p:nvPicPr>
          <p:cNvPr id="16" name="그림 15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57813" y="2634605"/>
            <a:ext cx="5400000" cy="2808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20" name="그림 19"/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234188" y="2634273"/>
            <a:ext cx="5400000" cy="2808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116319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B9EBC-8018-11DA-9738-65D751786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14A9908-1F55-E972-CF87-E23805B41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1AFDAB-C6F8-196F-FA0C-651063CA4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9368" y="6342258"/>
            <a:ext cx="2743200" cy="365125"/>
          </a:xfrm>
        </p:spPr>
        <p:txBody>
          <a:bodyPr/>
          <a:lstStyle/>
          <a:p>
            <a:fld id="{5E730BA1-3F6D-49E0-8F01-E02E0ED4523B}" type="slidenum">
              <a:rPr lang="ko-KR" altLang="en-US" smtClean="0"/>
              <a:t>21</a:t>
            </a:fld>
            <a:endParaRPr lang="ko-KR" altLang="en-US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C173859-8E97-401C-A78A-0C9DD24ECB0C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237D266-3984-06EF-54CF-1FADDA4FEDB3}"/>
              </a:ext>
            </a:extLst>
          </p:cNvPr>
          <p:cNvSpPr txBox="1"/>
          <p:nvPr/>
        </p:nvSpPr>
        <p:spPr>
          <a:xfrm>
            <a:off x="285750" y="366003"/>
            <a:ext cx="3310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/>
              <a:t>시나리오 </a:t>
            </a:r>
            <a:r>
              <a:rPr lang="en-US" altLang="ko-KR" sz="2400" b="1"/>
              <a:t>3 - </a:t>
            </a:r>
            <a:r>
              <a:rPr lang="ko-KR" altLang="en-US" sz="2400" b="1"/>
              <a:t> 정보 수집 </a:t>
            </a:r>
            <a:endParaRPr lang="ko-KR" altLang="en-US" sz="2400" b="1" dirty="0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DD8D061D-37F8-2097-09B9-B16A39623FEE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 dirty="0"/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E206F21B-76BB-79A3-869B-07B06BB8F169}"/>
              </a:ext>
            </a:extLst>
          </p:cNvPr>
          <p:cNvSpPr/>
          <p:nvPr/>
        </p:nvSpPr>
        <p:spPr>
          <a:xfrm flipV="1">
            <a:off x="426720" y="1808896"/>
            <a:ext cx="11148536" cy="4197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666A0F40-29B4-8A96-C7B1-A0ABCA29F241}"/>
              </a:ext>
            </a:extLst>
          </p:cNvPr>
          <p:cNvSpPr/>
          <p:nvPr/>
        </p:nvSpPr>
        <p:spPr>
          <a:xfrm>
            <a:off x="519059" y="1978303"/>
            <a:ext cx="10963858" cy="319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</a:rPr>
              <a:t>다운로드한 소스코드 분석을 통한 취약 버전 및 업로드 경로 확보</a:t>
            </a:r>
            <a:endParaRPr lang="en-US" sz="1600" dirty="0"/>
          </a:p>
        </p:txBody>
      </p:sp>
      <p:sp>
        <p:nvSpPr>
          <p:cNvPr id="52" name="제목 1">
            <a:extLst>
              <a:ext uri="{FF2B5EF4-FFF2-40B4-BE49-F238E27FC236}">
                <a16:creationId xmlns:a16="http://schemas.microsoft.com/office/drawing/2014/main" id="{EFE85A5F-D9A0-155A-3D0D-B2F1CFF660BD}"/>
              </a:ext>
            </a:extLst>
          </p:cNvPr>
          <p:cNvSpPr txBox="1">
            <a:spLocks/>
          </p:cNvSpPr>
          <p:nvPr/>
        </p:nvSpPr>
        <p:spPr>
          <a:xfrm>
            <a:off x="438149" y="1197094"/>
            <a:ext cx="11137107" cy="4616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eaLnBrk="0" fontAlgn="base" latinLnBrk="0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u"/>
            </a:pPr>
            <a:r>
              <a:rPr lang="en-US" altLang="ko-KR" sz="1800" dirty="0">
                <a:latin typeface="Arial" panose="020B0604020202020204" pitchFamily="34" charset="0"/>
              </a:rPr>
              <a:t> </a:t>
            </a:r>
            <a:r>
              <a:rPr lang="en-US" altLang="ko-KR" sz="1800" b="1" dirty="0">
                <a:latin typeface="+mj-ea"/>
              </a:rPr>
              <a:t>Apache Struts2(CVE-2024-53677)</a:t>
            </a:r>
            <a:r>
              <a:rPr lang="en-US" altLang="ko-KR" sz="1800" b="1" dirty="0">
                <a:latin typeface="Arial" panose="020B0604020202020204" pitchFamily="34" charset="0"/>
              </a:rPr>
              <a:t> </a:t>
            </a:r>
            <a:r>
              <a:rPr lang="ko-KR" altLang="en-US" sz="1800" b="1" dirty="0">
                <a:latin typeface="Arial" panose="020B0604020202020204" pitchFamily="34" charset="0"/>
              </a:rPr>
              <a:t> 취약점 검증</a:t>
            </a:r>
            <a:endParaRPr lang="ko-KR" altLang="ko-KR" sz="1800" dirty="0">
              <a:latin typeface="Arial" panose="020B0604020202020204" pitchFamily="34" charset="0"/>
            </a:endParaRP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74B9143B-B0A3-2CB9-57D9-915990F21478}"/>
              </a:ext>
            </a:extLst>
          </p:cNvPr>
          <p:cNvSpPr txBox="1">
            <a:spLocks/>
          </p:cNvSpPr>
          <p:nvPr/>
        </p:nvSpPr>
        <p:spPr>
          <a:xfrm>
            <a:off x="7761438" y="150617"/>
            <a:ext cx="4210613" cy="8909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III.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 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cs typeface="ADLaM Display" panose="020F0502020204030204" pitchFamily="2" charset="0"/>
              </a:rPr>
              <a:t>공격 시나리오 및 검증 결과</a:t>
            </a:r>
            <a:endParaRPr lang="en-US" altLang="ko-KR" sz="2000" b="1">
              <a:solidFill>
                <a:schemeClr val="bg2">
                  <a:lumMod val="90000"/>
                </a:schemeClr>
              </a:solidFill>
              <a:latin typeface="맑은 고딕" panose="020B0503020000020004" pitchFamily="50" charset="-127"/>
              <a:cs typeface="ADLaM Display" panose="020F0502020204030204" pitchFamily="2" charset="0"/>
            </a:endParaRPr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4455761F-D739-5068-367F-328F31FC2B54}"/>
              </a:ext>
            </a:extLst>
          </p:cNvPr>
          <p:cNvSpPr/>
          <p:nvPr/>
        </p:nvSpPr>
        <p:spPr>
          <a:xfrm>
            <a:off x="598315" y="3437046"/>
            <a:ext cx="3070897" cy="344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/>
          </a:p>
        </p:txBody>
      </p:sp>
      <p:pic>
        <p:nvPicPr>
          <p:cNvPr id="27" name="그림 26"/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234188" y="2636155"/>
            <a:ext cx="5400000" cy="2808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44" name="Text 8">
            <a:extLst>
              <a:ext uri="{FF2B5EF4-FFF2-40B4-BE49-F238E27FC236}">
                <a16:creationId xmlns:a16="http://schemas.microsoft.com/office/drawing/2014/main" id="{C4E0718D-8050-AEC6-4F0C-B6AB49DFC8AF}"/>
              </a:ext>
            </a:extLst>
          </p:cNvPr>
          <p:cNvSpPr/>
          <p:nvPr/>
        </p:nvSpPr>
        <p:spPr>
          <a:xfrm>
            <a:off x="2127972" y="5773278"/>
            <a:ext cx="2259682" cy="139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r>
              <a:rPr lang="en-US" altLang="ko-KR" sz="1200" b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Apache Struts2 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 확인 </a:t>
            </a:r>
            <a:endParaRPr lang="en-US" altLang="ko-KR" sz="1200" b="1" dirty="0"/>
          </a:p>
        </p:txBody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6FC6FA32-4471-14A3-1258-7C643D4FB559}"/>
              </a:ext>
            </a:extLst>
          </p:cNvPr>
          <p:cNvSpPr/>
          <p:nvPr/>
        </p:nvSpPr>
        <p:spPr>
          <a:xfrm>
            <a:off x="8224149" y="5733567"/>
            <a:ext cx="1420078" cy="219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r>
              <a:rPr lang="en-US" altLang="ko-KR" sz="1200" b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 </a:t>
            </a:r>
            <a:r>
              <a:rPr lang="ko-KR" altLang="en-US" sz="1200" b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탐색</a:t>
            </a:r>
            <a:endParaRPr lang="en-US" altLang="ko-KR" sz="1200" b="1" dirty="0"/>
          </a:p>
        </p:txBody>
      </p:sp>
      <p:pic>
        <p:nvPicPr>
          <p:cNvPr id="20" name="그림 19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57971" y="2626427"/>
            <a:ext cx="5400000" cy="2808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980544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E8179-7733-14E4-BF84-E15547130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115EBB2-6B67-29E8-8575-E214269EB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r>
              <a:rPr lang="en-US" altLang="ko-KR" dirty="0"/>
              <a:t>© 2026 Team ONE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DDE0AE-DE0A-6ECB-D190-BF95E0A76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fld id="{5E730BA1-3F6D-49E0-8F01-E02E0ED4523B}" type="slidenum">
              <a:rPr lang="ko-KR" altLang="en-US" smtClean="0"/>
              <a:t>22</a:t>
            </a:fld>
            <a:endParaRPr lang="ko-KR" altLang="en-US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BE5A81F-43A4-8979-03C6-B5D331855F87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94C30D8-F368-06D7-8638-A05F2618E13B}"/>
              </a:ext>
            </a:extLst>
          </p:cNvPr>
          <p:cNvSpPr txBox="1"/>
          <p:nvPr/>
        </p:nvSpPr>
        <p:spPr>
          <a:xfrm>
            <a:off x="285750" y="366003"/>
            <a:ext cx="3241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시나리오 </a:t>
            </a:r>
            <a:r>
              <a:rPr lang="en-US" altLang="ko-KR" sz="2400" b="1"/>
              <a:t>3 - </a:t>
            </a:r>
            <a:r>
              <a:rPr lang="ko-KR" altLang="en-US" sz="2400" b="1"/>
              <a:t> 정보수집 </a:t>
            </a:r>
            <a:endParaRPr lang="ko-KR" altLang="en-US" sz="2400" b="1" dirty="0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89B24704-F884-8F51-5EED-1CA6C9805932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 dirty="0"/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C8F40DC7-F818-B13F-C85D-292EBE96FECB}"/>
              </a:ext>
            </a:extLst>
          </p:cNvPr>
          <p:cNvSpPr/>
          <p:nvPr/>
        </p:nvSpPr>
        <p:spPr>
          <a:xfrm flipV="1">
            <a:off x="426720" y="1808896"/>
            <a:ext cx="11148536" cy="4197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87584AC0-0BBE-D333-C8AA-DB5C2D713D11}"/>
              </a:ext>
            </a:extLst>
          </p:cNvPr>
          <p:cNvSpPr/>
          <p:nvPr/>
        </p:nvSpPr>
        <p:spPr>
          <a:xfrm>
            <a:off x="519059" y="1978303"/>
            <a:ext cx="10963858" cy="319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</a:rPr>
              <a:t>업로드 검증 </a:t>
            </a:r>
            <a:r>
              <a:rPr lang="ko-KR" altLang="en-US" sz="1600" b="1" dirty="0" err="1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</a:rPr>
              <a:t>로직</a:t>
            </a:r>
            <a:r>
              <a:rPr lang="ko-KR" alt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</a:rPr>
              <a:t> 분석 </a:t>
            </a:r>
            <a:r>
              <a:rPr lang="en-US" altLang="ko-KR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</a:rPr>
              <a:t>– </a:t>
            </a:r>
            <a:r>
              <a:rPr lang="ko-KR" altLang="en-US" sz="1600" b="1" dirty="0" err="1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</a:rPr>
              <a:t>확장자</a:t>
            </a:r>
            <a:r>
              <a:rPr lang="ko-KR" alt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</a:rPr>
              <a:t> </a:t>
            </a:r>
            <a:r>
              <a:rPr lang="ko-KR" altLang="en-US" sz="1600" b="1" dirty="0" err="1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</a:rPr>
              <a:t>미검증</a:t>
            </a:r>
            <a:r>
              <a:rPr lang="ko-KR" alt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</a:rPr>
              <a:t> 및 필터 우회 확인</a:t>
            </a:r>
            <a:endParaRPr lang="en-US" sz="1600" dirty="0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AA5F9FD6-D5B5-7113-E710-12A7A3F36171}"/>
              </a:ext>
            </a:extLst>
          </p:cNvPr>
          <p:cNvSpPr txBox="1">
            <a:spLocks/>
          </p:cNvSpPr>
          <p:nvPr/>
        </p:nvSpPr>
        <p:spPr>
          <a:xfrm>
            <a:off x="7761438" y="150617"/>
            <a:ext cx="4210613" cy="8909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III.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 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cs typeface="ADLaM Display" panose="020F0502020204030204" pitchFamily="2" charset="0"/>
              </a:rPr>
              <a:t>공격 시나리오 및 검증 결과</a:t>
            </a:r>
            <a:endParaRPr lang="en-US" altLang="ko-KR" sz="2000" b="1">
              <a:solidFill>
                <a:schemeClr val="bg2">
                  <a:lumMod val="90000"/>
                </a:schemeClr>
              </a:solidFill>
              <a:latin typeface="맑은 고딕" panose="020B0503020000020004" pitchFamily="50" charset="-127"/>
              <a:cs typeface="ADLaM Display" panose="020F0502020204030204" pitchFamily="2" charset="0"/>
            </a:endParaRPr>
          </a:p>
        </p:txBody>
      </p:sp>
      <p:sp>
        <p:nvSpPr>
          <p:cNvPr id="53" name="제목 1">
            <a:extLst>
              <a:ext uri="{FF2B5EF4-FFF2-40B4-BE49-F238E27FC236}">
                <a16:creationId xmlns:a16="http://schemas.microsoft.com/office/drawing/2014/main" id="{A4E56FF7-7172-F87B-8AEB-42FEECFAC75E}"/>
              </a:ext>
            </a:extLst>
          </p:cNvPr>
          <p:cNvSpPr txBox="1">
            <a:spLocks/>
          </p:cNvSpPr>
          <p:nvPr/>
        </p:nvSpPr>
        <p:spPr>
          <a:xfrm>
            <a:off x="438149" y="1197094"/>
            <a:ext cx="11137107" cy="4616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eaLnBrk="0" fontAlgn="base" latinLnBrk="0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u"/>
            </a:pPr>
            <a:r>
              <a:rPr lang="ko-KR" altLang="en-US" sz="1800" b="1" dirty="0">
                <a:latin typeface="Arial" panose="020B0604020202020204" pitchFamily="34" charset="0"/>
              </a:rPr>
              <a:t>파일 업로드 취약점 코드 분석</a:t>
            </a:r>
            <a:endParaRPr lang="ko-KR" altLang="ko-KR" sz="1800" dirty="0">
              <a:latin typeface="Arial" panose="020B0604020202020204" pitchFamily="34" charset="0"/>
            </a:endParaRPr>
          </a:p>
        </p:txBody>
      </p:sp>
      <p:sp>
        <p:nvSpPr>
          <p:cNvPr id="69" name="Text 8">
            <a:extLst>
              <a:ext uri="{FF2B5EF4-FFF2-40B4-BE49-F238E27FC236}">
                <a16:creationId xmlns:a16="http://schemas.microsoft.com/office/drawing/2014/main" id="{C4E0718D-8050-AEC6-4F0C-B6AB49DFC8AF}"/>
              </a:ext>
            </a:extLst>
          </p:cNvPr>
          <p:cNvSpPr/>
          <p:nvPr/>
        </p:nvSpPr>
        <p:spPr>
          <a:xfrm>
            <a:off x="2106577" y="5772616"/>
            <a:ext cx="2259682" cy="13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r>
              <a:rPr lang="en-US" altLang="ko-KR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파일명</a:t>
            </a:r>
            <a:r>
              <a:rPr lang="en-US" altLang="ko-KR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</a:t>
            </a:r>
            <a:r>
              <a:rPr lang="ko-KR" altLang="en-US" sz="120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확장자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검증 누락</a:t>
            </a:r>
            <a:endParaRPr lang="en-US" altLang="ko-KR" sz="1200" b="1" dirty="0"/>
          </a:p>
        </p:txBody>
      </p:sp>
      <p:sp>
        <p:nvSpPr>
          <p:cNvPr id="70" name="Text 9">
            <a:extLst>
              <a:ext uri="{FF2B5EF4-FFF2-40B4-BE49-F238E27FC236}">
                <a16:creationId xmlns:a16="http://schemas.microsoft.com/office/drawing/2014/main" id="{6FC6FA32-4471-14A3-1258-7C643D4FB559}"/>
              </a:ext>
            </a:extLst>
          </p:cNvPr>
          <p:cNvSpPr/>
          <p:nvPr/>
        </p:nvSpPr>
        <p:spPr>
          <a:xfrm>
            <a:off x="7305656" y="5772616"/>
            <a:ext cx="3299852" cy="13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r>
              <a:rPr lang="en-US" altLang="ko-KR" sz="1200" b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JSP 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차단 필터</a:t>
            </a:r>
            <a:r>
              <a:rPr lang="en-US" altLang="ko-KR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– 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파일명 및 경로 우회 확인 </a:t>
            </a:r>
            <a:endParaRPr lang="en-US" altLang="ko-KR" sz="1200" b="1" dirty="0"/>
          </a:p>
        </p:txBody>
      </p:sp>
      <p:pic>
        <p:nvPicPr>
          <p:cNvPr id="25" name="그림 24"/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36418" y="2637579"/>
            <a:ext cx="5400000" cy="2808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30" name="그림 29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55582" y="2626429"/>
            <a:ext cx="5400000" cy="2808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3917002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E8179-7733-14E4-BF84-E15547130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115EBB2-6B67-29E8-8575-E214269EB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r>
              <a:rPr lang="en-US" altLang="ko-KR"/>
              <a:t>© 2026 Team ONE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DDE0AE-DE0A-6ECB-D190-BF95E0A76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fld id="{5E730BA1-3F6D-49E0-8F01-E02E0ED4523B}" type="slidenum">
              <a:rPr lang="ko-KR" altLang="en-US" smtClean="0"/>
              <a:t>23</a:t>
            </a:fld>
            <a:endParaRPr lang="ko-KR" altLang="en-US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BE5A81F-43A4-8979-03C6-B5D331855F87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94C30D8-F368-06D7-8638-A05F2618E13B}"/>
              </a:ext>
            </a:extLst>
          </p:cNvPr>
          <p:cNvSpPr txBox="1"/>
          <p:nvPr/>
        </p:nvSpPr>
        <p:spPr>
          <a:xfrm>
            <a:off x="285750" y="366003"/>
            <a:ext cx="3241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/>
              <a:t>시나리오 </a:t>
            </a:r>
            <a:r>
              <a:rPr lang="en-US" altLang="ko-KR" sz="2400" b="1"/>
              <a:t>3 - </a:t>
            </a:r>
            <a:r>
              <a:rPr lang="ko-KR" altLang="en-US" sz="2400" b="1"/>
              <a:t> 공격과정 </a:t>
            </a:r>
            <a:endParaRPr lang="ko-KR" altLang="en-US" sz="2400" b="1" dirty="0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89B24704-F884-8F51-5EED-1CA6C9805932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 dirty="0"/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C8F40DC7-F818-B13F-C85D-292EBE96FECB}"/>
              </a:ext>
            </a:extLst>
          </p:cNvPr>
          <p:cNvSpPr/>
          <p:nvPr/>
        </p:nvSpPr>
        <p:spPr>
          <a:xfrm flipV="1">
            <a:off x="426720" y="1808896"/>
            <a:ext cx="11148536" cy="4197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87584AC0-0BBE-D333-C8AA-DB5C2D713D11}"/>
              </a:ext>
            </a:extLst>
          </p:cNvPr>
          <p:cNvSpPr/>
          <p:nvPr/>
        </p:nvSpPr>
        <p:spPr>
          <a:xfrm>
            <a:off x="519059" y="1978303"/>
            <a:ext cx="10963858" cy="319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</a:rPr>
              <a:t>Content-Type </a:t>
            </a:r>
            <a:r>
              <a:rPr lang="ko-KR" alt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</a:rPr>
              <a:t>변경 후 원격 코드 실행</a:t>
            </a:r>
            <a:endParaRPr lang="en-US" sz="1600" dirty="0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AA5F9FD6-D5B5-7113-E710-12A7A3F36171}"/>
              </a:ext>
            </a:extLst>
          </p:cNvPr>
          <p:cNvSpPr txBox="1">
            <a:spLocks/>
          </p:cNvSpPr>
          <p:nvPr/>
        </p:nvSpPr>
        <p:spPr>
          <a:xfrm>
            <a:off x="7761438" y="150617"/>
            <a:ext cx="4210613" cy="8909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III.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 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cs typeface="ADLaM Display" panose="020F0502020204030204" pitchFamily="2" charset="0"/>
              </a:rPr>
              <a:t>공격 시나리오 및 검증 결과</a:t>
            </a:r>
            <a:endParaRPr lang="en-US" altLang="ko-KR" sz="2000" b="1">
              <a:solidFill>
                <a:schemeClr val="bg2">
                  <a:lumMod val="90000"/>
                </a:schemeClr>
              </a:solidFill>
              <a:latin typeface="맑은 고딕" panose="020B0503020000020004" pitchFamily="50" charset="-127"/>
              <a:cs typeface="ADLaM Display" panose="020F0502020204030204" pitchFamily="2" charset="0"/>
            </a:endParaRPr>
          </a:p>
        </p:txBody>
      </p:sp>
      <p:sp>
        <p:nvSpPr>
          <p:cNvPr id="69" name="Text 8">
            <a:extLst>
              <a:ext uri="{FF2B5EF4-FFF2-40B4-BE49-F238E27FC236}">
                <a16:creationId xmlns:a16="http://schemas.microsoft.com/office/drawing/2014/main" id="{C4E0718D-8050-AEC6-4F0C-B6AB49DFC8AF}"/>
              </a:ext>
            </a:extLst>
          </p:cNvPr>
          <p:cNvSpPr/>
          <p:nvPr/>
        </p:nvSpPr>
        <p:spPr>
          <a:xfrm>
            <a:off x="1907971" y="5772616"/>
            <a:ext cx="2700000" cy="13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Content-Type 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</a:t>
            </a:r>
            <a:r>
              <a:rPr lang="en-US" altLang="ko-KR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</a:t>
            </a:r>
            <a:r>
              <a:rPr lang="ko-KR" altLang="en-US" sz="120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웹쉘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업로드</a:t>
            </a:r>
            <a:endParaRPr lang="en-US" altLang="ko-KR" sz="1200" b="1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6FC6FA32-4471-14A3-1258-7C643D4FB559}"/>
              </a:ext>
            </a:extLst>
          </p:cNvPr>
          <p:cNvSpPr/>
          <p:nvPr/>
        </p:nvSpPr>
        <p:spPr>
          <a:xfrm>
            <a:off x="7628081" y="5769287"/>
            <a:ext cx="2612214" cy="142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r>
              <a:rPr lang="ko-KR" altLang="en-US" sz="1200" b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원격 코드 실행</a:t>
            </a:r>
            <a:r>
              <a:rPr lang="en-US" altLang="ko-KR" sz="1200" b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 </a:t>
            </a:r>
            <a:r>
              <a:rPr lang="en-US" altLang="ko-KR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명령어 실행</a:t>
            </a:r>
            <a:endParaRPr lang="en-US" altLang="ko-KR" sz="1200" b="1" dirty="0"/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A4E56FF7-7172-F87B-8AEB-42FEECFAC75E}"/>
              </a:ext>
            </a:extLst>
          </p:cNvPr>
          <p:cNvSpPr txBox="1">
            <a:spLocks/>
          </p:cNvSpPr>
          <p:nvPr/>
        </p:nvSpPr>
        <p:spPr>
          <a:xfrm>
            <a:off x="438149" y="1197094"/>
            <a:ext cx="11137107" cy="4616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eaLnBrk="0" fontAlgn="base" latinLnBrk="0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u"/>
            </a:pPr>
            <a:r>
              <a:rPr lang="ko-KR" altLang="en-US" sz="1800" b="1" dirty="0" err="1">
                <a:latin typeface="Arial" panose="020B0604020202020204" pitchFamily="34" charset="0"/>
              </a:rPr>
              <a:t>웹쉘</a:t>
            </a:r>
            <a:r>
              <a:rPr lang="ko-KR" altLang="en-US" sz="1800" b="1" dirty="0">
                <a:latin typeface="Arial" panose="020B0604020202020204" pitchFamily="34" charset="0"/>
              </a:rPr>
              <a:t> 확보 이후 원격 코드 실행</a:t>
            </a:r>
            <a:endParaRPr lang="ko-KR" altLang="ko-KR" sz="1800" dirty="0">
              <a:latin typeface="Arial" panose="020B0604020202020204" pitchFamily="34" charset="0"/>
            </a:endParaRPr>
          </a:p>
        </p:txBody>
      </p:sp>
      <p:pic>
        <p:nvPicPr>
          <p:cNvPr id="20" name="그림 19"/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234109" y="2644551"/>
            <a:ext cx="5400000" cy="2808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22" name="그림 21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57892" y="2634823"/>
            <a:ext cx="5400000" cy="2808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9959365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E8179-7733-14E4-BF84-E15547130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115EBB2-6B67-29E8-8575-E214269EB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r>
              <a:rPr lang="en-US" altLang="ko-KR"/>
              <a:t>© 2026 Team ONE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DDE0AE-DE0A-6ECB-D190-BF95E0A76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fld id="{5E730BA1-3F6D-49E0-8F01-E02E0ED4523B}" type="slidenum">
              <a:rPr lang="ko-KR" altLang="en-US" smtClean="0"/>
              <a:t>24</a:t>
            </a:fld>
            <a:endParaRPr lang="ko-KR" altLang="en-US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BE5A81F-43A4-8979-03C6-B5D331855F87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94C30D8-F368-06D7-8638-A05F2618E13B}"/>
              </a:ext>
            </a:extLst>
          </p:cNvPr>
          <p:cNvSpPr txBox="1"/>
          <p:nvPr/>
        </p:nvSpPr>
        <p:spPr>
          <a:xfrm>
            <a:off x="285750" y="366003"/>
            <a:ext cx="3241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시나리오 </a:t>
            </a:r>
            <a:r>
              <a:rPr lang="en-US" altLang="ko-KR" sz="2400" b="1" dirty="0"/>
              <a:t>3 - </a:t>
            </a:r>
            <a:r>
              <a:rPr lang="ko-KR" altLang="en-US" sz="2400" b="1" dirty="0"/>
              <a:t> </a:t>
            </a:r>
            <a:r>
              <a:rPr lang="ko-KR" altLang="en-US" sz="2400" b="1" dirty="0" err="1"/>
              <a:t>공격과정</a:t>
            </a:r>
            <a:r>
              <a:rPr lang="ko-KR" altLang="en-US" sz="2400" b="1" dirty="0"/>
              <a:t> </a:t>
            </a:r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89B24704-F884-8F51-5EED-1CA6C9805932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 dirty="0"/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C8F40DC7-F818-B13F-C85D-292EBE96FECB}"/>
              </a:ext>
            </a:extLst>
          </p:cNvPr>
          <p:cNvSpPr/>
          <p:nvPr/>
        </p:nvSpPr>
        <p:spPr>
          <a:xfrm flipV="1">
            <a:off x="426720" y="1808896"/>
            <a:ext cx="11148536" cy="4197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87584AC0-0BBE-D333-C8AA-DB5C2D713D11}"/>
              </a:ext>
            </a:extLst>
          </p:cNvPr>
          <p:cNvSpPr/>
          <p:nvPr/>
        </p:nvSpPr>
        <p:spPr>
          <a:xfrm>
            <a:off x="519059" y="1978303"/>
            <a:ext cx="10963858" cy="319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</a:rPr>
              <a:t>설정 파일 내 </a:t>
            </a:r>
            <a:r>
              <a:rPr lang="ko-KR" altLang="en-US" sz="1600" b="1" dirty="0" err="1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</a:rPr>
              <a:t>하드코딩된</a:t>
            </a:r>
            <a:r>
              <a:rPr lang="ko-KR" alt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</a:rPr>
              <a:t> </a:t>
            </a:r>
            <a:r>
              <a:rPr lang="en-US" altLang="ko-KR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</a:rPr>
              <a:t>DB </a:t>
            </a:r>
            <a:r>
              <a:rPr lang="ko-KR" alt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</a:rPr>
              <a:t>계정 정보 탈취</a:t>
            </a:r>
            <a:endParaRPr lang="en-US" sz="1600" dirty="0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AA5F9FD6-D5B5-7113-E710-12A7A3F36171}"/>
              </a:ext>
            </a:extLst>
          </p:cNvPr>
          <p:cNvSpPr txBox="1">
            <a:spLocks/>
          </p:cNvSpPr>
          <p:nvPr/>
        </p:nvSpPr>
        <p:spPr>
          <a:xfrm>
            <a:off x="7761438" y="150617"/>
            <a:ext cx="4210613" cy="8909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III.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 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cs typeface="ADLaM Display" panose="020F0502020204030204" pitchFamily="2" charset="0"/>
              </a:rPr>
              <a:t>공격 시나리오 및 검증 결과</a:t>
            </a:r>
            <a:endParaRPr lang="en-US" altLang="ko-KR" sz="2000" b="1">
              <a:solidFill>
                <a:schemeClr val="bg2">
                  <a:lumMod val="90000"/>
                </a:schemeClr>
              </a:solidFill>
              <a:latin typeface="맑은 고딕" panose="020B0503020000020004" pitchFamily="50" charset="-127"/>
              <a:cs typeface="ADLaM Display" panose="020F0502020204030204" pitchFamily="2" charset="0"/>
            </a:endParaRPr>
          </a:p>
        </p:txBody>
      </p:sp>
      <p:sp>
        <p:nvSpPr>
          <p:cNvPr id="69" name="Text 8">
            <a:extLst>
              <a:ext uri="{FF2B5EF4-FFF2-40B4-BE49-F238E27FC236}">
                <a16:creationId xmlns:a16="http://schemas.microsoft.com/office/drawing/2014/main" id="{C4E0718D-8050-AEC6-4F0C-B6AB49DFC8AF}"/>
              </a:ext>
            </a:extLst>
          </p:cNvPr>
          <p:cNvSpPr/>
          <p:nvPr/>
        </p:nvSpPr>
        <p:spPr>
          <a:xfrm>
            <a:off x="1917903" y="5772616"/>
            <a:ext cx="2700000" cy="13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r>
              <a:rPr lang="en-US" altLang="ko-KR" sz="1200" b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파일에서 </a:t>
            </a:r>
            <a:r>
              <a:rPr lang="en-US" altLang="ko-KR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정보 확인</a:t>
            </a:r>
            <a:endParaRPr lang="en-US" altLang="ko-KR" sz="1200" b="1" dirty="0"/>
          </a:p>
        </p:txBody>
      </p:sp>
      <p:sp>
        <p:nvSpPr>
          <p:cNvPr id="70" name="Text 9">
            <a:extLst>
              <a:ext uri="{FF2B5EF4-FFF2-40B4-BE49-F238E27FC236}">
                <a16:creationId xmlns:a16="http://schemas.microsoft.com/office/drawing/2014/main" id="{6FC6FA32-4471-14A3-1258-7C643D4FB559}"/>
              </a:ext>
            </a:extLst>
          </p:cNvPr>
          <p:cNvSpPr/>
          <p:nvPr/>
        </p:nvSpPr>
        <p:spPr>
          <a:xfrm>
            <a:off x="8109334" y="5769287"/>
            <a:ext cx="1629529" cy="135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r>
              <a:rPr lang="en-US" altLang="ko-KR" sz="1200" b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접근 성공</a:t>
            </a:r>
            <a:endParaRPr lang="en-US" altLang="ko-KR" sz="1200" b="1" dirty="0"/>
          </a:p>
        </p:txBody>
      </p:sp>
      <p:pic>
        <p:nvPicPr>
          <p:cNvPr id="17" name="그림 16"/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67903" y="2581614"/>
            <a:ext cx="5400000" cy="2808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26" name="제목 1">
            <a:extLst>
              <a:ext uri="{FF2B5EF4-FFF2-40B4-BE49-F238E27FC236}">
                <a16:creationId xmlns:a16="http://schemas.microsoft.com/office/drawing/2014/main" id="{A4E56FF7-7172-F87B-8AEB-42FEECFAC75E}"/>
              </a:ext>
            </a:extLst>
          </p:cNvPr>
          <p:cNvSpPr txBox="1">
            <a:spLocks/>
          </p:cNvSpPr>
          <p:nvPr/>
        </p:nvSpPr>
        <p:spPr>
          <a:xfrm>
            <a:off x="438149" y="1197094"/>
            <a:ext cx="11137107" cy="4616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eaLnBrk="0" fontAlgn="base" latinLnBrk="0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u"/>
            </a:pPr>
            <a:r>
              <a:rPr lang="ko-KR" altLang="en-US" sz="1800" b="1" dirty="0">
                <a:latin typeface="Arial" panose="020B0604020202020204" pitchFamily="34" charset="0"/>
              </a:rPr>
              <a:t>내부 </a:t>
            </a:r>
            <a:r>
              <a:rPr lang="en-US" altLang="ko-KR" sz="1800" b="1" dirty="0">
                <a:latin typeface="Arial" panose="020B0604020202020204" pitchFamily="34" charset="0"/>
              </a:rPr>
              <a:t>DB </a:t>
            </a:r>
            <a:r>
              <a:rPr lang="ko-KR" altLang="en-US" sz="1800" b="1" dirty="0">
                <a:latin typeface="Arial" panose="020B0604020202020204" pitchFamily="34" charset="0"/>
              </a:rPr>
              <a:t>접근 정보 확인</a:t>
            </a:r>
            <a:endParaRPr lang="ko-KR" altLang="ko-KR" sz="1800" dirty="0">
              <a:latin typeface="Arial" panose="020B0604020202020204" pitchFamily="34" charset="0"/>
            </a:endParaRPr>
          </a:p>
        </p:txBody>
      </p:sp>
      <p:pic>
        <p:nvPicPr>
          <p:cNvPr id="16" name="그림 15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24098" y="2571886"/>
            <a:ext cx="5400000" cy="2808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8093639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5B66A-95C3-E247-E8F1-2400DC2DA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4E0AF1C-73DC-04C7-F2F5-6DBF36380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4A4B39-3F48-EAF1-21FF-89127A818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fld id="{5E730BA1-3F6D-49E0-8F01-E02E0ED4523B}" type="slidenum">
              <a:rPr lang="ko-KR" altLang="en-US" smtClean="0"/>
              <a:t>25</a:t>
            </a:fld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7460E18-D537-DF57-9A17-24AE8A8031F6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83A9913-EF57-72F4-5AF4-48DE7005A80A}"/>
              </a:ext>
            </a:extLst>
          </p:cNvPr>
          <p:cNvSpPr txBox="1"/>
          <p:nvPr/>
        </p:nvSpPr>
        <p:spPr>
          <a:xfrm>
            <a:off x="285750" y="366003"/>
            <a:ext cx="26260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시나리오 </a:t>
            </a:r>
            <a:r>
              <a:rPr lang="en-US" altLang="ko-KR" sz="2400" b="1" dirty="0"/>
              <a:t>3 - </a:t>
            </a:r>
            <a:r>
              <a:rPr lang="ko-KR" altLang="en-US" sz="2400" b="1" dirty="0"/>
              <a:t>결과  </a:t>
            </a:r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B8CE7163-1719-1655-9864-92B02C5DB87A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1153260F-C122-2214-0EC0-2BB199CDA592}"/>
              </a:ext>
            </a:extLst>
          </p:cNvPr>
          <p:cNvSpPr txBox="1">
            <a:spLocks/>
          </p:cNvSpPr>
          <p:nvPr/>
        </p:nvSpPr>
        <p:spPr>
          <a:xfrm>
            <a:off x="7761438" y="150617"/>
            <a:ext cx="4210613" cy="8909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III.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 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cs typeface="ADLaM Display" panose="020F0502020204030204" pitchFamily="2" charset="0"/>
              </a:rPr>
              <a:t>공격 시나리오 및 검증 결과</a:t>
            </a:r>
            <a:endParaRPr lang="en-US" altLang="ko-KR" sz="2000" b="1">
              <a:solidFill>
                <a:schemeClr val="bg2">
                  <a:lumMod val="90000"/>
                </a:schemeClr>
              </a:solidFill>
              <a:latin typeface="맑은 고딕" panose="020B0503020000020004" pitchFamily="50" charset="-127"/>
              <a:cs typeface="ADLaM Display" panose="020F0502020204030204" pitchFamily="2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EED4525-4814-0842-2EFF-E850A9BE2AE6}"/>
              </a:ext>
            </a:extLst>
          </p:cNvPr>
          <p:cNvSpPr/>
          <p:nvPr/>
        </p:nvSpPr>
        <p:spPr>
          <a:xfrm>
            <a:off x="4524950" y="6021524"/>
            <a:ext cx="3142100" cy="344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확인한 데이터</a:t>
            </a:r>
            <a:endParaRPr lang="en-US" altLang="ko-KR" sz="1200" b="1" dirty="0"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F5041717-E8F4-AD6C-156F-C3E4B7DB5C16}"/>
              </a:ext>
            </a:extLst>
          </p:cNvPr>
          <p:cNvSpPr txBox="1">
            <a:spLocks/>
          </p:cNvSpPr>
          <p:nvPr/>
        </p:nvSpPr>
        <p:spPr>
          <a:xfrm>
            <a:off x="438149" y="1197094"/>
            <a:ext cx="11137107" cy="4616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eaLnBrk="0" fontAlgn="base" latinLnBrk="0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u"/>
            </a:pPr>
            <a:r>
              <a:rPr lang="ko-KR" altLang="en-US" sz="1800" b="1" dirty="0">
                <a:latin typeface="Arial" panose="020B0604020202020204" pitchFamily="34" charset="0"/>
              </a:rPr>
              <a:t>결과물 내부 직원 데이터 </a:t>
            </a:r>
            <a:r>
              <a:rPr lang="en-US" altLang="ko-KR" sz="1800" b="1" dirty="0">
                <a:latin typeface="Arial" panose="020B0604020202020204" pitchFamily="34" charset="0"/>
              </a:rPr>
              <a:t>(10</a:t>
            </a:r>
            <a:r>
              <a:rPr lang="ko-KR" altLang="en-US" sz="1800" b="1" dirty="0">
                <a:latin typeface="Arial" panose="020B0604020202020204" pitchFamily="34" charset="0"/>
              </a:rPr>
              <a:t>개</a:t>
            </a:r>
            <a:r>
              <a:rPr lang="en-US" altLang="ko-KR" sz="1800" b="1" dirty="0">
                <a:latin typeface="Arial" panose="020B0604020202020204" pitchFamily="34" charset="0"/>
              </a:rPr>
              <a:t>)</a:t>
            </a:r>
            <a:endParaRPr lang="ko-KR" altLang="ko-KR" sz="1800" dirty="0">
              <a:latin typeface="Arial" panose="020B06040202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C4CB0D3-60FC-B8C9-CA8A-A1717B965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48" y="2124421"/>
            <a:ext cx="10897507" cy="343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9320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55691-2D41-E43C-7C1F-5D8F1679C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A70EE064-A7C6-14A8-C076-2CC3C477E149}"/>
              </a:ext>
            </a:extLst>
          </p:cNvPr>
          <p:cNvSpPr txBox="1"/>
          <p:nvPr/>
        </p:nvSpPr>
        <p:spPr>
          <a:xfrm>
            <a:off x="1954025" y="3614244"/>
            <a:ext cx="2160000" cy="1432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latin typeface="+mn-ea"/>
              </a:rPr>
              <a:t>내부 </a:t>
            </a:r>
            <a:r>
              <a:rPr lang="en-US" altLang="ko-KR" sz="1500" b="1" dirty="0">
                <a:latin typeface="+mn-ea"/>
              </a:rPr>
              <a:t>PC</a:t>
            </a:r>
            <a:r>
              <a:rPr lang="ko-KR" altLang="en-US" sz="1500" b="1" dirty="0">
                <a:latin typeface="+mn-ea"/>
              </a:rPr>
              <a:t>의 </a:t>
            </a:r>
            <a:r>
              <a:rPr lang="en-US" altLang="ko-KR" sz="1500" b="1" dirty="0">
                <a:latin typeface="+mn-ea"/>
              </a:rPr>
              <a:t>SSH</a:t>
            </a:r>
            <a:r>
              <a:rPr lang="ko-KR" altLang="en-US" sz="1500" b="1" dirty="0">
                <a:latin typeface="+mn-ea"/>
              </a:rPr>
              <a:t> 키 정보 탈취 </a:t>
            </a:r>
            <a:r>
              <a:rPr lang="ko-KR" altLang="en-US" sz="1500" b="1">
                <a:latin typeface="+mn-ea"/>
              </a:rPr>
              <a:t>후 임시 </a:t>
            </a:r>
            <a:r>
              <a:rPr lang="en-US" altLang="ko-KR" sz="1500" b="1" dirty="0">
                <a:latin typeface="+mn-ea"/>
              </a:rPr>
              <a:t>SSH </a:t>
            </a:r>
            <a:r>
              <a:rPr lang="ko-KR" altLang="en-US" sz="1500" b="1">
                <a:latin typeface="+mn-ea"/>
              </a:rPr>
              <a:t>키를 사용해 </a:t>
            </a:r>
            <a:r>
              <a:rPr lang="en-US" altLang="ko-KR" sz="1500" b="1">
                <a:latin typeface="+mn-ea"/>
              </a:rPr>
              <a:t>Chatbot </a:t>
            </a:r>
            <a:r>
              <a:rPr lang="ko-KR" altLang="en-US" sz="1500" b="1" dirty="0">
                <a:latin typeface="+mn-ea"/>
              </a:rPr>
              <a:t>서버로 공격 확장 시도 </a:t>
            </a:r>
            <a:endParaRPr lang="en-US" altLang="ko-KR" sz="1500" b="1" dirty="0">
              <a:latin typeface="+mn-ea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46BA415-6ABC-CAB6-2453-8D1894EB2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FC7B16-85C1-B8A3-4264-9CF05AC9B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fld id="{5E730BA1-3F6D-49E0-8F01-E02E0ED4523B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854EB74-99ED-5608-F684-C227868C32F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85" y="2683567"/>
            <a:ext cx="1260000" cy="12591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97FC6B7-8F03-2A9D-1F49-C9CF84DFDACE}"/>
              </a:ext>
            </a:extLst>
          </p:cNvPr>
          <p:cNvSpPr txBox="1"/>
          <p:nvPr/>
        </p:nvSpPr>
        <p:spPr>
          <a:xfrm>
            <a:off x="9260586" y="3614244"/>
            <a:ext cx="2160000" cy="1432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latin typeface="+mn-ea"/>
              </a:rPr>
              <a:t>개발자 </a:t>
            </a:r>
            <a:r>
              <a:rPr lang="en-US" altLang="ko-KR" sz="1500" b="1" dirty="0">
                <a:latin typeface="+mn-ea"/>
              </a:rPr>
              <a:t>PC SSH </a:t>
            </a:r>
            <a:r>
              <a:rPr lang="ko-KR" altLang="en-US" sz="1500" b="1" dirty="0">
                <a:latin typeface="+mn-ea"/>
              </a:rPr>
              <a:t>원격 로그인 성공 및 내부 시스템 접근 기반을 확인</a:t>
            </a:r>
            <a:endParaRPr lang="en-US" altLang="ko-KR" sz="1500" b="1" dirty="0">
              <a:latin typeface="+mn-ea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30001417-25DE-AA05-2506-2BF28BD487EA}"/>
              </a:ext>
            </a:extLst>
          </p:cNvPr>
          <p:cNvCxnSpPr>
            <a:cxnSpLocks/>
          </p:cNvCxnSpPr>
          <p:nvPr/>
        </p:nvCxnSpPr>
        <p:spPr>
          <a:xfrm>
            <a:off x="1954025" y="3634917"/>
            <a:ext cx="2160000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79A3EF2-9FA5-C469-88AD-95DD782CB3D4}"/>
              </a:ext>
            </a:extLst>
          </p:cNvPr>
          <p:cNvSpPr txBox="1"/>
          <p:nvPr/>
        </p:nvSpPr>
        <p:spPr>
          <a:xfrm>
            <a:off x="5618225" y="3619981"/>
            <a:ext cx="2160000" cy="1432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b="1" dirty="0" err="1">
                <a:latin typeface="+mn-ea"/>
              </a:rPr>
              <a:t>챗봇에게</a:t>
            </a:r>
            <a:r>
              <a:rPr lang="ko-KR" altLang="en-US" sz="1500" b="1" dirty="0">
                <a:latin typeface="+mn-ea"/>
              </a:rPr>
              <a:t> 시스템 접근 정보 제공을 유도하여 내부 서버 </a:t>
            </a:r>
            <a:r>
              <a:rPr lang="en-US" altLang="ko-KR" sz="1500" b="1" dirty="0">
                <a:latin typeface="+mn-ea"/>
              </a:rPr>
              <a:t>SSH </a:t>
            </a:r>
            <a:r>
              <a:rPr lang="ko-KR" altLang="en-US" sz="1500" b="1" dirty="0">
                <a:latin typeface="+mn-ea"/>
              </a:rPr>
              <a:t>접속 관련 정보 획득</a:t>
            </a:r>
            <a:endParaRPr lang="en-US" altLang="ko-KR" sz="1500" b="1" dirty="0">
              <a:latin typeface="+mn-ea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5D467499-4133-83E9-89CC-E050630AE209}"/>
              </a:ext>
            </a:extLst>
          </p:cNvPr>
          <p:cNvCxnSpPr>
            <a:cxnSpLocks/>
          </p:cNvCxnSpPr>
          <p:nvPr/>
        </p:nvCxnSpPr>
        <p:spPr>
          <a:xfrm>
            <a:off x="5600564" y="3619982"/>
            <a:ext cx="2160000" cy="0"/>
          </a:xfrm>
          <a:prstGeom prst="straightConnector1">
            <a:avLst/>
          </a:prstGeom>
          <a:ln w="63500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7D9118AC-3659-D5C6-9B5F-B95CFAF7AD8C}"/>
              </a:ext>
            </a:extLst>
          </p:cNvPr>
          <p:cNvSpPr txBox="1">
            <a:spLocks/>
          </p:cNvSpPr>
          <p:nvPr/>
        </p:nvSpPr>
        <p:spPr>
          <a:xfrm>
            <a:off x="-121898" y="1197094"/>
            <a:ext cx="10605748" cy="4616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ko-KR" altLang="ko-KR" b="1" dirty="0" err="1">
                <a:latin typeface="+mj-ea"/>
                <a:ea typeface="+mj-ea"/>
              </a:rPr>
              <a:t>챗봇</a:t>
            </a:r>
            <a:r>
              <a:rPr lang="ko-KR" altLang="ko-KR" b="1" dirty="0">
                <a:latin typeface="+mj-ea"/>
                <a:ea typeface="+mj-ea"/>
              </a:rPr>
              <a:t> 프롬프트 </a:t>
            </a:r>
            <a:r>
              <a:rPr lang="ko-KR" altLang="ko-KR" b="1" dirty="0" err="1">
                <a:latin typeface="+mj-ea"/>
                <a:ea typeface="+mj-ea"/>
              </a:rPr>
              <a:t>인젝션을</a:t>
            </a:r>
            <a:r>
              <a:rPr lang="ko-KR" altLang="ko-KR" b="1" dirty="0">
                <a:latin typeface="+mj-ea"/>
                <a:ea typeface="+mj-ea"/>
              </a:rPr>
              <a:t> 통한 개발자 </a:t>
            </a:r>
            <a:r>
              <a:rPr lang="ko-KR" altLang="ko-KR" b="1" dirty="0" err="1">
                <a:latin typeface="+mj-ea"/>
                <a:ea typeface="+mj-ea"/>
              </a:rPr>
              <a:t>데스크탑</a:t>
            </a:r>
            <a:r>
              <a:rPr lang="en-US" altLang="ko-KR" b="1">
                <a:latin typeface="+mj-ea"/>
                <a:ea typeface="+mj-ea"/>
              </a:rPr>
              <a:t> SSH </a:t>
            </a:r>
            <a:r>
              <a:rPr lang="ko-KR" altLang="ko-KR" b="1">
                <a:latin typeface="+mj-ea"/>
                <a:ea typeface="+mj-ea"/>
              </a:rPr>
              <a:t>접속 정보 획득 및 접근 확</a:t>
            </a:r>
            <a:r>
              <a:rPr lang="ko-KR" altLang="en-US" b="1">
                <a:latin typeface="+mj-ea"/>
                <a:ea typeface="+mj-ea"/>
              </a:rPr>
              <a:t>인</a:t>
            </a:r>
            <a:endParaRPr lang="ko-KR" altLang="ko-KR" b="1">
              <a:latin typeface="+mj-ea"/>
              <a:ea typeface="+mj-ea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6E599DA-7DF8-1CEA-B9F7-E8D2301818D4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DE0D4E0-ED34-32EB-E04F-475F8E91B6B4}"/>
              </a:ext>
            </a:extLst>
          </p:cNvPr>
          <p:cNvSpPr txBox="1"/>
          <p:nvPr/>
        </p:nvSpPr>
        <p:spPr>
          <a:xfrm>
            <a:off x="285750" y="366003"/>
            <a:ext cx="17780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/>
              <a:t>시나리오 </a:t>
            </a:r>
            <a:r>
              <a:rPr lang="en-US" altLang="ko-KR" sz="2400" b="1"/>
              <a:t>4</a:t>
            </a:r>
            <a:r>
              <a:rPr lang="ko-KR" altLang="en-US" sz="2400" b="1"/>
              <a:t>  </a:t>
            </a: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4C4290F1-0B32-3A79-886E-11FFAD88AF0D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0EBB58A9-5D31-3A4B-CC0B-04AF94B426B7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6116" y="2702531"/>
            <a:ext cx="1260000" cy="12600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81C2E97-A693-C97A-4AE7-810036188035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8495" y="2814942"/>
            <a:ext cx="1260000" cy="126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790AAF-B346-3C4B-0BE0-724E38D58F0F}"/>
              </a:ext>
            </a:extLst>
          </p:cNvPr>
          <p:cNvSpPr txBox="1"/>
          <p:nvPr/>
        </p:nvSpPr>
        <p:spPr>
          <a:xfrm>
            <a:off x="2063801" y="3145589"/>
            <a:ext cx="1813684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>
                <a:latin typeface="+mj-ea"/>
                <a:ea typeface="+mj-ea"/>
              </a:rPr>
              <a:t>[4] </a:t>
            </a:r>
            <a:r>
              <a:rPr lang="ko-KR" altLang="en-US" sz="1400" b="1">
                <a:latin typeface="+mj-ea"/>
                <a:ea typeface="+mj-ea"/>
              </a:rPr>
              <a:t>프롬프트 인젝션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37C5CB0D-C648-1228-2B34-97FFF71FEFF1}"/>
              </a:ext>
            </a:extLst>
          </p:cNvPr>
          <p:cNvSpPr txBox="1">
            <a:spLocks/>
          </p:cNvSpPr>
          <p:nvPr/>
        </p:nvSpPr>
        <p:spPr>
          <a:xfrm>
            <a:off x="7761438" y="150617"/>
            <a:ext cx="4210613" cy="8909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III.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 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cs typeface="ADLaM Display" panose="020F0502020204030204" pitchFamily="2" charset="0"/>
              </a:rPr>
              <a:t>공격 시나리오 및 검증 결과</a:t>
            </a:r>
            <a:endParaRPr lang="en-US" altLang="ko-KR" sz="2000" b="1">
              <a:solidFill>
                <a:schemeClr val="bg2">
                  <a:lumMod val="90000"/>
                </a:schemeClr>
              </a:solidFill>
              <a:latin typeface="맑은 고딕" panose="020B0503020000020004" pitchFamily="50" charset="-127"/>
              <a:cs typeface="ADLaM Display" panose="020F0502020204030204" pitchFamily="2" charset="0"/>
            </a:endParaRPr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91D77D77-4CDE-1B55-3188-CB5C261B5355}"/>
              </a:ext>
            </a:extLst>
          </p:cNvPr>
          <p:cNvSpPr/>
          <p:nvPr/>
        </p:nvSpPr>
        <p:spPr>
          <a:xfrm flipV="1">
            <a:off x="426720" y="1808896"/>
            <a:ext cx="11148536" cy="4197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E2F2F01A-529A-02E1-AC95-529F6D0DDE81}"/>
              </a:ext>
            </a:extLst>
          </p:cNvPr>
          <p:cNvCxnSpPr>
            <a:cxnSpLocks/>
          </p:cNvCxnSpPr>
          <p:nvPr/>
        </p:nvCxnSpPr>
        <p:spPr>
          <a:xfrm>
            <a:off x="9313398" y="3629937"/>
            <a:ext cx="2160000" cy="0"/>
          </a:xfrm>
          <a:prstGeom prst="straightConnector1">
            <a:avLst/>
          </a:prstGeom>
          <a:ln w="63500">
            <a:solidFill>
              <a:schemeClr val="accent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08157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2A4FF-1D91-CD22-902D-463FDD2D1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D3A3000-1B1E-9777-DB71-FE9AFAD54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04406D-06AB-70F5-83BE-AB2EDEA3F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fld id="{5E730BA1-3F6D-49E0-8F01-E02E0ED4523B}" type="slidenum">
              <a:rPr lang="ko-KR" altLang="en-US" smtClean="0"/>
              <a:t>27</a:t>
            </a:fld>
            <a:endParaRPr lang="ko-KR" altLang="en-US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4ABCFF10-ABA5-C8B0-23DB-7A90B86D8B92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10450BC-139B-3FD8-0C2D-F97637371893}"/>
              </a:ext>
            </a:extLst>
          </p:cNvPr>
          <p:cNvSpPr txBox="1"/>
          <p:nvPr/>
        </p:nvSpPr>
        <p:spPr>
          <a:xfrm>
            <a:off x="285750" y="366003"/>
            <a:ext cx="3379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/>
              <a:t>시나리오 </a:t>
            </a:r>
            <a:r>
              <a:rPr lang="en-US" altLang="ko-KR" sz="2400" b="1"/>
              <a:t>4 - </a:t>
            </a:r>
            <a:r>
              <a:rPr lang="ko-KR" altLang="en-US" sz="2400" b="1"/>
              <a:t>정보 수집</a:t>
            </a:r>
            <a:r>
              <a:rPr lang="en-US" altLang="ko-KR" sz="2400" b="1"/>
              <a:t> </a:t>
            </a:r>
            <a:r>
              <a:rPr lang="ko-KR" altLang="en-US" sz="2400" b="1"/>
              <a:t>  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D9BF5CA-AAE0-78CD-ECE9-3C2D1BAC911F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BF0A8B0-7CB1-0E93-86CB-517D34DF7061}"/>
              </a:ext>
            </a:extLst>
          </p:cNvPr>
          <p:cNvSpPr txBox="1">
            <a:spLocks/>
          </p:cNvSpPr>
          <p:nvPr/>
        </p:nvSpPr>
        <p:spPr>
          <a:xfrm>
            <a:off x="7761438" y="150617"/>
            <a:ext cx="4210613" cy="8909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III.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 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cs typeface="ADLaM Display" panose="020F0502020204030204" pitchFamily="2" charset="0"/>
              </a:rPr>
              <a:t>공격 시나리오 및 검증 결과</a:t>
            </a:r>
            <a:endParaRPr lang="en-US" altLang="ko-KR" sz="2000" b="1">
              <a:solidFill>
                <a:schemeClr val="bg2">
                  <a:lumMod val="90000"/>
                </a:schemeClr>
              </a:solidFill>
              <a:latin typeface="맑은 고딕" panose="020B0503020000020004" pitchFamily="50" charset="-127"/>
              <a:cs typeface="ADLaM Display" panose="020F0502020204030204" pitchFamily="2" charset="0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282693F-FE6B-50E0-E3BD-C055734C8D75}"/>
              </a:ext>
            </a:extLst>
          </p:cNvPr>
          <p:cNvSpPr/>
          <p:nvPr/>
        </p:nvSpPr>
        <p:spPr>
          <a:xfrm flipV="1">
            <a:off x="426720" y="1808896"/>
            <a:ext cx="11148536" cy="4197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C4E0718D-8050-AEC6-4F0C-B6AB49DFC8AF}"/>
              </a:ext>
            </a:extLst>
          </p:cNvPr>
          <p:cNvSpPr/>
          <p:nvPr/>
        </p:nvSpPr>
        <p:spPr>
          <a:xfrm>
            <a:off x="2457903" y="5772616"/>
            <a:ext cx="1620000" cy="13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r>
              <a:rPr lang="ko-KR" altLang="en-US" sz="120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챗봇</a:t>
            </a:r>
            <a:r>
              <a:rPr lang="en-US" altLang="ko-KR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모델 확인</a:t>
            </a:r>
            <a:endParaRPr lang="en-US" altLang="ko-KR" sz="1200" b="1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6FC6FA32-4471-14A3-1258-7C643D4FB559}"/>
              </a:ext>
            </a:extLst>
          </p:cNvPr>
          <p:cNvSpPr/>
          <p:nvPr/>
        </p:nvSpPr>
        <p:spPr>
          <a:xfrm>
            <a:off x="8204098" y="5769287"/>
            <a:ext cx="1440000" cy="135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r>
              <a:rPr lang="ko-KR" altLang="en-US" sz="120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챗봇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역할 파악</a:t>
            </a:r>
            <a:endParaRPr lang="en-US" altLang="ko-KR" sz="1200" b="1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87584AC0-0BBE-D333-C8AA-DB5C2D713D11}"/>
              </a:ext>
            </a:extLst>
          </p:cNvPr>
          <p:cNvSpPr/>
          <p:nvPr/>
        </p:nvSpPr>
        <p:spPr>
          <a:xfrm>
            <a:off x="519059" y="1978303"/>
            <a:ext cx="10963858" cy="319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 err="1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</a:rPr>
              <a:t>챗봇</a:t>
            </a:r>
            <a:r>
              <a:rPr lang="ko-KR" alt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</a:rPr>
              <a:t> 내부 정보 수집</a:t>
            </a:r>
            <a:endParaRPr lang="en-US" sz="1600" dirty="0"/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A4E56FF7-7172-F87B-8AEB-42FEECFAC75E}"/>
              </a:ext>
            </a:extLst>
          </p:cNvPr>
          <p:cNvSpPr txBox="1">
            <a:spLocks/>
          </p:cNvSpPr>
          <p:nvPr/>
        </p:nvSpPr>
        <p:spPr>
          <a:xfrm>
            <a:off x="438149" y="1197094"/>
            <a:ext cx="11137107" cy="4616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eaLnBrk="0" fontAlgn="base" latinLnBrk="0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u"/>
            </a:pPr>
            <a:r>
              <a:rPr lang="ko-KR" altLang="en-US" sz="1800" b="1" dirty="0">
                <a:latin typeface="Arial" panose="020B0604020202020204" pitchFamily="34" charset="0"/>
              </a:rPr>
              <a:t>취약점 검증을 통해 </a:t>
            </a:r>
            <a:r>
              <a:rPr lang="en-US" altLang="ko-KR" sz="1800" b="1" dirty="0" err="1">
                <a:latin typeface="Arial" panose="020B0604020202020204" pitchFamily="34" charset="0"/>
              </a:rPr>
              <a:t>Ollama</a:t>
            </a:r>
            <a:r>
              <a:rPr lang="en-US" altLang="ko-KR" sz="1800" b="1" dirty="0">
                <a:latin typeface="Arial" panose="020B0604020202020204" pitchFamily="34" charset="0"/>
              </a:rPr>
              <a:t> </a:t>
            </a:r>
            <a:r>
              <a:rPr lang="ko-KR" altLang="en-US" sz="1800" b="1" dirty="0">
                <a:latin typeface="Arial" panose="020B0604020202020204" pitchFamily="34" charset="0"/>
              </a:rPr>
              <a:t>기반 </a:t>
            </a:r>
            <a:r>
              <a:rPr lang="ko-KR" altLang="en-US" sz="1800" b="1" dirty="0" err="1">
                <a:latin typeface="Arial" panose="020B0604020202020204" pitchFamily="34" charset="0"/>
              </a:rPr>
              <a:t>챗봇</a:t>
            </a:r>
            <a:r>
              <a:rPr lang="ko-KR" altLang="en-US" sz="1800" b="1" dirty="0">
                <a:latin typeface="Arial" panose="020B0604020202020204" pitchFamily="34" charset="0"/>
              </a:rPr>
              <a:t> 프롬프트 </a:t>
            </a:r>
            <a:r>
              <a:rPr lang="ko-KR" altLang="en-US" sz="1800" b="1" dirty="0" err="1">
                <a:latin typeface="Arial" panose="020B0604020202020204" pitchFamily="34" charset="0"/>
              </a:rPr>
              <a:t>인젝션</a:t>
            </a:r>
            <a:r>
              <a:rPr lang="ko-KR" altLang="en-US" sz="1800" b="1" dirty="0">
                <a:latin typeface="Arial" panose="020B0604020202020204" pitchFamily="34" charset="0"/>
              </a:rPr>
              <a:t> 가능 확인</a:t>
            </a:r>
            <a:endParaRPr lang="ko-KR" altLang="ko-KR" sz="1800" dirty="0">
              <a:latin typeface="Arial" panose="020B0604020202020204" pitchFamily="34" charset="0"/>
            </a:endParaRPr>
          </a:p>
        </p:txBody>
      </p:sp>
      <p:pic>
        <p:nvPicPr>
          <p:cNvPr id="20" name="그림 19"/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76933" y="2579016"/>
            <a:ext cx="5400000" cy="2808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33" name="그림 32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21556" y="2581584"/>
            <a:ext cx="5400000" cy="2808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7865440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6AC7F-8568-0E66-0AB0-F1B490FA5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65D2579-9E4D-ED35-97C7-BC0FC25A8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FF3ABD-7A41-0B1E-464A-1E1F13C20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fld id="{5E730BA1-3F6D-49E0-8F01-E02E0ED4523B}" type="slidenum">
              <a:rPr lang="ko-KR" altLang="en-US" smtClean="0"/>
              <a:t>28</a:t>
            </a:fld>
            <a:endParaRPr lang="ko-KR" altLang="en-US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247979C0-D7A1-BA75-2C00-B9D998B79325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C4E194F-F019-B9F8-570E-5349887C56BF}"/>
              </a:ext>
            </a:extLst>
          </p:cNvPr>
          <p:cNvSpPr txBox="1"/>
          <p:nvPr/>
        </p:nvSpPr>
        <p:spPr>
          <a:xfrm>
            <a:off x="285750" y="366003"/>
            <a:ext cx="3310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/>
              <a:t>시나리오 </a:t>
            </a:r>
            <a:r>
              <a:rPr lang="en-US" altLang="ko-KR" sz="2400" b="1"/>
              <a:t>4</a:t>
            </a:r>
            <a:r>
              <a:rPr lang="ko-KR" altLang="en-US" sz="2400" b="1"/>
              <a:t>  </a:t>
            </a:r>
            <a:r>
              <a:rPr lang="en-US" altLang="ko-KR" sz="2400" b="1"/>
              <a:t>- </a:t>
            </a:r>
            <a:r>
              <a:rPr lang="ko-KR" altLang="en-US" sz="2400" b="1"/>
              <a:t>공격 과정 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1A359D1-9F19-C459-0B02-23386FAF8BFA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E1525C3-CD59-67A3-9021-AA90D8990BF4}"/>
              </a:ext>
            </a:extLst>
          </p:cNvPr>
          <p:cNvSpPr txBox="1">
            <a:spLocks/>
          </p:cNvSpPr>
          <p:nvPr/>
        </p:nvSpPr>
        <p:spPr>
          <a:xfrm>
            <a:off x="7761438" y="150617"/>
            <a:ext cx="4210613" cy="8909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III.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 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cs typeface="ADLaM Display" panose="020F0502020204030204" pitchFamily="2" charset="0"/>
              </a:rPr>
              <a:t>공격 시나리오 및 검증 결과</a:t>
            </a:r>
            <a:endParaRPr lang="en-US" altLang="ko-KR" sz="2000" b="1">
              <a:solidFill>
                <a:schemeClr val="bg2">
                  <a:lumMod val="90000"/>
                </a:schemeClr>
              </a:solidFill>
              <a:latin typeface="맑은 고딕" panose="020B0503020000020004" pitchFamily="50" charset="-127"/>
              <a:cs typeface="ADLaM Display" panose="020F0502020204030204" pitchFamily="2" charset="0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A1BA84A9-DB2E-165B-C8C1-CF9841CA3BAF}"/>
              </a:ext>
            </a:extLst>
          </p:cNvPr>
          <p:cNvSpPr/>
          <p:nvPr/>
        </p:nvSpPr>
        <p:spPr>
          <a:xfrm flipV="1">
            <a:off x="426720" y="1808896"/>
            <a:ext cx="11148536" cy="4197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87584AC0-0BBE-D333-C8AA-DB5C2D713D11}"/>
              </a:ext>
            </a:extLst>
          </p:cNvPr>
          <p:cNvSpPr/>
          <p:nvPr/>
        </p:nvSpPr>
        <p:spPr>
          <a:xfrm>
            <a:off x="519059" y="1978303"/>
            <a:ext cx="10963858" cy="319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</a:rPr>
              <a:t>프롬프트 </a:t>
            </a:r>
            <a:r>
              <a:rPr lang="ko-KR" altLang="en-US" sz="1600" b="1" dirty="0" err="1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</a:rPr>
              <a:t>인젝션으로</a:t>
            </a:r>
            <a:r>
              <a:rPr lang="ko-KR" alt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</a:rPr>
              <a:t> </a:t>
            </a:r>
            <a:r>
              <a:rPr lang="en-US" altLang="ko-KR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</a:rPr>
              <a:t>SSH </a:t>
            </a:r>
            <a:r>
              <a:rPr lang="ko-KR" altLang="en-US" sz="1600" b="1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</a:rPr>
              <a:t>정보 확보 </a:t>
            </a:r>
            <a:r>
              <a:rPr lang="ko-KR" alt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</a:rPr>
              <a:t>및 접속</a:t>
            </a:r>
            <a:endParaRPr lang="en-US" sz="16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C4E0718D-8050-AEC6-4F0C-B6AB49DFC8AF}"/>
              </a:ext>
            </a:extLst>
          </p:cNvPr>
          <p:cNvSpPr/>
          <p:nvPr/>
        </p:nvSpPr>
        <p:spPr>
          <a:xfrm>
            <a:off x="2447813" y="5772616"/>
            <a:ext cx="1620000" cy="13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SSH </a:t>
            </a:r>
            <a:r>
              <a:rPr lang="ko-KR" altLang="en-US" sz="1200" b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자격 증명 확보</a:t>
            </a:r>
            <a:endParaRPr lang="en-US" altLang="ko-KR" sz="1200" b="1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6FC6FA32-4471-14A3-1258-7C643D4FB559}"/>
              </a:ext>
            </a:extLst>
          </p:cNvPr>
          <p:cNvSpPr/>
          <p:nvPr/>
        </p:nvSpPr>
        <p:spPr>
          <a:xfrm>
            <a:off x="7944188" y="5769287"/>
            <a:ext cx="1980000" cy="135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</a:t>
            </a:r>
            <a:r>
              <a:rPr lang="ko-KR" altLang="en-US" sz="1200" b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확보한 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정보로 </a:t>
            </a:r>
            <a:r>
              <a:rPr lang="en-US" altLang="ko-KR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SSH </a:t>
            </a:r>
            <a:r>
              <a:rPr lang="ko-KR" altLang="en-US" sz="12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</a:t>
            </a:r>
            <a:endParaRPr lang="en-US" altLang="ko-KR" sz="1200" b="1" dirty="0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A4E56FF7-7172-F87B-8AEB-42FEECFAC75E}"/>
              </a:ext>
            </a:extLst>
          </p:cNvPr>
          <p:cNvSpPr txBox="1">
            <a:spLocks/>
          </p:cNvSpPr>
          <p:nvPr/>
        </p:nvSpPr>
        <p:spPr>
          <a:xfrm>
            <a:off x="438149" y="1197094"/>
            <a:ext cx="11137107" cy="4616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 eaLnBrk="0" fontAlgn="base" latinLnBrk="0" hangingPunct="0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u"/>
            </a:pPr>
            <a:r>
              <a:rPr lang="ko-KR" altLang="en-US" sz="1800" b="1" dirty="0">
                <a:latin typeface="Arial" panose="020B0604020202020204" pitchFamily="34" charset="0"/>
              </a:rPr>
              <a:t>프롬프트 </a:t>
            </a:r>
            <a:r>
              <a:rPr lang="ko-KR" altLang="en-US" sz="1800" b="1" dirty="0" err="1">
                <a:latin typeface="Arial" panose="020B0604020202020204" pitchFamily="34" charset="0"/>
              </a:rPr>
              <a:t>인젝션을</a:t>
            </a:r>
            <a:r>
              <a:rPr lang="ko-KR" altLang="en-US" sz="1800" b="1" dirty="0">
                <a:latin typeface="Arial" panose="020B0604020202020204" pitchFamily="34" charset="0"/>
              </a:rPr>
              <a:t> 통해 개발자 </a:t>
            </a:r>
            <a:r>
              <a:rPr lang="ko-KR" altLang="en-US" sz="1800" b="1" dirty="0" err="1">
                <a:latin typeface="Arial" panose="020B0604020202020204" pitchFamily="34" charset="0"/>
              </a:rPr>
              <a:t>데스크탑</a:t>
            </a:r>
            <a:r>
              <a:rPr lang="ko-KR" altLang="en-US" sz="1800" b="1" dirty="0">
                <a:latin typeface="Arial" panose="020B0604020202020204" pitchFamily="34" charset="0"/>
              </a:rPr>
              <a:t> </a:t>
            </a:r>
            <a:r>
              <a:rPr lang="en-US" altLang="ko-KR" sz="1800" b="1" dirty="0">
                <a:latin typeface="Arial" panose="020B0604020202020204" pitchFamily="34" charset="0"/>
              </a:rPr>
              <a:t>SSH </a:t>
            </a:r>
            <a:r>
              <a:rPr lang="ko-KR" altLang="en-US" sz="1800" b="1" dirty="0">
                <a:latin typeface="Arial" panose="020B0604020202020204" pitchFamily="34" charset="0"/>
              </a:rPr>
              <a:t>접속 정보 획득</a:t>
            </a:r>
            <a:endParaRPr lang="ko-KR" altLang="ko-KR" sz="1800" dirty="0">
              <a:latin typeface="Arial" panose="020B0604020202020204" pitchFamily="34" charset="0"/>
            </a:endParaRPr>
          </a:p>
        </p:txBody>
      </p:sp>
      <p:pic>
        <p:nvPicPr>
          <p:cNvPr id="25" name="그림 24"/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230263" y="2582359"/>
            <a:ext cx="5400000" cy="2808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26" name="그림 25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83020" y="2570784"/>
            <a:ext cx="5400000" cy="2808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3747480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C17CA-BD5C-87B5-0677-4D67B0C54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540BF71-0D6B-D27D-3916-066E7AF06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6E01F3-3BA3-E160-EE2E-4919DDF58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fld id="{5E730BA1-3F6D-49E0-8F01-E02E0ED4523B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4487BC36-2C47-EF9C-A298-23137DE030CB}"/>
              </a:ext>
            </a:extLst>
          </p:cNvPr>
          <p:cNvSpPr txBox="1">
            <a:spLocks/>
          </p:cNvSpPr>
          <p:nvPr/>
        </p:nvSpPr>
        <p:spPr>
          <a:xfrm>
            <a:off x="-121898" y="1197094"/>
            <a:ext cx="8320995" cy="4616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ko-KR" altLang="en-US" b="1">
                <a:latin typeface="+mj-ea"/>
                <a:ea typeface="+mj-ea"/>
              </a:rPr>
              <a:t>시연영상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ED1768DD-9486-D9A8-0C66-5A21E8C0E1B4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0CA7567-B753-A8E1-522D-2B3622D41114}"/>
              </a:ext>
            </a:extLst>
          </p:cNvPr>
          <p:cNvSpPr txBox="1"/>
          <p:nvPr/>
        </p:nvSpPr>
        <p:spPr>
          <a:xfrm>
            <a:off x="285750" y="366003"/>
            <a:ext cx="17780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/>
              <a:t>시나리오 </a:t>
            </a:r>
            <a:r>
              <a:rPr lang="en-US" altLang="ko-KR" sz="2400" b="1"/>
              <a:t>4</a:t>
            </a:r>
            <a:r>
              <a:rPr lang="ko-KR" altLang="en-US" sz="2400" b="1"/>
              <a:t>  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7E0E4E7F-3533-B371-F780-A1F9019688C1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89075087-AF88-D259-FFBA-8F6797024CC2}"/>
              </a:ext>
            </a:extLst>
          </p:cNvPr>
          <p:cNvSpPr txBox="1">
            <a:spLocks/>
          </p:cNvSpPr>
          <p:nvPr/>
        </p:nvSpPr>
        <p:spPr>
          <a:xfrm>
            <a:off x="7761438" y="150617"/>
            <a:ext cx="4210613" cy="8909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III.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 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cs typeface="ADLaM Display" panose="020F0502020204030204" pitchFamily="2" charset="0"/>
              </a:rPr>
              <a:t>공격 시나리오 및 검증 결과</a:t>
            </a:r>
            <a:endParaRPr lang="en-US" altLang="ko-KR" sz="2000" b="1">
              <a:solidFill>
                <a:schemeClr val="bg2">
                  <a:lumMod val="90000"/>
                </a:schemeClr>
              </a:solidFill>
              <a:latin typeface="맑은 고딕" panose="020B0503020000020004" pitchFamily="50" charset="-127"/>
              <a:cs typeface="ADLaM Display" panose="020F0502020204030204" pitchFamily="2" charset="0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DA2F12D5-9ECE-1D0A-2F52-9257D69B976A}"/>
              </a:ext>
            </a:extLst>
          </p:cNvPr>
          <p:cNvSpPr/>
          <p:nvPr/>
        </p:nvSpPr>
        <p:spPr>
          <a:xfrm flipV="1">
            <a:off x="426720" y="1808896"/>
            <a:ext cx="11148536" cy="4197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chatbot ai">
            <a:hlinkClick r:id="" action="ppaction://media"/>
            <a:extLst>
              <a:ext uri="{FF2B5EF4-FFF2-40B4-BE49-F238E27FC236}">
                <a16:creationId xmlns:a16="http://schemas.microsoft.com/office/drawing/2014/main" id="{E8940CF1-3863-EF95-C918-E6448707942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867378" y="1930256"/>
            <a:ext cx="6916702" cy="4009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171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3875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977E6-DACA-1F0C-5298-ED7A7B69E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720BC6B-96B9-A924-91F0-0AF8ACA60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© 2026 Team ONE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7810EC-0FE2-5A7D-F7F1-BB7D5BA71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730BA1-3F6D-49E0-8F01-E02E0ED452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8852EE-1936-6835-6B6C-96845ECCDA5A}"/>
              </a:ext>
            </a:extLst>
          </p:cNvPr>
          <p:cNvSpPr txBox="1"/>
          <p:nvPr/>
        </p:nvSpPr>
        <p:spPr>
          <a:xfrm>
            <a:off x="285750" y="366003"/>
            <a:ext cx="2755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정보노출 대응방안</a:t>
            </a: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F584239A-0BF0-51E4-9B9C-FDE5918B6732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FEABA313-F0FD-EE48-2E30-C36C6DBC484D}"/>
              </a:ext>
            </a:extLst>
          </p:cNvPr>
          <p:cNvSpPr txBox="1">
            <a:spLocks/>
          </p:cNvSpPr>
          <p:nvPr/>
        </p:nvSpPr>
        <p:spPr>
          <a:xfrm>
            <a:off x="9474201" y="150617"/>
            <a:ext cx="2520950" cy="8001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IV.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 보안대책 가이드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D321F3F-5787-E0C7-8F9C-7DDA0F18459C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noFill/>
          <a:ln w="57150" cap="flat" cmpd="sng" algn="ctr">
            <a:solidFill>
              <a:srgbClr val="4472C4"/>
            </a:solidFill>
            <a:prstDash val="solid"/>
            <a:miter lim="800000"/>
          </a:ln>
          <a:effectLst/>
        </p:spPr>
      </p:cxn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0C8CFF9-FB44-A546-669D-62644528E67E}"/>
              </a:ext>
            </a:extLst>
          </p:cNvPr>
          <p:cNvGrpSpPr/>
          <p:nvPr/>
        </p:nvGrpSpPr>
        <p:grpSpPr>
          <a:xfrm>
            <a:off x="561335" y="1696595"/>
            <a:ext cx="10755657" cy="4362682"/>
            <a:chOff x="561335" y="1696595"/>
            <a:chExt cx="10755657" cy="4362682"/>
          </a:xfrm>
        </p:grpSpPr>
        <p:pic>
          <p:nvPicPr>
            <p:cNvPr id="5" name="Picture 3">
              <a:extLst>
                <a:ext uri="{FF2B5EF4-FFF2-40B4-BE49-F238E27FC236}">
                  <a16:creationId xmlns:a16="http://schemas.microsoft.com/office/drawing/2014/main" id="{4172857A-336C-3A2E-B679-55E421BBF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558" y="2356820"/>
              <a:ext cx="2036072" cy="3702457"/>
            </a:xfrm>
            <a:prstGeom prst="rect">
              <a:avLst/>
            </a:prstGeom>
          </p:spPr>
        </p:pic>
        <p:pic>
          <p:nvPicPr>
            <p:cNvPr id="11" name="Picture 6">
              <a:extLst>
                <a:ext uri="{FF2B5EF4-FFF2-40B4-BE49-F238E27FC236}">
                  <a16:creationId xmlns:a16="http://schemas.microsoft.com/office/drawing/2014/main" id="{A761C8D0-A652-147A-392C-937BC32EF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5008" y="5119178"/>
              <a:ext cx="1882681" cy="850744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8C9B650-5509-A2C7-5335-087510ACB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5008" y="2426338"/>
              <a:ext cx="343487" cy="343487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8FACC5-9FBA-55D2-F9A7-1DB05AB4DDC4}"/>
                </a:ext>
              </a:extLst>
            </p:cNvPr>
            <p:cNvSpPr txBox="1"/>
            <p:nvPr/>
          </p:nvSpPr>
          <p:spPr>
            <a:xfrm>
              <a:off x="835936" y="3150401"/>
              <a:ext cx="20360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시스템 정보 노출 차단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14FBED0-61E0-3800-5BDE-FE4074CF6186}"/>
                </a:ext>
              </a:extLst>
            </p:cNvPr>
            <p:cNvSpPr txBox="1"/>
            <p:nvPr/>
          </p:nvSpPr>
          <p:spPr>
            <a:xfrm>
              <a:off x="1271885" y="5170284"/>
              <a:ext cx="158539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조치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서버 설정 및 통합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b="1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에러 페이지 적용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BD17554-5AB4-6733-BE2B-02FC0D2D50FC}"/>
                </a:ext>
              </a:extLst>
            </p:cNvPr>
            <p:cNvSpPr txBox="1"/>
            <p:nvPr/>
          </p:nvSpPr>
          <p:spPr>
            <a:xfrm>
              <a:off x="561335" y="3552017"/>
              <a:ext cx="2504381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서버 배너 정보 비활성화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상세 에러 메시지 제거</a:t>
              </a:r>
              <a:endParaRPr lang="en-US" altLang="ko-KR" sz="12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통합 에러 페이지 적용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26" name="Picture 3">
              <a:extLst>
                <a:ext uri="{FF2B5EF4-FFF2-40B4-BE49-F238E27FC236}">
                  <a16:creationId xmlns:a16="http://schemas.microsoft.com/office/drawing/2014/main" id="{AFC36D1C-66CA-4BF1-6146-F92D6E1844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63377" y="2356820"/>
              <a:ext cx="2036072" cy="3702457"/>
            </a:xfrm>
            <a:prstGeom prst="rect">
              <a:avLst/>
            </a:prstGeom>
          </p:spPr>
        </p:pic>
        <p:pic>
          <p:nvPicPr>
            <p:cNvPr id="128" name="Picture 6">
              <a:extLst>
                <a:ext uri="{FF2B5EF4-FFF2-40B4-BE49-F238E27FC236}">
                  <a16:creationId xmlns:a16="http://schemas.microsoft.com/office/drawing/2014/main" id="{9E96243E-CE09-57EE-38B5-4E69D00B41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37827" y="5119178"/>
              <a:ext cx="1882681" cy="850744"/>
            </a:xfrm>
            <a:prstGeom prst="rect">
              <a:avLst/>
            </a:prstGeom>
          </p:spPr>
        </p:pic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133ADFE5-D6A7-9EF4-AA31-CAB6F70F82F2}"/>
                </a:ext>
              </a:extLst>
            </p:cNvPr>
            <p:cNvSpPr txBox="1"/>
            <p:nvPr/>
          </p:nvSpPr>
          <p:spPr>
            <a:xfrm>
              <a:off x="2833657" y="3150401"/>
              <a:ext cx="21286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소스코드 민감정보 제거</a:t>
              </a: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10000000000000000" pitchFamily="2" charset="0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4D726F04-723F-621B-F827-CF286EB9CB2C}"/>
                </a:ext>
              </a:extLst>
            </p:cNvPr>
            <p:cNvSpPr txBox="1"/>
            <p:nvPr/>
          </p:nvSpPr>
          <p:spPr>
            <a:xfrm>
              <a:off x="3334704" y="5170284"/>
              <a:ext cx="158539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조치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소스코드 리뷰 및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b="1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민감정보 제거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13390529-D852-B2DD-779C-4F651B7DA1F6}"/>
                </a:ext>
              </a:extLst>
            </p:cNvPr>
            <p:cNvSpPr txBox="1"/>
            <p:nvPr/>
          </p:nvSpPr>
          <p:spPr>
            <a:xfrm>
              <a:off x="2582589" y="3552020"/>
              <a:ext cx="250438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정기적인 소스코드 정적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  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분석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lvl="0" indent="108000">
                <a:buFont typeface="Arial" panose="020B0604020202020204" pitchFamily="34" charset="0"/>
                <a:buChar char="•"/>
                <a:defRPr/>
              </a:pPr>
              <a:r>
                <a:rPr lang="ko-KR" altLang="en-US" sz="1200" dirty="0">
                  <a:solidFill>
                    <a:prstClr val="black"/>
                  </a:solidFill>
                </a:rPr>
                <a:t>설정 파일 내 </a:t>
              </a:r>
              <a:r>
                <a:rPr lang="ko-KR" altLang="en-US" sz="1200" dirty="0" err="1">
                  <a:solidFill>
                    <a:prstClr val="black"/>
                  </a:solidFill>
                </a:rPr>
                <a:t>하드코딩된</a:t>
              </a:r>
              <a:endParaRPr lang="en-US" altLang="ko-KR" sz="1200" dirty="0">
                <a:solidFill>
                  <a:prstClr val="black"/>
                </a:solidFill>
              </a:endParaRPr>
            </a:p>
            <a:p>
              <a:pPr marL="285750" lvl="0">
                <a:defRPr/>
              </a:pPr>
              <a:r>
                <a:rPr lang="en-US" altLang="ko-KR" sz="1200" dirty="0">
                  <a:solidFill>
                    <a:prstClr val="black"/>
                  </a:solidFill>
                </a:rPr>
                <a:t>   </a:t>
              </a:r>
              <a:r>
                <a:rPr lang="ko-KR" altLang="en-US" sz="1200" dirty="0">
                  <a:solidFill>
                    <a:prstClr val="black"/>
                  </a:solidFill>
                </a:rPr>
                <a:t>계정정보 및 민감정보 삭제</a:t>
              </a:r>
              <a:endParaRPr lang="en-US" altLang="ko-KR" sz="1200" dirty="0">
                <a:solidFill>
                  <a:prstClr val="black"/>
                </a:solidFill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코드 </a:t>
              </a:r>
              <a:r>
                <a:rPr lang="ko-KR" altLang="en-US" sz="1200" dirty="0" err="1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커밋</a:t>
              </a: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 전 민감 정보</a:t>
              </a:r>
              <a:endParaRPr lang="en-US" altLang="ko-KR" sz="12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  <a:p>
              <a:pPr marL="285750" marR="0" lvl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   </a:t>
              </a: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스캔 도구 사용</a:t>
              </a:r>
              <a:endParaRPr lang="en-US" altLang="ko-KR" sz="12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pic>
          <p:nvPicPr>
            <p:cNvPr id="138" name="Picture 3">
              <a:extLst>
                <a:ext uri="{FF2B5EF4-FFF2-40B4-BE49-F238E27FC236}">
                  <a16:creationId xmlns:a16="http://schemas.microsoft.com/office/drawing/2014/main" id="{61A68CA0-BAA7-8333-1F8E-A0FC84AC97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26196" y="2356820"/>
              <a:ext cx="2036072" cy="3702457"/>
            </a:xfrm>
            <a:prstGeom prst="rect">
              <a:avLst/>
            </a:prstGeom>
          </p:spPr>
        </p:pic>
        <p:pic>
          <p:nvPicPr>
            <p:cNvPr id="140" name="Picture 6">
              <a:extLst>
                <a:ext uri="{FF2B5EF4-FFF2-40B4-BE49-F238E27FC236}">
                  <a16:creationId xmlns:a16="http://schemas.microsoft.com/office/drawing/2014/main" id="{0A757F54-001D-8610-4CC4-6437B6CEA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00646" y="5119178"/>
              <a:ext cx="1882681" cy="850744"/>
            </a:xfrm>
            <a:prstGeom prst="rect">
              <a:avLst/>
            </a:prstGeom>
          </p:spPr>
        </p:pic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4DC86B47-0043-BD01-4FB1-7D597D674526}"/>
                </a:ext>
              </a:extLst>
            </p:cNvPr>
            <p:cNvSpPr txBox="1"/>
            <p:nvPr/>
          </p:nvSpPr>
          <p:spPr>
            <a:xfrm>
              <a:off x="5044706" y="3150401"/>
              <a:ext cx="19356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누출 </a:t>
              </a:r>
              <a:r>
                <a:rPr lang="ko-KR" altLang="en-US" sz="1400" b="1" dirty="0">
                  <a:solidFill>
                    <a:srgbClr val="05329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자격 증명 교체</a:t>
              </a: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10000000000000000" pitchFamily="2" charset="0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18810D8B-81BF-0943-0500-027C08EB06F0}"/>
                </a:ext>
              </a:extLst>
            </p:cNvPr>
            <p:cNvSpPr txBox="1"/>
            <p:nvPr/>
          </p:nvSpPr>
          <p:spPr>
            <a:xfrm>
              <a:off x="5397523" y="5170284"/>
              <a:ext cx="158539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조치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누출 자격 증명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b="1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즉시 폐기 및 재발급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B75EB05E-6B6E-682C-68EA-17AF34953455}"/>
                </a:ext>
              </a:extLst>
            </p:cNvPr>
            <p:cNvSpPr txBox="1"/>
            <p:nvPr/>
          </p:nvSpPr>
          <p:spPr>
            <a:xfrm>
              <a:off x="4686973" y="3552020"/>
              <a:ext cx="250438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누</a:t>
              </a:r>
              <a:r>
                <a:rPr kumimoji="0" lang="ko-KR" alt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출된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API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토큰 및 키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   </a:t>
              </a: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즉시 폐기</a:t>
              </a:r>
              <a:endParaRPr lang="en-US" altLang="ko-KR" sz="12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  <a:p>
              <a:pPr marL="285750" marR="0" lvl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누</a:t>
              </a:r>
              <a:r>
                <a:rPr kumimoji="0" lang="ko-KR" alt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출된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NAS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접속 정보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   </a:t>
              </a: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폐기 및 재발급</a:t>
              </a:r>
              <a:endParaRPr lang="en-US" altLang="ko-KR" sz="1200" dirty="0">
                <a:solidFill>
                  <a:prstClr val="black"/>
                </a:solidFill>
              </a:endParaRPr>
            </a:p>
            <a:p>
              <a:pPr marL="285750" lvl="0">
                <a:defRPr/>
              </a:pPr>
              <a:endParaRPr lang="en-US" altLang="ko-KR" sz="800" dirty="0">
                <a:solidFill>
                  <a:prstClr val="black"/>
                </a:solidFill>
              </a:endParaRPr>
            </a:p>
            <a:p>
              <a:pPr marL="285750" lvl="0" indent="108000">
                <a:buFont typeface="Arial" panose="020B0604020202020204" pitchFamily="34" charset="0"/>
                <a:buChar char="•"/>
                <a:defRPr/>
              </a:pPr>
              <a:r>
                <a:rPr lang="ko-KR" altLang="en-US" sz="1200" dirty="0">
                  <a:solidFill>
                    <a:prstClr val="black"/>
                  </a:solidFill>
                </a:rPr>
                <a:t>비밀번호 및 자격 증명</a:t>
              </a:r>
              <a:endParaRPr lang="en-US" altLang="ko-KR" sz="1200" dirty="0">
                <a:solidFill>
                  <a:prstClr val="black"/>
                </a:solidFill>
              </a:endParaRPr>
            </a:p>
            <a:p>
              <a:pPr marL="285750" lvl="0"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 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재설정</a:t>
              </a:r>
            </a:p>
          </p:txBody>
        </p:sp>
        <p:pic>
          <p:nvPicPr>
            <p:cNvPr id="150" name="Picture 3">
              <a:extLst>
                <a:ext uri="{FF2B5EF4-FFF2-40B4-BE49-F238E27FC236}">
                  <a16:creationId xmlns:a16="http://schemas.microsoft.com/office/drawing/2014/main" id="{9BD36DC9-6D60-21DE-6A49-7F5E2873E1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75160" y="2356820"/>
              <a:ext cx="2036072" cy="3702457"/>
            </a:xfrm>
            <a:prstGeom prst="rect">
              <a:avLst/>
            </a:prstGeom>
          </p:spPr>
        </p:pic>
        <p:pic>
          <p:nvPicPr>
            <p:cNvPr id="152" name="Picture 6">
              <a:extLst>
                <a:ext uri="{FF2B5EF4-FFF2-40B4-BE49-F238E27FC236}">
                  <a16:creationId xmlns:a16="http://schemas.microsoft.com/office/drawing/2014/main" id="{3F33D84F-88A9-7B4D-2395-C3DC01209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63465" y="5119178"/>
              <a:ext cx="1882681" cy="850744"/>
            </a:xfrm>
            <a:prstGeom prst="rect">
              <a:avLst/>
            </a:prstGeom>
          </p:spPr>
        </p:pic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C1C3F978-0E50-E580-434A-35EE5725457B}"/>
                </a:ext>
              </a:extLst>
            </p:cNvPr>
            <p:cNvSpPr txBox="1"/>
            <p:nvPr/>
          </p:nvSpPr>
          <p:spPr>
            <a:xfrm>
              <a:off x="7114534" y="3150401"/>
              <a:ext cx="18276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챗봇</a:t>
              </a: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 정보 누출 통제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264A4B9A-23EC-6858-180C-39273BA8F8FE}"/>
                </a:ext>
              </a:extLst>
            </p:cNvPr>
            <p:cNvSpPr txBox="1"/>
            <p:nvPr/>
          </p:nvSpPr>
          <p:spPr>
            <a:xfrm>
              <a:off x="7460342" y="5170284"/>
              <a:ext cx="158539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조치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프롬프트 보안 및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b="1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응답 필터링 적용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3CAEC647-5E3E-8DF2-6908-42AF523ED444}"/>
                </a:ext>
              </a:extLst>
            </p:cNvPr>
            <p:cNvSpPr txBox="1"/>
            <p:nvPr/>
          </p:nvSpPr>
          <p:spPr>
            <a:xfrm>
              <a:off x="6749792" y="3552020"/>
              <a:ext cx="2504381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챗봇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시스템 프롬프트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   </a:t>
              </a: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보호 강화</a:t>
              </a:r>
              <a:endParaRPr lang="en-US" altLang="ko-KR" sz="12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  <a:p>
              <a:pPr marL="285750" marR="0" lvl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내부 기밀 정보 응답 제한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lang="en-US" altLang="ko-KR" sz="800" dirty="0">
                <a:solidFill>
                  <a:prstClr val="black"/>
                </a:solidFill>
              </a:endParaRPr>
            </a:p>
            <a:p>
              <a:pPr marL="285750" lvl="0" indent="108000">
                <a:buFont typeface="Arial" panose="020B0604020202020204" pitchFamily="34" charset="0"/>
                <a:buChar char="•"/>
                <a:defRPr/>
              </a:pPr>
              <a:r>
                <a:rPr lang="ko-KR" altLang="en-US" sz="1200" dirty="0" err="1">
                  <a:solidFill>
                    <a:prstClr val="black"/>
                  </a:solidFill>
                </a:rPr>
                <a:t>챗봇</a:t>
              </a:r>
              <a:r>
                <a:rPr lang="ko-KR" altLang="en-US" sz="1200" dirty="0">
                  <a:solidFill>
                    <a:prstClr val="black"/>
                  </a:solidFill>
                </a:rPr>
                <a:t> </a:t>
              </a:r>
              <a:r>
                <a:rPr lang="ko-KR" altLang="en-US" sz="1200">
                  <a:solidFill>
                    <a:prstClr val="black"/>
                  </a:solidFill>
                </a:rPr>
                <a:t>상호작용 로그 </a:t>
              </a:r>
              <a:r>
                <a:rPr lang="ko-KR" altLang="en-US" sz="1200" dirty="0">
                  <a:solidFill>
                    <a:prstClr val="black"/>
                  </a:solidFill>
                </a:rPr>
                <a:t>및</a:t>
              </a:r>
              <a:endParaRPr lang="en-US" altLang="ko-KR" sz="1200" dirty="0">
                <a:solidFill>
                  <a:prstClr val="black"/>
                </a:solidFill>
              </a:endParaRPr>
            </a:p>
            <a:p>
              <a:pPr marL="285750" lvl="0">
                <a:defRPr/>
              </a:pPr>
              <a:r>
                <a:rPr lang="en-US" altLang="ko-KR" sz="1200" dirty="0">
                  <a:solidFill>
                    <a:schemeClr val="bg1"/>
                  </a:solidFill>
                </a:rPr>
                <a:t>? </a:t>
              </a:r>
              <a:r>
                <a:rPr lang="ko-KR" altLang="en-US" sz="1200" dirty="0">
                  <a:solidFill>
                    <a:prstClr val="black"/>
                  </a:solidFill>
                </a:rPr>
                <a:t>분석</a:t>
              </a: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62" name="Picture 3">
              <a:extLst>
                <a:ext uri="{FF2B5EF4-FFF2-40B4-BE49-F238E27FC236}">
                  <a16:creationId xmlns:a16="http://schemas.microsoft.com/office/drawing/2014/main" id="{A99B2964-D352-12F8-0B94-E8E6DD473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51834" y="2356819"/>
              <a:ext cx="2036072" cy="3702457"/>
            </a:xfrm>
            <a:prstGeom prst="rect">
              <a:avLst/>
            </a:prstGeom>
          </p:spPr>
        </p:pic>
        <p:pic>
          <p:nvPicPr>
            <p:cNvPr id="164" name="Picture 6">
              <a:extLst>
                <a:ext uri="{FF2B5EF4-FFF2-40B4-BE49-F238E27FC236}">
                  <a16:creationId xmlns:a16="http://schemas.microsoft.com/office/drawing/2014/main" id="{3F940152-34C9-D4FC-FE4B-52F669430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26284" y="5119178"/>
              <a:ext cx="1882681" cy="850744"/>
            </a:xfrm>
            <a:prstGeom prst="rect">
              <a:avLst/>
            </a:prstGeom>
          </p:spPr>
        </p:pic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D98A151C-9F8B-CBCB-EDC3-4CF8649BE8AE}"/>
                </a:ext>
              </a:extLst>
            </p:cNvPr>
            <p:cNvSpPr txBox="1">
              <a:spLocks/>
            </p:cNvSpPr>
            <p:nvPr/>
          </p:nvSpPr>
          <p:spPr>
            <a:xfrm>
              <a:off x="9077529" y="3150401"/>
              <a:ext cx="20360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내부 자산 접근 최소화</a:t>
              </a: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3020516A-1FD5-F3CD-565B-3C8534780F13}"/>
                </a:ext>
              </a:extLst>
            </p:cNvPr>
            <p:cNvSpPr txBox="1">
              <a:spLocks/>
            </p:cNvSpPr>
            <p:nvPr/>
          </p:nvSpPr>
          <p:spPr>
            <a:xfrm>
              <a:off x="9523161" y="5170284"/>
              <a:ext cx="158539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조치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접근 권한 및 범위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b="1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최소화 적용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8605E5DC-D01E-7D6A-AF52-73112423A6EF}"/>
                </a:ext>
              </a:extLst>
            </p:cNvPr>
            <p:cNvSpPr txBox="1"/>
            <p:nvPr/>
          </p:nvSpPr>
          <p:spPr>
            <a:xfrm>
              <a:off x="8812611" y="3552020"/>
              <a:ext cx="250438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SSH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접근 및 내부 </a:t>
              </a:r>
              <a:r>
                <a:rPr lang="en-US" altLang="ko-KR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API</a:t>
              </a:r>
            </a:p>
            <a:p>
              <a:pPr marL="285750" marR="0" lvl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 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호출 범위 축소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최소 권한 원칙 기반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   </a:t>
              </a: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접근 통제 적용</a:t>
              </a:r>
              <a:endParaRPr lang="en-US" altLang="ko-KR" sz="12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  <a:p>
              <a:pPr marL="285750" marR="0" lvl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en-US" altLang="ko-KR" sz="800" dirty="0">
                <a:solidFill>
                  <a:prstClr val="black"/>
                </a:solidFill>
              </a:endParaRPr>
            </a:p>
            <a:p>
              <a:pPr marL="285750" lvl="0" indent="108000">
                <a:buFont typeface="Arial" panose="020B0604020202020204" pitchFamily="34" charset="0"/>
                <a:buChar char="•"/>
                <a:defRPr/>
              </a:pPr>
              <a:r>
                <a:rPr lang="ko-KR" altLang="en-US" sz="1200" dirty="0">
                  <a:solidFill>
                    <a:prstClr val="black"/>
                  </a:solidFill>
                </a:rPr>
                <a:t>접근 로그 상시 모니터링</a:t>
              </a:r>
            </a:p>
            <a:p>
              <a:pPr marL="2857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87" name="Picture 22">
              <a:extLst>
                <a:ext uri="{FF2B5EF4-FFF2-40B4-BE49-F238E27FC236}">
                  <a16:creationId xmlns:a16="http://schemas.microsoft.com/office/drawing/2014/main" id="{A6FC230E-0F22-75B7-5B51-99A5640E5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38871" y="2426338"/>
              <a:ext cx="342000" cy="342000"/>
            </a:xfrm>
            <a:prstGeom prst="rect">
              <a:avLst/>
            </a:prstGeom>
          </p:spPr>
        </p:pic>
        <p:pic>
          <p:nvPicPr>
            <p:cNvPr id="188" name="Picture 23">
              <a:extLst>
                <a:ext uri="{FF2B5EF4-FFF2-40B4-BE49-F238E27FC236}">
                  <a16:creationId xmlns:a16="http://schemas.microsoft.com/office/drawing/2014/main" id="{16D9E96B-6576-7814-5CA3-23A4F400F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01247" y="2426338"/>
              <a:ext cx="342000" cy="342000"/>
            </a:xfrm>
            <a:prstGeom prst="rect">
              <a:avLst/>
            </a:prstGeom>
          </p:spPr>
        </p:pic>
        <p:pic>
          <p:nvPicPr>
            <p:cNvPr id="189" name="Picture 24">
              <a:extLst>
                <a:ext uri="{FF2B5EF4-FFF2-40B4-BE49-F238E27FC236}">
                  <a16:creationId xmlns:a16="http://schemas.microsoft.com/office/drawing/2014/main" id="{2B8F7FDA-E982-F568-F42D-2E9E6D3675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063623" y="2426338"/>
              <a:ext cx="342000" cy="342000"/>
            </a:xfrm>
            <a:prstGeom prst="rect">
              <a:avLst/>
            </a:prstGeom>
          </p:spPr>
        </p:pic>
        <p:pic>
          <p:nvPicPr>
            <p:cNvPr id="190" name="Picture 25">
              <a:extLst>
                <a:ext uri="{FF2B5EF4-FFF2-40B4-BE49-F238E27FC236}">
                  <a16:creationId xmlns:a16="http://schemas.microsoft.com/office/drawing/2014/main" id="{95F6DC66-EAAB-56EA-7962-7794DE7AE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26000" y="2426338"/>
              <a:ext cx="342000" cy="342000"/>
            </a:xfrm>
            <a:prstGeom prst="rect">
              <a:avLst/>
            </a:prstGeom>
          </p:spPr>
        </p:pic>
        <p:pic>
          <p:nvPicPr>
            <p:cNvPr id="195" name="Picture 29">
              <a:extLst>
                <a:ext uri="{FF2B5EF4-FFF2-40B4-BE49-F238E27FC236}">
                  <a16:creationId xmlns:a16="http://schemas.microsoft.com/office/drawing/2014/main" id="{1D5ED795-409D-38F3-39E8-7593843D1C6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88600" y="5355080"/>
              <a:ext cx="387433" cy="387433"/>
            </a:xfrm>
            <a:prstGeom prst="rect">
              <a:avLst/>
            </a:prstGeom>
          </p:spPr>
        </p:pic>
        <p:sp>
          <p:nvSpPr>
            <p:cNvPr id="20" name="사각형: 둥근 위쪽 모서리 19">
              <a:extLst>
                <a:ext uri="{FF2B5EF4-FFF2-40B4-BE49-F238E27FC236}">
                  <a16:creationId xmlns:a16="http://schemas.microsoft.com/office/drawing/2014/main" id="{E002B0A3-1CA8-33D8-B725-F5EA49062595}"/>
                </a:ext>
              </a:extLst>
            </p:cNvPr>
            <p:cNvSpPr/>
            <p:nvPr/>
          </p:nvSpPr>
          <p:spPr>
            <a:xfrm>
              <a:off x="800558" y="1696595"/>
              <a:ext cx="10282410" cy="498665"/>
            </a:xfrm>
            <a:prstGeom prst="round2SameRect">
              <a:avLst/>
            </a:prstGeom>
            <a:solidFill>
              <a:srgbClr val="053292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보안 대응 방안</a:t>
              </a:r>
            </a:p>
          </p:txBody>
        </p:sp>
        <p:pic>
          <p:nvPicPr>
            <p:cNvPr id="23" name="Picture 9">
              <a:extLst>
                <a:ext uri="{FF2B5EF4-FFF2-40B4-BE49-F238E27FC236}">
                  <a16:creationId xmlns:a16="http://schemas.microsoft.com/office/drawing/2014/main" id="{133103FA-FF5E-C448-2DFA-3A491ACB2F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92358" y="5299849"/>
              <a:ext cx="497339" cy="497339"/>
            </a:xfrm>
            <a:prstGeom prst="rect">
              <a:avLst/>
            </a:prstGeom>
          </p:spPr>
        </p:pic>
        <p:pic>
          <p:nvPicPr>
            <p:cNvPr id="2" name="Picture 14">
              <a:extLst>
                <a:ext uri="{FF2B5EF4-FFF2-40B4-BE49-F238E27FC236}">
                  <a16:creationId xmlns:a16="http://schemas.microsoft.com/office/drawing/2014/main" id="{41F114B9-CAFF-943A-051E-68E191B277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592502" y="2637965"/>
              <a:ext cx="402345" cy="402345"/>
            </a:xfrm>
            <a:prstGeom prst="rect">
              <a:avLst/>
            </a:prstGeom>
          </p:spPr>
        </p:pic>
        <p:pic>
          <p:nvPicPr>
            <p:cNvPr id="7" name="Picture 15">
              <a:extLst>
                <a:ext uri="{FF2B5EF4-FFF2-40B4-BE49-F238E27FC236}">
                  <a16:creationId xmlns:a16="http://schemas.microsoft.com/office/drawing/2014/main" id="{98A9E2B1-76D2-CFB0-D8B1-60B78BD79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887769" y="2800531"/>
              <a:ext cx="260032" cy="256032"/>
            </a:xfrm>
            <a:prstGeom prst="rect">
              <a:avLst/>
            </a:prstGeom>
          </p:spPr>
        </p:pic>
        <p:pic>
          <p:nvPicPr>
            <p:cNvPr id="25" name="Picture 16">
              <a:extLst>
                <a:ext uri="{FF2B5EF4-FFF2-40B4-BE49-F238E27FC236}">
                  <a16:creationId xmlns:a16="http://schemas.microsoft.com/office/drawing/2014/main" id="{33AAD244-78BB-027E-802E-76279E7DB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657632" y="2647889"/>
              <a:ext cx="445112" cy="352184"/>
            </a:xfrm>
            <a:prstGeom prst="rect">
              <a:avLst/>
            </a:prstGeom>
          </p:spPr>
        </p:pic>
        <p:pic>
          <p:nvPicPr>
            <p:cNvPr id="26" name="Picture 17">
              <a:extLst>
                <a:ext uri="{FF2B5EF4-FFF2-40B4-BE49-F238E27FC236}">
                  <a16:creationId xmlns:a16="http://schemas.microsoft.com/office/drawing/2014/main" id="{1BA9D001-BDFB-F3A4-4DCE-6DB94562A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16907629">
              <a:off x="3007355" y="5322095"/>
              <a:ext cx="417757" cy="417757"/>
            </a:xfrm>
            <a:prstGeom prst="rect">
              <a:avLst/>
            </a:prstGeom>
          </p:spPr>
        </p:pic>
        <p:pic>
          <p:nvPicPr>
            <p:cNvPr id="27" name="Picture 19">
              <a:extLst>
                <a:ext uri="{FF2B5EF4-FFF2-40B4-BE49-F238E27FC236}">
                  <a16:creationId xmlns:a16="http://schemas.microsoft.com/office/drawing/2014/main" id="{61A4C9DD-0ACC-59EA-2534-88B110A74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058083" y="5630270"/>
              <a:ext cx="336487" cy="140203"/>
            </a:xfrm>
            <a:prstGeom prst="rect">
              <a:avLst/>
            </a:prstGeom>
          </p:spPr>
        </p:pic>
        <p:pic>
          <p:nvPicPr>
            <p:cNvPr id="28" name="Picture 20">
              <a:extLst>
                <a:ext uri="{FF2B5EF4-FFF2-40B4-BE49-F238E27FC236}">
                  <a16:creationId xmlns:a16="http://schemas.microsoft.com/office/drawing/2014/main" id="{10E36193-52E3-A7F3-BCE2-CB434FEC3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10800000">
              <a:off x="5134867" y="5363208"/>
              <a:ext cx="336487" cy="140203"/>
            </a:xfrm>
            <a:prstGeom prst="rect">
              <a:avLst/>
            </a:prstGeom>
          </p:spPr>
        </p:pic>
        <p:pic>
          <p:nvPicPr>
            <p:cNvPr id="29" name="Picture 21">
              <a:extLst>
                <a:ext uri="{FF2B5EF4-FFF2-40B4-BE49-F238E27FC236}">
                  <a16:creationId xmlns:a16="http://schemas.microsoft.com/office/drawing/2014/main" id="{625FD45B-3FB3-64E1-A8B3-8835D77355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16200000">
              <a:off x="5183985" y="5499333"/>
              <a:ext cx="162579" cy="162579"/>
            </a:xfrm>
            <a:prstGeom prst="rect">
              <a:avLst/>
            </a:prstGeom>
          </p:spPr>
        </p:pic>
        <p:pic>
          <p:nvPicPr>
            <p:cNvPr id="30" name="Picture 22">
              <a:extLst>
                <a:ext uri="{FF2B5EF4-FFF2-40B4-BE49-F238E27FC236}">
                  <a16:creationId xmlns:a16="http://schemas.microsoft.com/office/drawing/2014/main" id="{3D822256-74D9-39C5-F5BA-33E8A4D8D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668009" y="2602699"/>
              <a:ext cx="220173" cy="440949"/>
            </a:xfrm>
            <a:prstGeom prst="rect">
              <a:avLst/>
            </a:prstGeom>
          </p:spPr>
        </p:pic>
        <p:pic>
          <p:nvPicPr>
            <p:cNvPr id="31" name="Picture 33">
              <a:extLst>
                <a:ext uri="{FF2B5EF4-FFF2-40B4-BE49-F238E27FC236}">
                  <a16:creationId xmlns:a16="http://schemas.microsoft.com/office/drawing/2014/main" id="{D463C2E5-8EEB-109B-5C5E-1199688B1C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810261" y="2792491"/>
              <a:ext cx="330200" cy="330200"/>
            </a:xfrm>
            <a:prstGeom prst="rect">
              <a:avLst/>
            </a:prstGeom>
          </p:spPr>
        </p:pic>
        <p:pic>
          <p:nvPicPr>
            <p:cNvPr id="33" name="Picture 23">
              <a:extLst>
                <a:ext uri="{FF2B5EF4-FFF2-40B4-BE49-F238E27FC236}">
                  <a16:creationId xmlns:a16="http://schemas.microsoft.com/office/drawing/2014/main" id="{0ACBF6EA-5A68-C100-850B-9246DFB86B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6025393" y="2620178"/>
              <a:ext cx="235708" cy="220402"/>
            </a:xfrm>
            <a:prstGeom prst="rect">
              <a:avLst/>
            </a:prstGeom>
          </p:spPr>
        </p:pic>
        <p:pic>
          <p:nvPicPr>
            <p:cNvPr id="34" name="Picture 24">
              <a:extLst>
                <a:ext uri="{FF2B5EF4-FFF2-40B4-BE49-F238E27FC236}">
                  <a16:creationId xmlns:a16="http://schemas.microsoft.com/office/drawing/2014/main" id="{106F1966-3B52-5B99-4C33-F536AD7666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7787410" y="2588844"/>
              <a:ext cx="429000" cy="429000"/>
            </a:xfrm>
            <a:prstGeom prst="rect">
              <a:avLst/>
            </a:prstGeom>
          </p:spPr>
        </p:pic>
        <p:pic>
          <p:nvPicPr>
            <p:cNvPr id="35" name="Picture 25">
              <a:extLst>
                <a:ext uri="{FF2B5EF4-FFF2-40B4-BE49-F238E27FC236}">
                  <a16:creationId xmlns:a16="http://schemas.microsoft.com/office/drawing/2014/main" id="{D3F00ED2-DBF3-C400-EFC3-4E79C1BC7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072558" y="2847880"/>
              <a:ext cx="227445" cy="256879"/>
            </a:xfrm>
            <a:prstGeom prst="rect">
              <a:avLst/>
            </a:prstGeom>
          </p:spPr>
        </p:pic>
        <p:pic>
          <p:nvPicPr>
            <p:cNvPr id="36" name="Picture 27">
              <a:extLst>
                <a:ext uri="{FF2B5EF4-FFF2-40B4-BE49-F238E27FC236}">
                  <a16:creationId xmlns:a16="http://schemas.microsoft.com/office/drawing/2014/main" id="{DC4CD6F7-C657-13EA-FE25-DD4FFB1BD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9781917" y="2614469"/>
              <a:ext cx="520730" cy="398131"/>
            </a:xfrm>
            <a:prstGeom prst="rect">
              <a:avLst/>
            </a:prstGeom>
          </p:spPr>
        </p:pic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305BE280-91BE-466D-0A4F-7625DAB2BB98}"/>
                </a:ext>
              </a:extLst>
            </p:cNvPr>
            <p:cNvSpPr/>
            <p:nvPr/>
          </p:nvSpPr>
          <p:spPr>
            <a:xfrm>
              <a:off x="9893561" y="2768338"/>
              <a:ext cx="275248" cy="1975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8" name="Picture 28">
              <a:extLst>
                <a:ext uri="{FF2B5EF4-FFF2-40B4-BE49-F238E27FC236}">
                  <a16:creationId xmlns:a16="http://schemas.microsoft.com/office/drawing/2014/main" id="{DFEE683B-76E4-1184-F450-00F7673F4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 rot="10800000">
              <a:off x="9881069" y="2755235"/>
              <a:ext cx="308839" cy="175775"/>
            </a:xfrm>
            <a:prstGeom prst="rect">
              <a:avLst/>
            </a:prstGeom>
          </p:spPr>
        </p:pic>
        <p:pic>
          <p:nvPicPr>
            <p:cNvPr id="39" name="Picture 29">
              <a:extLst>
                <a:ext uri="{FF2B5EF4-FFF2-40B4-BE49-F238E27FC236}">
                  <a16:creationId xmlns:a16="http://schemas.microsoft.com/office/drawing/2014/main" id="{94E62AB9-B31D-5ADE-A5F6-E38B384213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0209011" y="2773338"/>
              <a:ext cx="319231" cy="319231"/>
            </a:xfrm>
            <a:prstGeom prst="rect">
              <a:avLst/>
            </a:prstGeom>
          </p:spPr>
        </p:pic>
        <p:pic>
          <p:nvPicPr>
            <p:cNvPr id="40" name="Picture 40">
              <a:extLst>
                <a:ext uri="{FF2B5EF4-FFF2-40B4-BE49-F238E27FC236}">
                  <a16:creationId xmlns:a16="http://schemas.microsoft.com/office/drawing/2014/main" id="{57C76211-7151-AED9-6DE4-6AE8AC364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7130143" y="5411270"/>
              <a:ext cx="331243" cy="331243"/>
            </a:xfrm>
            <a:prstGeom prst="rect">
              <a:avLst/>
            </a:prstGeom>
          </p:spPr>
        </p:pic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6C963843-8632-573D-8159-27B53D8F4034}"/>
                </a:ext>
              </a:extLst>
            </p:cNvPr>
            <p:cNvSpPr/>
            <p:nvPr/>
          </p:nvSpPr>
          <p:spPr>
            <a:xfrm>
              <a:off x="1022250" y="5426168"/>
              <a:ext cx="236743" cy="23574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4" name="Picture 18">
              <a:extLst>
                <a:ext uri="{FF2B5EF4-FFF2-40B4-BE49-F238E27FC236}">
                  <a16:creationId xmlns:a16="http://schemas.microsoft.com/office/drawing/2014/main" id="{136EDD9D-0DA8-E255-A23C-A92DC6B499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 flipV="1">
              <a:off x="1042799" y="5469879"/>
              <a:ext cx="194223" cy="1537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78016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989DC-9AFB-AC80-4B1B-242C49A13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F4F77C1-A2A3-748A-9592-0F0A586EB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© 2026 Team ONE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9D04B9-C0A2-3780-1F05-7F7E27F17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730BA1-3F6D-49E0-8F01-E02E0ED452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C18711D-7254-11A3-C1A6-04FA4015F505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DA08FB3-9AB2-E720-77D7-7287A01A5CB5}"/>
              </a:ext>
            </a:extLst>
          </p:cNvPr>
          <p:cNvSpPr txBox="1"/>
          <p:nvPr/>
        </p:nvSpPr>
        <p:spPr>
          <a:xfrm>
            <a:off x="285750" y="366003"/>
            <a:ext cx="29338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시나리오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대응방안</a:t>
            </a: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56B3244D-1674-E942-CC3F-4FE0358B0760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164064D9-076D-BFA8-681B-4EAA60A56B33}"/>
              </a:ext>
            </a:extLst>
          </p:cNvPr>
          <p:cNvSpPr txBox="1">
            <a:spLocks/>
          </p:cNvSpPr>
          <p:nvPr/>
        </p:nvSpPr>
        <p:spPr>
          <a:xfrm>
            <a:off x="9474201" y="150617"/>
            <a:ext cx="2520950" cy="8001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IV.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 보안대책 가이드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528C4FD-6395-6FCC-382B-1D0B9C84AD75}"/>
              </a:ext>
            </a:extLst>
          </p:cNvPr>
          <p:cNvGrpSpPr/>
          <p:nvPr/>
        </p:nvGrpSpPr>
        <p:grpSpPr>
          <a:xfrm>
            <a:off x="583369" y="1696595"/>
            <a:ext cx="10580207" cy="3951723"/>
            <a:chOff x="583369" y="1696595"/>
            <a:chExt cx="10580207" cy="3951723"/>
          </a:xfrm>
        </p:grpSpPr>
        <p:sp>
          <p:nvSpPr>
            <p:cNvPr id="2" name="사각형: 둥근 위쪽 모서리 1">
              <a:extLst>
                <a:ext uri="{FF2B5EF4-FFF2-40B4-BE49-F238E27FC236}">
                  <a16:creationId xmlns:a16="http://schemas.microsoft.com/office/drawing/2014/main" id="{C8169D6C-81FB-E6A5-0529-CD879A6C6623}"/>
                </a:ext>
              </a:extLst>
            </p:cNvPr>
            <p:cNvSpPr/>
            <p:nvPr/>
          </p:nvSpPr>
          <p:spPr>
            <a:xfrm>
              <a:off x="800558" y="1696595"/>
              <a:ext cx="10282410" cy="498665"/>
            </a:xfrm>
            <a:prstGeom prst="round2SameRect">
              <a:avLst/>
            </a:prstGeom>
            <a:solidFill>
              <a:srgbClr val="05329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보안 대응 방안</a:t>
              </a:r>
            </a:p>
          </p:txBody>
        </p:sp>
        <p:pic>
          <p:nvPicPr>
            <p:cNvPr id="7" name="Picture 3">
              <a:extLst>
                <a:ext uri="{FF2B5EF4-FFF2-40B4-BE49-F238E27FC236}">
                  <a16:creationId xmlns:a16="http://schemas.microsoft.com/office/drawing/2014/main" id="{0E3E658A-5AF0-A5CC-41BD-758164D79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7151" y="2311034"/>
              <a:ext cx="2432415" cy="3337284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64410703-D04D-6648-2CA1-65EFC9A16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9779" y="3403172"/>
              <a:ext cx="2073136" cy="273515"/>
            </a:xfrm>
            <a:prstGeom prst="rect">
              <a:avLst/>
            </a:prstGeom>
          </p:spPr>
        </p:pic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D6D7CAA1-5241-4E35-6F24-EC34DC12DC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5945" y="4807517"/>
              <a:ext cx="2261273" cy="771930"/>
            </a:xfrm>
            <a:prstGeom prst="rect">
              <a:avLst/>
            </a:prstGeom>
          </p:spPr>
        </p:pic>
        <p:pic>
          <p:nvPicPr>
            <p:cNvPr id="15" name="Picture 21">
              <a:extLst>
                <a:ext uri="{FF2B5EF4-FFF2-40B4-BE49-F238E27FC236}">
                  <a16:creationId xmlns:a16="http://schemas.microsoft.com/office/drawing/2014/main" id="{C830D048-CE5E-80AD-2864-81B84F1388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5562" y="2388644"/>
              <a:ext cx="343487" cy="343487"/>
            </a:xfrm>
            <a:prstGeom prst="rect">
              <a:avLst/>
            </a:prstGeom>
          </p:spPr>
        </p:pic>
        <p:pic>
          <p:nvPicPr>
            <p:cNvPr id="16" name="Picture 26">
              <a:extLst>
                <a:ext uri="{FF2B5EF4-FFF2-40B4-BE49-F238E27FC236}">
                  <a16:creationId xmlns:a16="http://schemas.microsoft.com/office/drawing/2014/main" id="{BF0A5215-01E7-B61E-1B48-5592EE636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77567" y="2513354"/>
              <a:ext cx="400474" cy="434726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069CF2D-C153-7FA4-8DEB-DAF1075A9B03}"/>
                </a:ext>
              </a:extLst>
            </p:cNvPr>
            <p:cNvSpPr txBox="1"/>
            <p:nvPr/>
          </p:nvSpPr>
          <p:spPr>
            <a:xfrm>
              <a:off x="1256586" y="3051248"/>
              <a:ext cx="14424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취약 버전 식별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AD62B22-ACAB-F023-7A8F-3CEA4143ADB4}"/>
                </a:ext>
              </a:extLst>
            </p:cNvPr>
            <p:cNvSpPr txBox="1"/>
            <p:nvPr/>
          </p:nvSpPr>
          <p:spPr>
            <a:xfrm>
              <a:off x="1529194" y="3403011"/>
              <a:ext cx="8972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원인 제거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D30E61D-C324-AC2C-67DF-C2CE030A9D68}"/>
                </a:ext>
              </a:extLst>
            </p:cNvPr>
            <p:cNvSpPr txBox="1"/>
            <p:nvPr/>
          </p:nvSpPr>
          <p:spPr>
            <a:xfrm>
              <a:off x="583369" y="3775361"/>
              <a:ext cx="250438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Spring Framework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내</a:t>
              </a:r>
              <a:b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</a:b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  RCE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취약점 존재 여부 점검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사용 중인 버전 식별 및</a:t>
              </a:r>
              <a:b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</a:b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 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영향도 분석</a:t>
              </a:r>
            </a:p>
          </p:txBody>
        </p:sp>
        <p:pic>
          <p:nvPicPr>
            <p:cNvPr id="20" name="Picture 37">
              <a:extLst>
                <a:ext uri="{FF2B5EF4-FFF2-40B4-BE49-F238E27FC236}">
                  <a16:creationId xmlns:a16="http://schemas.microsoft.com/office/drawing/2014/main" id="{A26B2F73-0BF4-AE9F-1B07-A9309211705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24736" y="5022376"/>
              <a:ext cx="387634" cy="387634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0E6B32C-6915-6819-24C8-9BF521E9599F}"/>
                </a:ext>
              </a:extLst>
            </p:cNvPr>
            <p:cNvSpPr txBox="1"/>
            <p:nvPr/>
          </p:nvSpPr>
          <p:spPr>
            <a:xfrm>
              <a:off x="1260868" y="4872836"/>
              <a:ext cx="1585398" cy="616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조치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취약 버전 패치 적용</a:t>
              </a:r>
            </a:p>
          </p:txBody>
        </p:sp>
        <p:pic>
          <p:nvPicPr>
            <p:cNvPr id="59" name="Picture 3">
              <a:extLst>
                <a:ext uri="{FF2B5EF4-FFF2-40B4-BE49-F238E27FC236}">
                  <a16:creationId xmlns:a16="http://schemas.microsoft.com/office/drawing/2014/main" id="{89DAFE88-CA5C-D7FB-8FC9-D43EACF93D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15134" y="2311034"/>
              <a:ext cx="2432415" cy="3337284"/>
            </a:xfrm>
            <a:prstGeom prst="rect">
              <a:avLst/>
            </a:prstGeom>
          </p:spPr>
        </p:pic>
        <p:pic>
          <p:nvPicPr>
            <p:cNvPr id="60" name="Picture 4">
              <a:extLst>
                <a:ext uri="{FF2B5EF4-FFF2-40B4-BE49-F238E27FC236}">
                  <a16:creationId xmlns:a16="http://schemas.microsoft.com/office/drawing/2014/main" id="{6157067D-A5D0-4EDB-7C0C-6A34CD5CD1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67762" y="3403172"/>
              <a:ext cx="2073136" cy="273515"/>
            </a:xfrm>
            <a:prstGeom prst="rect">
              <a:avLst/>
            </a:prstGeom>
          </p:spPr>
        </p:pic>
        <p:pic>
          <p:nvPicPr>
            <p:cNvPr id="61" name="Picture 6">
              <a:extLst>
                <a:ext uri="{FF2B5EF4-FFF2-40B4-BE49-F238E27FC236}">
                  <a16:creationId xmlns:a16="http://schemas.microsoft.com/office/drawing/2014/main" id="{C237C30E-41D5-7450-FA10-12B09D424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93928" y="4807517"/>
              <a:ext cx="2261273" cy="771930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B26F9CB-0780-6891-0582-1F8C7D6A7D3F}"/>
                </a:ext>
              </a:extLst>
            </p:cNvPr>
            <p:cNvSpPr txBox="1"/>
            <p:nvPr/>
          </p:nvSpPr>
          <p:spPr>
            <a:xfrm>
              <a:off x="3903345" y="3051248"/>
              <a:ext cx="14424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보안 패치 적용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8DFCCC2-37C7-A0A0-571F-FC2ED92EFDBD}"/>
                </a:ext>
              </a:extLst>
            </p:cNvPr>
            <p:cNvSpPr txBox="1"/>
            <p:nvPr/>
          </p:nvSpPr>
          <p:spPr>
            <a:xfrm>
              <a:off x="3985124" y="3396757"/>
              <a:ext cx="12994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공격 초기 차단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C05A345-7863-8B32-F6FC-4BDDED793BAE}"/>
                </a:ext>
              </a:extLst>
            </p:cNvPr>
            <p:cNvSpPr txBox="1"/>
            <p:nvPr/>
          </p:nvSpPr>
          <p:spPr>
            <a:xfrm>
              <a:off x="3211352" y="3775361"/>
              <a:ext cx="262798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Spring Framework</a:t>
              </a:r>
              <a:b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</a:b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  5.3.18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또는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5.2.20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이상으로</a:t>
              </a:r>
              <a:b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</a:b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업데이트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관련 보안 공지 지속 모니터링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1CC2F6-958C-3730-4B1D-2E03F953E29C}"/>
                </a:ext>
              </a:extLst>
            </p:cNvPr>
            <p:cNvSpPr txBox="1"/>
            <p:nvPr/>
          </p:nvSpPr>
          <p:spPr>
            <a:xfrm>
              <a:off x="3882276" y="4872836"/>
              <a:ext cx="1880628" cy="616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조치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즉시 패치 및 주기적 점검</a:t>
              </a:r>
            </a:p>
          </p:txBody>
        </p:sp>
        <p:pic>
          <p:nvPicPr>
            <p:cNvPr id="70" name="Picture 3">
              <a:extLst>
                <a:ext uri="{FF2B5EF4-FFF2-40B4-BE49-F238E27FC236}">
                  <a16:creationId xmlns:a16="http://schemas.microsoft.com/office/drawing/2014/main" id="{C71DE337-6B48-043E-FBDF-2B95ED2271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43117" y="2311034"/>
              <a:ext cx="2432415" cy="3337284"/>
            </a:xfrm>
            <a:prstGeom prst="rect">
              <a:avLst/>
            </a:prstGeom>
          </p:spPr>
        </p:pic>
        <p:pic>
          <p:nvPicPr>
            <p:cNvPr id="71" name="Picture 4">
              <a:extLst>
                <a:ext uri="{FF2B5EF4-FFF2-40B4-BE49-F238E27FC236}">
                  <a16:creationId xmlns:a16="http://schemas.microsoft.com/office/drawing/2014/main" id="{B00E76F5-F3D1-6806-11A0-222CB39A4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95745" y="3403172"/>
              <a:ext cx="2073136" cy="273515"/>
            </a:xfrm>
            <a:prstGeom prst="rect">
              <a:avLst/>
            </a:prstGeom>
          </p:spPr>
        </p:pic>
        <p:pic>
          <p:nvPicPr>
            <p:cNvPr id="72" name="Picture 6">
              <a:extLst>
                <a:ext uri="{FF2B5EF4-FFF2-40B4-BE49-F238E27FC236}">
                  <a16:creationId xmlns:a16="http://schemas.microsoft.com/office/drawing/2014/main" id="{907991DF-5504-E33A-9230-5A84701AE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1911" y="4807517"/>
              <a:ext cx="2261273" cy="771930"/>
            </a:xfrm>
            <a:prstGeom prst="rect">
              <a:avLst/>
            </a:prstGeom>
          </p:spPr>
        </p:pic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DE8E87A-9133-5605-9A84-70A093D78460}"/>
                </a:ext>
              </a:extLst>
            </p:cNvPr>
            <p:cNvSpPr txBox="1"/>
            <p:nvPr/>
          </p:nvSpPr>
          <p:spPr>
            <a:xfrm>
              <a:off x="6342784" y="3051248"/>
              <a:ext cx="1833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긴급 차단 정책 적용</a:t>
              </a: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10000000000000000" pitchFamily="2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70102D07-3593-A403-9AA0-EE79385C4BA0}"/>
                </a:ext>
              </a:extLst>
            </p:cNvPr>
            <p:cNvSpPr txBox="1"/>
            <p:nvPr/>
          </p:nvSpPr>
          <p:spPr>
            <a:xfrm>
              <a:off x="6531328" y="3403011"/>
              <a:ext cx="14424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공격 탐지 및 차단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10000000000000000" pitchFamily="2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B8DFAFF-B785-5925-873F-C8CE7E8232F7}"/>
                </a:ext>
              </a:extLst>
            </p:cNvPr>
            <p:cNvSpPr txBox="1"/>
            <p:nvPr/>
          </p:nvSpPr>
          <p:spPr>
            <a:xfrm>
              <a:off x="5839335" y="3775361"/>
              <a:ext cx="250438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WAF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에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Spring4Shell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탐지</a:t>
              </a:r>
              <a:b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</a:b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 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패턴 등록 및 차단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의심 요청에 대한 실시간</a:t>
              </a:r>
              <a:b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</a:b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 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탐지 및 차단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834D9DA-A176-F00C-FB39-322CE02D5812}"/>
                </a:ext>
              </a:extLst>
            </p:cNvPr>
            <p:cNvSpPr txBox="1"/>
            <p:nvPr/>
          </p:nvSpPr>
          <p:spPr>
            <a:xfrm>
              <a:off x="6516836" y="4872836"/>
              <a:ext cx="1880630" cy="616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조치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WAF 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룰 적용 및 모니터링</a:t>
              </a:r>
            </a:p>
          </p:txBody>
        </p:sp>
        <p:pic>
          <p:nvPicPr>
            <p:cNvPr id="81" name="Picture 3">
              <a:extLst>
                <a:ext uri="{FF2B5EF4-FFF2-40B4-BE49-F238E27FC236}">
                  <a16:creationId xmlns:a16="http://schemas.microsoft.com/office/drawing/2014/main" id="{9EF923E2-6B8B-1404-9F59-E291B2500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71101" y="2311034"/>
              <a:ext cx="2432415" cy="3337284"/>
            </a:xfrm>
            <a:prstGeom prst="rect">
              <a:avLst/>
            </a:prstGeom>
          </p:spPr>
        </p:pic>
        <p:pic>
          <p:nvPicPr>
            <p:cNvPr id="82" name="Picture 4">
              <a:extLst>
                <a:ext uri="{FF2B5EF4-FFF2-40B4-BE49-F238E27FC236}">
                  <a16:creationId xmlns:a16="http://schemas.microsoft.com/office/drawing/2014/main" id="{6B6A76F2-D120-5D74-D44B-058DA7D53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23729" y="3403172"/>
              <a:ext cx="2073136" cy="273515"/>
            </a:xfrm>
            <a:prstGeom prst="rect">
              <a:avLst/>
            </a:prstGeom>
          </p:spPr>
        </p:pic>
        <p:pic>
          <p:nvPicPr>
            <p:cNvPr id="83" name="Picture 6">
              <a:extLst>
                <a:ext uri="{FF2B5EF4-FFF2-40B4-BE49-F238E27FC236}">
                  <a16:creationId xmlns:a16="http://schemas.microsoft.com/office/drawing/2014/main" id="{5FB2B8DB-6B92-2197-B131-10F2D47196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49895" y="4807517"/>
              <a:ext cx="2261273" cy="771930"/>
            </a:xfrm>
            <a:prstGeom prst="rect">
              <a:avLst/>
            </a:prstGeom>
          </p:spPr>
        </p:pic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8C57A93-F24D-D2B2-347B-A21800A360E0}"/>
                </a:ext>
              </a:extLst>
            </p:cNvPr>
            <p:cNvSpPr txBox="1"/>
            <p:nvPr/>
          </p:nvSpPr>
          <p:spPr>
            <a:xfrm>
              <a:off x="8989869" y="3051248"/>
              <a:ext cx="17948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원격 명령 실행 방지</a:t>
              </a: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10000000000000000" pitchFamily="2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A272015-8E20-3860-4DC8-2A681820A4A4}"/>
                </a:ext>
              </a:extLst>
            </p:cNvPr>
            <p:cNvSpPr txBox="1"/>
            <p:nvPr/>
          </p:nvSpPr>
          <p:spPr>
            <a:xfrm>
              <a:off x="9235466" y="3403172"/>
              <a:ext cx="12496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내부 확산 방지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10000000000000000" pitchFamily="2" charset="0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1BCE177A-6E9C-6A1F-938A-BFFDAD06F08D}"/>
                </a:ext>
              </a:extLst>
            </p:cNvPr>
            <p:cNvSpPr txBox="1"/>
            <p:nvPr/>
          </p:nvSpPr>
          <p:spPr>
            <a:xfrm>
              <a:off x="8467319" y="3775361"/>
              <a:ext cx="269625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비인가 요청 및 악성 파라미터</a:t>
              </a:r>
              <a:b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</a:b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 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유입 통제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시스템 로그 수집 및 이상 징후</a:t>
              </a:r>
              <a:b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</a:b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 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모니터링 강화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9D412CD-9202-E870-7D9F-2363AC98462B}"/>
                </a:ext>
              </a:extLst>
            </p:cNvPr>
            <p:cNvSpPr txBox="1"/>
            <p:nvPr/>
          </p:nvSpPr>
          <p:spPr>
            <a:xfrm>
              <a:off x="9065881" y="4872836"/>
              <a:ext cx="2016632" cy="616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조치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접근 통제 및 로그 모니터링</a:t>
              </a:r>
            </a:p>
          </p:txBody>
        </p:sp>
        <p:pic>
          <p:nvPicPr>
            <p:cNvPr id="91" name="Picture 22">
              <a:extLst>
                <a:ext uri="{FF2B5EF4-FFF2-40B4-BE49-F238E27FC236}">
                  <a16:creationId xmlns:a16="http://schemas.microsoft.com/office/drawing/2014/main" id="{71384F72-58E4-580D-FA37-9306A0D666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535099" y="2388644"/>
              <a:ext cx="342000" cy="342000"/>
            </a:xfrm>
            <a:prstGeom prst="rect">
              <a:avLst/>
            </a:prstGeom>
          </p:spPr>
        </p:pic>
        <p:pic>
          <p:nvPicPr>
            <p:cNvPr id="92" name="Picture 23">
              <a:extLst>
                <a:ext uri="{FF2B5EF4-FFF2-40B4-BE49-F238E27FC236}">
                  <a16:creationId xmlns:a16="http://schemas.microsoft.com/office/drawing/2014/main" id="{678FEEF5-DB85-87EA-757C-0A14BDC8B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163149" y="2388644"/>
              <a:ext cx="342000" cy="342000"/>
            </a:xfrm>
            <a:prstGeom prst="rect">
              <a:avLst/>
            </a:prstGeom>
          </p:spPr>
        </p:pic>
        <p:pic>
          <p:nvPicPr>
            <p:cNvPr id="93" name="Picture 24">
              <a:extLst>
                <a:ext uri="{FF2B5EF4-FFF2-40B4-BE49-F238E27FC236}">
                  <a16:creationId xmlns:a16="http://schemas.microsoft.com/office/drawing/2014/main" id="{E3FF04F9-78CF-39FA-C188-CC2F3E1F1D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791200" y="2388644"/>
              <a:ext cx="342000" cy="342000"/>
            </a:xfrm>
            <a:prstGeom prst="rect">
              <a:avLst/>
            </a:prstGeom>
          </p:spPr>
        </p:pic>
        <p:pic>
          <p:nvPicPr>
            <p:cNvPr id="94" name="Picture 30">
              <a:extLst>
                <a:ext uri="{FF2B5EF4-FFF2-40B4-BE49-F238E27FC236}">
                  <a16:creationId xmlns:a16="http://schemas.microsoft.com/office/drawing/2014/main" id="{5C3E0A68-ECDC-BBC7-61D4-485B351BC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32891" y="2465412"/>
              <a:ext cx="530463" cy="530463"/>
            </a:xfrm>
            <a:prstGeom prst="rect">
              <a:avLst/>
            </a:prstGeom>
          </p:spPr>
        </p:pic>
        <p:pic>
          <p:nvPicPr>
            <p:cNvPr id="95" name="Picture 29">
              <a:extLst>
                <a:ext uri="{FF2B5EF4-FFF2-40B4-BE49-F238E27FC236}">
                  <a16:creationId xmlns:a16="http://schemas.microsoft.com/office/drawing/2014/main" id="{F8442CAA-F4FE-DC12-A3F9-A0FB7BCF1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007203" y="2464977"/>
              <a:ext cx="483103" cy="483103"/>
            </a:xfrm>
            <a:prstGeom prst="rect">
              <a:avLst/>
            </a:prstGeom>
          </p:spPr>
        </p:pic>
        <p:pic>
          <p:nvPicPr>
            <p:cNvPr id="96" name="Picture 28">
              <a:extLst>
                <a:ext uri="{FF2B5EF4-FFF2-40B4-BE49-F238E27FC236}">
                  <a16:creationId xmlns:a16="http://schemas.microsoft.com/office/drawing/2014/main" id="{D9BCE6AA-FD31-CE2B-D751-93B5ACFECD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538460" y="2381795"/>
              <a:ext cx="697696" cy="697696"/>
            </a:xfrm>
            <a:prstGeom prst="rect">
              <a:avLst/>
            </a:prstGeom>
          </p:spPr>
        </p:pic>
        <p:pic>
          <p:nvPicPr>
            <p:cNvPr id="97" name="Picture 31">
              <a:extLst>
                <a:ext uri="{FF2B5EF4-FFF2-40B4-BE49-F238E27FC236}">
                  <a16:creationId xmlns:a16="http://schemas.microsoft.com/office/drawing/2014/main" id="{9CE4F91C-A679-61AC-7357-2F2408460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591388" y="5042638"/>
              <a:ext cx="323850" cy="317500"/>
            </a:xfrm>
            <a:prstGeom prst="rect">
              <a:avLst/>
            </a:prstGeom>
          </p:spPr>
        </p:pic>
        <p:pic>
          <p:nvPicPr>
            <p:cNvPr id="98" name="Picture 32">
              <a:extLst>
                <a:ext uri="{FF2B5EF4-FFF2-40B4-BE49-F238E27FC236}">
                  <a16:creationId xmlns:a16="http://schemas.microsoft.com/office/drawing/2014/main" id="{27181572-9FDF-8708-8AF9-62E9991AD5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810573" y="5022376"/>
              <a:ext cx="308038" cy="358021"/>
            </a:xfrm>
            <a:prstGeom prst="rect">
              <a:avLst/>
            </a:prstGeom>
          </p:spPr>
        </p:pic>
        <p:pic>
          <p:nvPicPr>
            <p:cNvPr id="99" name="Picture 27">
              <a:extLst>
                <a:ext uri="{FF2B5EF4-FFF2-40B4-BE49-F238E27FC236}">
                  <a16:creationId xmlns:a16="http://schemas.microsoft.com/office/drawing/2014/main" id="{7B5C3F74-0D9B-3C6B-253E-EC33E5CB7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6203007" y="5004407"/>
              <a:ext cx="328322" cy="3602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30696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F7EDD-FF79-9C01-685C-4E1E766E9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3758A14-558F-13DE-9FB2-2B8078A35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© 2026 Team ONE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84599D-3096-E79A-11D3-9D3C5F29C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730BA1-3F6D-49E0-8F01-E02E0ED4523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AC8B7F-D447-196B-D022-4C620D403075}"/>
              </a:ext>
            </a:extLst>
          </p:cNvPr>
          <p:cNvSpPr txBox="1"/>
          <p:nvPr/>
        </p:nvSpPr>
        <p:spPr>
          <a:xfrm>
            <a:off x="285750" y="366003"/>
            <a:ext cx="29338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시나리오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대응방안</a:t>
            </a: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5AE483DA-BB2F-A3A1-EF3F-8FC78CC6AA40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3403F72A-68C9-0644-47B8-D950FF8BDB72}"/>
              </a:ext>
            </a:extLst>
          </p:cNvPr>
          <p:cNvSpPr txBox="1">
            <a:spLocks/>
          </p:cNvSpPr>
          <p:nvPr/>
        </p:nvSpPr>
        <p:spPr>
          <a:xfrm>
            <a:off x="9474201" y="150617"/>
            <a:ext cx="2520950" cy="8001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IV.</a:t>
            </a:r>
            <a:r>
              <a:rPr kumimoji="0" lang="ko-KR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 보안대책 가이드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0C937CC-12D1-2ED8-E195-0857BB0C1745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noFill/>
          <a:ln w="57150" cap="flat" cmpd="sng" algn="ctr">
            <a:solidFill>
              <a:srgbClr val="4472C4"/>
            </a:solidFill>
            <a:prstDash val="solid"/>
            <a:miter lim="800000"/>
          </a:ln>
          <a:effectLst/>
        </p:spPr>
      </p:cxn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F93FA91-470C-A782-4812-DF2BBAE9C014}"/>
              </a:ext>
            </a:extLst>
          </p:cNvPr>
          <p:cNvGrpSpPr/>
          <p:nvPr/>
        </p:nvGrpSpPr>
        <p:grpSpPr>
          <a:xfrm>
            <a:off x="561335" y="1696595"/>
            <a:ext cx="10755657" cy="4362682"/>
            <a:chOff x="561335" y="1696595"/>
            <a:chExt cx="10755657" cy="4362682"/>
          </a:xfrm>
        </p:grpSpPr>
        <p:pic>
          <p:nvPicPr>
            <p:cNvPr id="5" name="Picture 3">
              <a:extLst>
                <a:ext uri="{FF2B5EF4-FFF2-40B4-BE49-F238E27FC236}">
                  <a16:creationId xmlns:a16="http://schemas.microsoft.com/office/drawing/2014/main" id="{54421CA9-E124-A7F5-917D-0964C1185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558" y="2356820"/>
              <a:ext cx="2036072" cy="3702457"/>
            </a:xfrm>
            <a:prstGeom prst="rect">
              <a:avLst/>
            </a:prstGeom>
          </p:spPr>
        </p:pic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BBC76BB5-DA6E-4122-CBC6-1D1638716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3276" y="3572454"/>
              <a:ext cx="1765207" cy="296927"/>
            </a:xfrm>
            <a:prstGeom prst="rect">
              <a:avLst/>
            </a:prstGeom>
          </p:spPr>
        </p:pic>
        <p:pic>
          <p:nvPicPr>
            <p:cNvPr id="11" name="Picture 6">
              <a:extLst>
                <a:ext uri="{FF2B5EF4-FFF2-40B4-BE49-F238E27FC236}">
                  <a16:creationId xmlns:a16="http://schemas.microsoft.com/office/drawing/2014/main" id="{E75EBE18-7652-E767-A4D3-4FE4821B11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5008" y="5119178"/>
              <a:ext cx="1882681" cy="850744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4366B0C2-4E26-FCE4-BD2B-D16D272DCB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5008" y="2426338"/>
              <a:ext cx="343487" cy="343487"/>
            </a:xfrm>
            <a:prstGeom prst="rect">
              <a:avLst/>
            </a:prstGeom>
          </p:spPr>
        </p:pic>
        <p:pic>
          <p:nvPicPr>
            <p:cNvPr id="12" name="Picture 26">
              <a:extLst>
                <a:ext uri="{FF2B5EF4-FFF2-40B4-BE49-F238E27FC236}">
                  <a16:creationId xmlns:a16="http://schemas.microsoft.com/office/drawing/2014/main" id="{C5AAA179-2929-5A71-F7E6-FE48415BCA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13288" y="2644030"/>
              <a:ext cx="400474" cy="434726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A841467-4E61-D0DF-702A-B3FE83BACB10}"/>
                </a:ext>
              </a:extLst>
            </p:cNvPr>
            <p:cNvSpPr txBox="1"/>
            <p:nvPr/>
          </p:nvSpPr>
          <p:spPr>
            <a:xfrm>
              <a:off x="1168451" y="3150401"/>
              <a:ext cx="1434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취약 버전 점검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3D7081-580F-4B2B-87FC-CBCDAC4759FE}"/>
                </a:ext>
              </a:extLst>
            </p:cNvPr>
            <p:cNvSpPr txBox="1"/>
            <p:nvPr/>
          </p:nvSpPr>
          <p:spPr>
            <a:xfrm>
              <a:off x="961253" y="3581381"/>
              <a:ext cx="17946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취약점 노출 여부 확인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255F2EE-5A41-C434-F270-6E81C6FF5AC9}"/>
                </a:ext>
              </a:extLst>
            </p:cNvPr>
            <p:cNvSpPr txBox="1"/>
            <p:nvPr/>
          </p:nvSpPr>
          <p:spPr>
            <a:xfrm>
              <a:off x="1271885" y="5170284"/>
              <a:ext cx="158539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조치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취약점 점검 및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영향도 분석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30A1E50-33B7-619E-82EF-3BC8C25A558F}"/>
                </a:ext>
              </a:extLst>
            </p:cNvPr>
            <p:cNvSpPr txBox="1"/>
            <p:nvPr/>
          </p:nvSpPr>
          <p:spPr>
            <a:xfrm>
              <a:off x="561335" y="4050786"/>
              <a:ext cx="250438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TeamCity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인증 우회</a:t>
              </a:r>
              <a:b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</a:b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 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취약점 노출 여부 확인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사용 중인 버전 및 설정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 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점검</a:t>
              </a:r>
            </a:p>
          </p:txBody>
        </p:sp>
        <p:pic>
          <p:nvPicPr>
            <p:cNvPr id="126" name="Picture 3">
              <a:extLst>
                <a:ext uri="{FF2B5EF4-FFF2-40B4-BE49-F238E27FC236}">
                  <a16:creationId xmlns:a16="http://schemas.microsoft.com/office/drawing/2014/main" id="{F282D8E4-E236-0A1C-6E44-D0084D2EB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63377" y="2356820"/>
              <a:ext cx="2036072" cy="3702457"/>
            </a:xfrm>
            <a:prstGeom prst="rect">
              <a:avLst/>
            </a:prstGeom>
          </p:spPr>
        </p:pic>
        <p:pic>
          <p:nvPicPr>
            <p:cNvPr id="127" name="Picture 4">
              <a:extLst>
                <a:ext uri="{FF2B5EF4-FFF2-40B4-BE49-F238E27FC236}">
                  <a16:creationId xmlns:a16="http://schemas.microsoft.com/office/drawing/2014/main" id="{19926EAB-F64E-18B6-3C49-52D8AFFF1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96095" y="3572454"/>
              <a:ext cx="1765207" cy="296927"/>
            </a:xfrm>
            <a:prstGeom prst="rect">
              <a:avLst/>
            </a:prstGeom>
          </p:spPr>
        </p:pic>
        <p:pic>
          <p:nvPicPr>
            <p:cNvPr id="128" name="Picture 6">
              <a:extLst>
                <a:ext uri="{FF2B5EF4-FFF2-40B4-BE49-F238E27FC236}">
                  <a16:creationId xmlns:a16="http://schemas.microsoft.com/office/drawing/2014/main" id="{473EDE9B-BFA1-D0C3-A486-A4AD6562EF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37827" y="5119178"/>
              <a:ext cx="1882681" cy="850744"/>
            </a:xfrm>
            <a:prstGeom prst="rect">
              <a:avLst/>
            </a:prstGeom>
          </p:spPr>
        </p:pic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BCDF45BB-51FF-F328-A098-9CA9011749D5}"/>
                </a:ext>
              </a:extLst>
            </p:cNvPr>
            <p:cNvSpPr txBox="1"/>
            <p:nvPr/>
          </p:nvSpPr>
          <p:spPr>
            <a:xfrm>
              <a:off x="2999914" y="3150401"/>
              <a:ext cx="17693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보안 업데이트 적용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2A70610B-95A8-3C53-9AEC-41D66EE35732}"/>
                </a:ext>
              </a:extLst>
            </p:cNvPr>
            <p:cNvSpPr txBox="1"/>
            <p:nvPr/>
          </p:nvSpPr>
          <p:spPr>
            <a:xfrm>
              <a:off x="3134242" y="3581381"/>
              <a:ext cx="17946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최신 버전 업데이트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A47E108C-E287-5A99-4C13-A9E3EF6CFF89}"/>
                </a:ext>
              </a:extLst>
            </p:cNvPr>
            <p:cNvSpPr txBox="1"/>
            <p:nvPr/>
          </p:nvSpPr>
          <p:spPr>
            <a:xfrm>
              <a:off x="3334704" y="5170284"/>
              <a:ext cx="158539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조치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최신 버전 유지 및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주기적 점검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5C5CC007-CB96-47F2-1716-BA5625E6557D}"/>
                </a:ext>
              </a:extLst>
            </p:cNvPr>
            <p:cNvSpPr txBox="1"/>
            <p:nvPr/>
          </p:nvSpPr>
          <p:spPr>
            <a:xfrm>
              <a:off x="2624154" y="4050786"/>
              <a:ext cx="250438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TeamCity </a:t>
              </a:r>
              <a:r>
                <a:rPr kumimoji="0" lang="en-US" altLang="ko-KR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2023.11.4 </a:t>
              </a:r>
              <a:r>
                <a:rPr lang="ko-KR" altLang="en-US" sz="120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이상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  버전으로 즉시 업데이트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보안 공지 및 릴리즈 노트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  정기 확인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38" name="Picture 3">
              <a:extLst>
                <a:ext uri="{FF2B5EF4-FFF2-40B4-BE49-F238E27FC236}">
                  <a16:creationId xmlns:a16="http://schemas.microsoft.com/office/drawing/2014/main" id="{2FEEE1B2-E995-AA4B-4C8C-8D37CDCEDC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26196" y="2356820"/>
              <a:ext cx="2036072" cy="3702457"/>
            </a:xfrm>
            <a:prstGeom prst="rect">
              <a:avLst/>
            </a:prstGeom>
          </p:spPr>
        </p:pic>
        <p:pic>
          <p:nvPicPr>
            <p:cNvPr id="139" name="Picture 4">
              <a:extLst>
                <a:ext uri="{FF2B5EF4-FFF2-40B4-BE49-F238E27FC236}">
                  <a16:creationId xmlns:a16="http://schemas.microsoft.com/office/drawing/2014/main" id="{C8C2B83A-5262-E195-AEB5-11F735BB9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58914" y="3572454"/>
              <a:ext cx="1765207" cy="296927"/>
            </a:xfrm>
            <a:prstGeom prst="rect">
              <a:avLst/>
            </a:prstGeom>
          </p:spPr>
        </p:pic>
        <p:pic>
          <p:nvPicPr>
            <p:cNvPr id="140" name="Picture 6">
              <a:extLst>
                <a:ext uri="{FF2B5EF4-FFF2-40B4-BE49-F238E27FC236}">
                  <a16:creationId xmlns:a16="http://schemas.microsoft.com/office/drawing/2014/main" id="{0AC60367-379B-98EA-FB39-73E2C89CC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00646" y="5119178"/>
              <a:ext cx="1882681" cy="850744"/>
            </a:xfrm>
            <a:prstGeom prst="rect">
              <a:avLst/>
            </a:prstGeom>
          </p:spPr>
        </p:pic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F85333A1-6BD4-EA2B-8381-7C58E3DC871A}"/>
                </a:ext>
              </a:extLst>
            </p:cNvPr>
            <p:cNvSpPr txBox="1"/>
            <p:nvPr/>
          </p:nvSpPr>
          <p:spPr>
            <a:xfrm>
              <a:off x="5294089" y="3150401"/>
              <a:ext cx="1434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익명 접근 차단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F7ABE261-0971-5D48-EC3F-BCAC332621FD}"/>
                </a:ext>
              </a:extLst>
            </p:cNvPr>
            <p:cNvSpPr txBox="1"/>
            <p:nvPr/>
          </p:nvSpPr>
          <p:spPr>
            <a:xfrm>
              <a:off x="5086891" y="3581381"/>
              <a:ext cx="17946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불</a:t>
              </a:r>
              <a:r>
                <a:rPr lang="ko-KR" altLang="en-US" sz="1200" b="1">
                  <a:solidFill>
                    <a:srgbClr val="05329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필</a:t>
              </a:r>
              <a:r>
                <a:rPr kumimoji="0" lang="ko-KR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요 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익명 권한 제거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BBB28E68-8E43-8AF1-BE2B-704968BB591E}"/>
                </a:ext>
              </a:extLst>
            </p:cNvPr>
            <p:cNvSpPr txBox="1"/>
            <p:nvPr/>
          </p:nvSpPr>
          <p:spPr>
            <a:xfrm>
              <a:off x="5397523" y="5170284"/>
              <a:ext cx="158539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조치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익명 권한 제거 및 최소 권한 원칙 적용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167B8360-5031-8AAE-AC3F-7D63E7B243D0}"/>
                </a:ext>
              </a:extLst>
            </p:cNvPr>
            <p:cNvSpPr txBox="1"/>
            <p:nvPr/>
          </p:nvSpPr>
          <p:spPr>
            <a:xfrm>
              <a:off x="4686973" y="4050786"/>
              <a:ext cx="250438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시스템 내 불필요한</a:t>
              </a:r>
              <a:b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</a:b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 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익명 권한 제거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비인가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API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및 기능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  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접근 제한</a:t>
              </a:r>
            </a:p>
          </p:txBody>
        </p:sp>
        <p:pic>
          <p:nvPicPr>
            <p:cNvPr id="150" name="Picture 3">
              <a:extLst>
                <a:ext uri="{FF2B5EF4-FFF2-40B4-BE49-F238E27FC236}">
                  <a16:creationId xmlns:a16="http://schemas.microsoft.com/office/drawing/2014/main" id="{F4359E53-29BC-D5F6-9511-58157447EA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89015" y="2356820"/>
              <a:ext cx="2036072" cy="3702457"/>
            </a:xfrm>
            <a:prstGeom prst="rect">
              <a:avLst/>
            </a:prstGeom>
          </p:spPr>
        </p:pic>
        <p:pic>
          <p:nvPicPr>
            <p:cNvPr id="151" name="Picture 4">
              <a:extLst>
                <a:ext uri="{FF2B5EF4-FFF2-40B4-BE49-F238E27FC236}">
                  <a16:creationId xmlns:a16="http://schemas.microsoft.com/office/drawing/2014/main" id="{A0D223D7-C3DB-6F28-C918-35BBD092A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21733" y="3572454"/>
              <a:ext cx="1765207" cy="296927"/>
            </a:xfrm>
            <a:prstGeom prst="rect">
              <a:avLst/>
            </a:prstGeom>
          </p:spPr>
        </p:pic>
        <p:pic>
          <p:nvPicPr>
            <p:cNvPr id="152" name="Picture 6">
              <a:extLst>
                <a:ext uri="{FF2B5EF4-FFF2-40B4-BE49-F238E27FC236}">
                  <a16:creationId xmlns:a16="http://schemas.microsoft.com/office/drawing/2014/main" id="{F9543866-04BA-0362-BF0C-651EDC3EF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63465" y="5119178"/>
              <a:ext cx="1882681" cy="850744"/>
            </a:xfrm>
            <a:prstGeom prst="rect">
              <a:avLst/>
            </a:prstGeom>
          </p:spPr>
        </p:pic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B3FBCAD0-0DE3-BBF9-7DB6-568CBD0B5DAF}"/>
                </a:ext>
              </a:extLst>
            </p:cNvPr>
            <p:cNvSpPr txBox="1"/>
            <p:nvPr/>
          </p:nvSpPr>
          <p:spPr>
            <a:xfrm>
              <a:off x="7114534" y="3150401"/>
              <a:ext cx="18276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내부 자산 접근 통제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651D05A4-FFDC-B067-3C06-0AF771D1984B}"/>
                </a:ext>
              </a:extLst>
            </p:cNvPr>
            <p:cNvSpPr txBox="1"/>
            <p:nvPr/>
          </p:nvSpPr>
          <p:spPr>
            <a:xfrm>
              <a:off x="7226829" y="3581381"/>
              <a:ext cx="17946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내부 자산 접근 제한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5A4E8C50-5914-5936-0DF9-2483ACDCD1DC}"/>
                </a:ext>
              </a:extLst>
            </p:cNvPr>
            <p:cNvSpPr txBox="1"/>
            <p:nvPr/>
          </p:nvSpPr>
          <p:spPr>
            <a:xfrm>
              <a:off x="7460342" y="5170284"/>
              <a:ext cx="158539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조치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내부 자산 접근 통제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및 권한 최소화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AC2FD3BB-B8A9-B961-F463-4BA4C6D5E081}"/>
                </a:ext>
              </a:extLst>
            </p:cNvPr>
            <p:cNvSpPr txBox="1"/>
            <p:nvPr/>
          </p:nvSpPr>
          <p:spPr>
            <a:xfrm>
              <a:off x="6749792" y="4050786"/>
              <a:ext cx="250438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NAS, DB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등 내부 자산</a:t>
              </a:r>
              <a:b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</a:b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 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접근 제한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접근 권한 최소화 및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  SSL/TLS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적용</a:t>
              </a:r>
            </a:p>
          </p:txBody>
        </p:sp>
        <p:pic>
          <p:nvPicPr>
            <p:cNvPr id="162" name="Picture 3">
              <a:extLst>
                <a:ext uri="{FF2B5EF4-FFF2-40B4-BE49-F238E27FC236}">
                  <a16:creationId xmlns:a16="http://schemas.microsoft.com/office/drawing/2014/main" id="{3685DDA7-2B26-3645-954B-5A7DA86D6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51834" y="2356819"/>
              <a:ext cx="2036072" cy="3702457"/>
            </a:xfrm>
            <a:prstGeom prst="rect">
              <a:avLst/>
            </a:prstGeom>
          </p:spPr>
        </p:pic>
        <p:pic>
          <p:nvPicPr>
            <p:cNvPr id="163" name="Picture 4">
              <a:extLst>
                <a:ext uri="{FF2B5EF4-FFF2-40B4-BE49-F238E27FC236}">
                  <a16:creationId xmlns:a16="http://schemas.microsoft.com/office/drawing/2014/main" id="{41F0DC84-F9C7-4ECC-DB2E-9057171243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84552" y="3572454"/>
              <a:ext cx="1765207" cy="296927"/>
            </a:xfrm>
            <a:prstGeom prst="rect">
              <a:avLst/>
            </a:prstGeom>
          </p:spPr>
        </p:pic>
        <p:pic>
          <p:nvPicPr>
            <p:cNvPr id="164" name="Picture 6">
              <a:extLst>
                <a:ext uri="{FF2B5EF4-FFF2-40B4-BE49-F238E27FC236}">
                  <a16:creationId xmlns:a16="http://schemas.microsoft.com/office/drawing/2014/main" id="{ED31A0A7-F791-3EEF-EE36-5E224102D3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26284" y="5119178"/>
              <a:ext cx="1882681" cy="850744"/>
            </a:xfrm>
            <a:prstGeom prst="rect">
              <a:avLst/>
            </a:prstGeom>
          </p:spPr>
        </p:pic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1396C009-98B6-8F28-E865-9663252B6815}"/>
                </a:ext>
              </a:extLst>
            </p:cNvPr>
            <p:cNvSpPr txBox="1">
              <a:spLocks/>
            </p:cNvSpPr>
            <p:nvPr/>
          </p:nvSpPr>
          <p:spPr>
            <a:xfrm>
              <a:off x="9188369" y="3150401"/>
              <a:ext cx="18389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네트워크 정책 강화</a:t>
              </a: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10000000000000000" pitchFamily="2" charset="0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AE2E0072-90BF-FAA7-575D-CBD9F3F0D347}"/>
                </a:ext>
              </a:extLst>
            </p:cNvPr>
            <p:cNvSpPr txBox="1">
              <a:spLocks/>
            </p:cNvSpPr>
            <p:nvPr/>
          </p:nvSpPr>
          <p:spPr>
            <a:xfrm>
              <a:off x="9157444" y="3581381"/>
              <a:ext cx="20080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화이트리스트 기반 통제</a:t>
              </a: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B69E1AD3-99C7-C9FC-FF46-55333C9EC15A}"/>
                </a:ext>
              </a:extLst>
            </p:cNvPr>
            <p:cNvSpPr txBox="1">
              <a:spLocks/>
            </p:cNvSpPr>
            <p:nvPr/>
          </p:nvSpPr>
          <p:spPr>
            <a:xfrm>
              <a:off x="9523161" y="5170284"/>
              <a:ext cx="158539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조치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방화벽 접근 통제 정책 강화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C1A61F0A-38E9-69E5-936A-FD0C5F044919}"/>
                </a:ext>
              </a:extLst>
            </p:cNvPr>
            <p:cNvSpPr txBox="1"/>
            <p:nvPr/>
          </p:nvSpPr>
          <p:spPr>
            <a:xfrm>
              <a:off x="8812611" y="4050786"/>
              <a:ext cx="250438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화이트리스트 기반</a:t>
              </a:r>
              <a:b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</a:b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 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접근 통제 정책 수립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외부 접속 차단 및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 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포트 제한</a:t>
              </a:r>
            </a:p>
          </p:txBody>
        </p:sp>
        <p:pic>
          <p:nvPicPr>
            <p:cNvPr id="171" name="Picture 49">
              <a:extLst>
                <a:ext uri="{FF2B5EF4-FFF2-40B4-BE49-F238E27FC236}">
                  <a16:creationId xmlns:a16="http://schemas.microsoft.com/office/drawing/2014/main" id="{9550AD1B-D593-4E9C-EEEE-6BBA34064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65098" y="2578866"/>
              <a:ext cx="506371" cy="506371"/>
            </a:xfrm>
            <a:prstGeom prst="rect">
              <a:avLst/>
            </a:prstGeom>
          </p:spPr>
        </p:pic>
        <p:pic>
          <p:nvPicPr>
            <p:cNvPr id="184" name="Picture 48">
              <a:extLst>
                <a:ext uri="{FF2B5EF4-FFF2-40B4-BE49-F238E27FC236}">
                  <a16:creationId xmlns:a16="http://schemas.microsoft.com/office/drawing/2014/main" id="{E414C2C1-5FCB-3BC6-1A52-348696988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781730" y="2649174"/>
              <a:ext cx="493252" cy="436063"/>
            </a:xfrm>
            <a:prstGeom prst="rect">
              <a:avLst/>
            </a:prstGeom>
          </p:spPr>
        </p:pic>
        <p:pic>
          <p:nvPicPr>
            <p:cNvPr id="185" name="Picture 47">
              <a:extLst>
                <a:ext uri="{FF2B5EF4-FFF2-40B4-BE49-F238E27FC236}">
                  <a16:creationId xmlns:a16="http://schemas.microsoft.com/office/drawing/2014/main" id="{6FA0416A-9A34-DE57-1CD7-626588A99B7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880621" y="2638038"/>
              <a:ext cx="429535" cy="429535"/>
            </a:xfrm>
            <a:prstGeom prst="rect">
              <a:avLst/>
            </a:prstGeom>
          </p:spPr>
        </p:pic>
        <p:pic>
          <p:nvPicPr>
            <p:cNvPr id="187" name="Picture 22">
              <a:extLst>
                <a:ext uri="{FF2B5EF4-FFF2-40B4-BE49-F238E27FC236}">
                  <a16:creationId xmlns:a16="http://schemas.microsoft.com/office/drawing/2014/main" id="{D088575E-347D-BCB0-E41E-56F5F9E8E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938871" y="2426338"/>
              <a:ext cx="342000" cy="342000"/>
            </a:xfrm>
            <a:prstGeom prst="rect">
              <a:avLst/>
            </a:prstGeom>
          </p:spPr>
        </p:pic>
        <p:pic>
          <p:nvPicPr>
            <p:cNvPr id="188" name="Picture 23">
              <a:extLst>
                <a:ext uri="{FF2B5EF4-FFF2-40B4-BE49-F238E27FC236}">
                  <a16:creationId xmlns:a16="http://schemas.microsoft.com/office/drawing/2014/main" id="{680F0284-A6DF-970C-380E-3A4404A63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001247" y="2426338"/>
              <a:ext cx="342000" cy="342000"/>
            </a:xfrm>
            <a:prstGeom prst="rect">
              <a:avLst/>
            </a:prstGeom>
          </p:spPr>
        </p:pic>
        <p:pic>
          <p:nvPicPr>
            <p:cNvPr id="189" name="Picture 24">
              <a:extLst>
                <a:ext uri="{FF2B5EF4-FFF2-40B4-BE49-F238E27FC236}">
                  <a16:creationId xmlns:a16="http://schemas.microsoft.com/office/drawing/2014/main" id="{85D76ECC-7C68-68FB-0B11-AEFBCDC937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063623" y="2426338"/>
              <a:ext cx="342000" cy="342000"/>
            </a:xfrm>
            <a:prstGeom prst="rect">
              <a:avLst/>
            </a:prstGeom>
          </p:spPr>
        </p:pic>
        <p:pic>
          <p:nvPicPr>
            <p:cNvPr id="190" name="Picture 25">
              <a:extLst>
                <a:ext uri="{FF2B5EF4-FFF2-40B4-BE49-F238E27FC236}">
                  <a16:creationId xmlns:a16="http://schemas.microsoft.com/office/drawing/2014/main" id="{5EFE49F3-00EC-5F99-D01A-E295A5B30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126000" y="2426338"/>
              <a:ext cx="342000" cy="342000"/>
            </a:xfrm>
            <a:prstGeom prst="rect">
              <a:avLst/>
            </a:prstGeom>
          </p:spPr>
        </p:pic>
        <p:pic>
          <p:nvPicPr>
            <p:cNvPr id="191" name="Picture 31">
              <a:extLst>
                <a:ext uri="{FF2B5EF4-FFF2-40B4-BE49-F238E27FC236}">
                  <a16:creationId xmlns:a16="http://schemas.microsoft.com/office/drawing/2014/main" id="{6A59299B-0954-1686-ACE9-FAF90C7A0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034189" y="5394430"/>
              <a:ext cx="323850" cy="317500"/>
            </a:xfrm>
            <a:prstGeom prst="rect">
              <a:avLst/>
            </a:prstGeom>
          </p:spPr>
        </p:pic>
        <p:pic>
          <p:nvPicPr>
            <p:cNvPr id="193" name="Picture 43">
              <a:extLst>
                <a:ext uri="{FF2B5EF4-FFF2-40B4-BE49-F238E27FC236}">
                  <a16:creationId xmlns:a16="http://schemas.microsoft.com/office/drawing/2014/main" id="{9E5A57A3-9AEC-76F2-764A-A325B482B8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082315" y="5307307"/>
              <a:ext cx="491743" cy="491743"/>
            </a:xfrm>
            <a:prstGeom prst="rect">
              <a:avLst/>
            </a:prstGeom>
          </p:spPr>
        </p:pic>
        <p:pic>
          <p:nvPicPr>
            <p:cNvPr id="194" name="Picture 35">
              <a:extLst>
                <a:ext uri="{FF2B5EF4-FFF2-40B4-BE49-F238E27FC236}">
                  <a16:creationId xmlns:a16="http://schemas.microsoft.com/office/drawing/2014/main" id="{F4FF7291-43CD-2085-167C-0A44C73CC7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088802" y="5373621"/>
              <a:ext cx="340462" cy="359117"/>
            </a:xfrm>
            <a:prstGeom prst="rect">
              <a:avLst/>
            </a:prstGeom>
          </p:spPr>
        </p:pic>
        <p:pic>
          <p:nvPicPr>
            <p:cNvPr id="195" name="Picture 29">
              <a:extLst>
                <a:ext uri="{FF2B5EF4-FFF2-40B4-BE49-F238E27FC236}">
                  <a16:creationId xmlns:a16="http://schemas.microsoft.com/office/drawing/2014/main" id="{A8561658-E2DB-E047-60AF-E843E86F4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188600" y="5355080"/>
              <a:ext cx="387433" cy="387433"/>
            </a:xfrm>
            <a:prstGeom prst="rect">
              <a:avLst/>
            </a:prstGeom>
          </p:spPr>
        </p:pic>
        <p:sp>
          <p:nvSpPr>
            <p:cNvPr id="20" name="사각형: 둥근 위쪽 모서리 19">
              <a:extLst>
                <a:ext uri="{FF2B5EF4-FFF2-40B4-BE49-F238E27FC236}">
                  <a16:creationId xmlns:a16="http://schemas.microsoft.com/office/drawing/2014/main" id="{F2A2052B-C189-A663-786F-F23292AAFE46}"/>
                </a:ext>
              </a:extLst>
            </p:cNvPr>
            <p:cNvSpPr/>
            <p:nvPr/>
          </p:nvSpPr>
          <p:spPr>
            <a:xfrm>
              <a:off x="800558" y="1696595"/>
              <a:ext cx="10282410" cy="498665"/>
            </a:xfrm>
            <a:prstGeom prst="round2SameRect">
              <a:avLst/>
            </a:prstGeom>
            <a:solidFill>
              <a:srgbClr val="053292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보안 대응 방안</a:t>
              </a:r>
            </a:p>
          </p:txBody>
        </p:sp>
        <p:pic>
          <p:nvPicPr>
            <p:cNvPr id="21" name="Picture 8">
              <a:extLst>
                <a:ext uri="{FF2B5EF4-FFF2-40B4-BE49-F238E27FC236}">
                  <a16:creationId xmlns:a16="http://schemas.microsoft.com/office/drawing/2014/main" id="{8B0B3C33-296E-2AE5-5F50-741C168857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783578" y="2639009"/>
              <a:ext cx="455397" cy="455397"/>
            </a:xfrm>
            <a:prstGeom prst="rect">
              <a:avLst/>
            </a:prstGeom>
          </p:spPr>
        </p:pic>
        <p:pic>
          <p:nvPicPr>
            <p:cNvPr id="23" name="Picture 9">
              <a:extLst>
                <a:ext uri="{FF2B5EF4-FFF2-40B4-BE49-F238E27FC236}">
                  <a16:creationId xmlns:a16="http://schemas.microsoft.com/office/drawing/2014/main" id="{ECEF76EE-A5A0-F364-49CA-12E01D6D3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933923" y="5341414"/>
              <a:ext cx="395035" cy="395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24347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AFF33-421C-44FA-FDF6-D930A9749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0CC7924-13C0-C997-E8AA-5D76B7446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r>
              <a:rPr lang="en-US" altLang="ko-KR" sz="1200"/>
              <a:t>© 2026 Team ONE</a:t>
            </a:r>
            <a:endParaRPr lang="ko-KR" altLang="en-US" sz="12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342249-20A1-DC21-EAAB-7AC09C2D7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fld id="{5E730BA1-3F6D-49E0-8F01-E02E0ED4523B}" type="slidenum">
              <a:rPr lang="ko-KR" altLang="en-US" sz="1200" smtClean="0"/>
              <a:t>33</a:t>
            </a:fld>
            <a:endParaRPr lang="ko-KR" altLang="en-US" sz="1200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09FCF2D-0B28-DAED-76D2-C9276AB79792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F1D1854-79AF-F975-DFD6-516DCEC06784}"/>
              </a:ext>
            </a:extLst>
          </p:cNvPr>
          <p:cNvSpPr txBox="1"/>
          <p:nvPr/>
        </p:nvSpPr>
        <p:spPr>
          <a:xfrm>
            <a:off x="285750" y="366003"/>
            <a:ext cx="29338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latin typeface="+mj-ea"/>
              </a:rPr>
              <a:t>시나리오</a:t>
            </a:r>
            <a:r>
              <a:rPr lang="en-US" altLang="ko-KR" sz="2400" b="1">
                <a:latin typeface="+mj-ea"/>
              </a:rPr>
              <a:t>3 </a:t>
            </a:r>
            <a:r>
              <a:rPr lang="ko-KR" altLang="en-US" sz="2400" b="1">
                <a:latin typeface="+mj-ea"/>
              </a:rPr>
              <a:t>대응방안</a:t>
            </a: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77C7E7A1-FE6C-AA35-54C3-D4D775EAFBDB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20AE3FD1-F4C4-9D3D-45FF-1DE70D686FE5}"/>
              </a:ext>
            </a:extLst>
          </p:cNvPr>
          <p:cNvSpPr txBox="1">
            <a:spLocks/>
          </p:cNvSpPr>
          <p:nvPr/>
        </p:nvSpPr>
        <p:spPr>
          <a:xfrm>
            <a:off x="9474201" y="150617"/>
            <a:ext cx="2520950" cy="8001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IV.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 보안대책 가이드</a:t>
            </a: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67BD609A-A5E3-C66E-B284-AB103EA7E416}"/>
              </a:ext>
            </a:extLst>
          </p:cNvPr>
          <p:cNvGrpSpPr/>
          <p:nvPr/>
        </p:nvGrpSpPr>
        <p:grpSpPr>
          <a:xfrm>
            <a:off x="561335" y="1696595"/>
            <a:ext cx="10755657" cy="4362682"/>
            <a:chOff x="561335" y="1696595"/>
            <a:chExt cx="10755657" cy="4362682"/>
          </a:xfrm>
        </p:grpSpPr>
        <p:sp>
          <p:nvSpPr>
            <p:cNvPr id="2" name="사각형: 둥근 위쪽 모서리 1">
              <a:extLst>
                <a:ext uri="{FF2B5EF4-FFF2-40B4-BE49-F238E27FC236}">
                  <a16:creationId xmlns:a16="http://schemas.microsoft.com/office/drawing/2014/main" id="{88CB91AE-6C49-35F3-F02C-1C043C906EA6}"/>
                </a:ext>
              </a:extLst>
            </p:cNvPr>
            <p:cNvSpPr/>
            <p:nvPr/>
          </p:nvSpPr>
          <p:spPr>
            <a:xfrm>
              <a:off x="800558" y="1696595"/>
              <a:ext cx="10282410" cy="498665"/>
            </a:xfrm>
            <a:prstGeom prst="round2SameRect">
              <a:avLst/>
            </a:prstGeom>
            <a:solidFill>
              <a:srgbClr val="05329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보안 대응 방안</a:t>
              </a:r>
            </a:p>
          </p:txBody>
        </p:sp>
        <p:pic>
          <p:nvPicPr>
            <p:cNvPr id="5" name="Picture 3">
              <a:extLst>
                <a:ext uri="{FF2B5EF4-FFF2-40B4-BE49-F238E27FC236}">
                  <a16:creationId xmlns:a16="http://schemas.microsoft.com/office/drawing/2014/main" id="{E6C85BF3-FE43-74DF-E6E4-D63741FE58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558" y="2356820"/>
              <a:ext cx="2036072" cy="3702457"/>
            </a:xfrm>
            <a:prstGeom prst="rect">
              <a:avLst/>
            </a:prstGeom>
          </p:spPr>
        </p:pic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EBFBA9D2-08C9-4999-057C-73100C1FD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3276" y="3572454"/>
              <a:ext cx="1765207" cy="29692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E00FA27-F7F4-AC6A-0B93-09F098DECA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5008" y="5119178"/>
              <a:ext cx="1882681" cy="850744"/>
            </a:xfrm>
            <a:prstGeom prst="rect">
              <a:avLst/>
            </a:prstGeom>
          </p:spPr>
        </p:pic>
        <p:pic>
          <p:nvPicPr>
            <p:cNvPr id="11" name="Picture 21">
              <a:extLst>
                <a:ext uri="{FF2B5EF4-FFF2-40B4-BE49-F238E27FC236}">
                  <a16:creationId xmlns:a16="http://schemas.microsoft.com/office/drawing/2014/main" id="{4A4B968E-CB9B-17D2-29E0-12F798C0B1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5008" y="2426338"/>
              <a:ext cx="343487" cy="343487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EBC11D2-9A30-179D-94D0-9F149BB298EA}"/>
                </a:ext>
              </a:extLst>
            </p:cNvPr>
            <p:cNvSpPr txBox="1"/>
            <p:nvPr/>
          </p:nvSpPr>
          <p:spPr>
            <a:xfrm>
              <a:off x="906530" y="3150401"/>
              <a:ext cx="20271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취약 라이브러리 점검</a:t>
              </a: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10000000000000000" pitchFamily="2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E014F28-069C-8C43-6E3E-9EEDAF692B0E}"/>
                </a:ext>
              </a:extLst>
            </p:cNvPr>
            <p:cNvSpPr txBox="1"/>
            <p:nvPr/>
          </p:nvSpPr>
          <p:spPr>
            <a:xfrm>
              <a:off x="862100" y="3581381"/>
              <a:ext cx="19804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취약 버전 사용 여부 확인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10000000000000000" pitchFamily="2" charset="0"/>
              </a:endParaRPr>
            </a:p>
          </p:txBody>
        </p:sp>
        <p:pic>
          <p:nvPicPr>
            <p:cNvPr id="17" name="Picture 37">
              <a:extLst>
                <a:ext uri="{FF2B5EF4-FFF2-40B4-BE49-F238E27FC236}">
                  <a16:creationId xmlns:a16="http://schemas.microsoft.com/office/drawing/2014/main" id="{78D13259-D5F6-FD19-7A15-1AA9F8A9A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79821" y="5374909"/>
              <a:ext cx="323734" cy="323734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81A0358-3686-3584-2FB8-67D464A34113}"/>
                </a:ext>
              </a:extLst>
            </p:cNvPr>
            <p:cNvSpPr txBox="1"/>
            <p:nvPr/>
          </p:nvSpPr>
          <p:spPr>
            <a:xfrm>
              <a:off x="1271885" y="5170284"/>
              <a:ext cx="158539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조치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취약 버전 식별 및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b="1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영향도 분석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8F72D72-A878-8024-E337-7EAF35DB8D6E}"/>
                </a:ext>
              </a:extLst>
            </p:cNvPr>
            <p:cNvSpPr txBox="1"/>
            <p:nvPr/>
          </p:nvSpPr>
          <p:spPr>
            <a:xfrm>
              <a:off x="561335" y="4050786"/>
              <a:ext cx="250438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Apache Struts2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취약</a:t>
              </a:r>
              <a:b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</a:b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  </a:t>
              </a: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버전 사용 여부 확인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라이브러리 및 의존성</a:t>
              </a:r>
              <a:endParaRPr lang="en-US" altLang="ko-KR" sz="12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  <a:p>
              <a:pPr marL="285750" marR="0" lvl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   </a:t>
              </a: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식별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0" name="Picture 3">
              <a:extLst>
                <a:ext uri="{FF2B5EF4-FFF2-40B4-BE49-F238E27FC236}">
                  <a16:creationId xmlns:a16="http://schemas.microsoft.com/office/drawing/2014/main" id="{7C4FDBEE-2118-CF79-DE90-67EE3CEE1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63377" y="2356820"/>
              <a:ext cx="2036072" cy="3702457"/>
            </a:xfrm>
            <a:prstGeom prst="rect">
              <a:avLst/>
            </a:prstGeom>
          </p:spPr>
        </p:pic>
        <p:pic>
          <p:nvPicPr>
            <p:cNvPr id="21" name="Picture 4">
              <a:extLst>
                <a:ext uri="{FF2B5EF4-FFF2-40B4-BE49-F238E27FC236}">
                  <a16:creationId xmlns:a16="http://schemas.microsoft.com/office/drawing/2014/main" id="{83BC96DF-EE21-297B-FB6D-263EECF572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96095" y="3572454"/>
              <a:ext cx="1765207" cy="296927"/>
            </a:xfrm>
            <a:prstGeom prst="rect">
              <a:avLst/>
            </a:prstGeom>
          </p:spPr>
        </p:pic>
        <p:pic>
          <p:nvPicPr>
            <p:cNvPr id="22" name="Picture 6">
              <a:extLst>
                <a:ext uri="{FF2B5EF4-FFF2-40B4-BE49-F238E27FC236}">
                  <a16:creationId xmlns:a16="http://schemas.microsoft.com/office/drawing/2014/main" id="{E6D1D688-B910-FCE4-0BA7-792C41301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37827" y="5119178"/>
              <a:ext cx="1882681" cy="850744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301F7D7-D2E8-8027-FCE2-5F3494814381}"/>
                </a:ext>
              </a:extLst>
            </p:cNvPr>
            <p:cNvSpPr txBox="1"/>
            <p:nvPr/>
          </p:nvSpPr>
          <p:spPr>
            <a:xfrm>
              <a:off x="3187203" y="3150401"/>
              <a:ext cx="16540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보안 패치 </a:t>
              </a: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적용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39E0EB2-644D-D152-24B0-D01B98258512}"/>
                </a:ext>
              </a:extLst>
            </p:cNvPr>
            <p:cNvSpPr txBox="1"/>
            <p:nvPr/>
          </p:nvSpPr>
          <p:spPr>
            <a:xfrm>
              <a:off x="3134242" y="3581381"/>
              <a:ext cx="17946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최신 버전 업데이트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B376AA1-D57D-6558-D0F8-F39F2D638F04}"/>
                </a:ext>
              </a:extLst>
            </p:cNvPr>
            <p:cNvSpPr txBox="1"/>
            <p:nvPr/>
          </p:nvSpPr>
          <p:spPr>
            <a:xfrm>
              <a:off x="3334704" y="5170284"/>
              <a:ext cx="158539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조치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최신 버전 유지 및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주기적 점검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FB964B6-F69E-115A-2433-A5BD3BDF0E21}"/>
                </a:ext>
              </a:extLst>
            </p:cNvPr>
            <p:cNvSpPr txBox="1"/>
            <p:nvPr/>
          </p:nvSpPr>
          <p:spPr>
            <a:xfrm>
              <a:off x="2624154" y="4050786"/>
              <a:ext cx="250438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Sturts</a:t>
              </a:r>
              <a:r>
                <a:rPr lang="en-US" altLang="ko-KR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2 2.5.33 </a:t>
              </a: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또는</a:t>
              </a:r>
              <a:endParaRPr lang="en-US" altLang="ko-KR" sz="12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  <a:p>
              <a:pPr marL="285750" marR="0" lvl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   6.3.0.2 </a:t>
              </a: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이상으로 업데이트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보안 공지 </a:t>
              </a: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지속 모니터링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7" name="Picture 3">
              <a:extLst>
                <a:ext uri="{FF2B5EF4-FFF2-40B4-BE49-F238E27FC236}">
                  <a16:creationId xmlns:a16="http://schemas.microsoft.com/office/drawing/2014/main" id="{6106C921-80F5-A069-C56E-A0675FE73C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26196" y="2356820"/>
              <a:ext cx="2036072" cy="3702457"/>
            </a:xfrm>
            <a:prstGeom prst="rect">
              <a:avLst/>
            </a:prstGeom>
          </p:spPr>
        </p:pic>
        <p:pic>
          <p:nvPicPr>
            <p:cNvPr id="28" name="Picture 4">
              <a:extLst>
                <a:ext uri="{FF2B5EF4-FFF2-40B4-BE49-F238E27FC236}">
                  <a16:creationId xmlns:a16="http://schemas.microsoft.com/office/drawing/2014/main" id="{5E1009FC-1F9C-1123-B349-B35FB0093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58914" y="3572454"/>
              <a:ext cx="1765207" cy="296927"/>
            </a:xfrm>
            <a:prstGeom prst="rect">
              <a:avLst/>
            </a:prstGeom>
          </p:spPr>
        </p:pic>
        <p:pic>
          <p:nvPicPr>
            <p:cNvPr id="29" name="Picture 6">
              <a:extLst>
                <a:ext uri="{FF2B5EF4-FFF2-40B4-BE49-F238E27FC236}">
                  <a16:creationId xmlns:a16="http://schemas.microsoft.com/office/drawing/2014/main" id="{6CAF52C7-2E3A-2019-4CB9-141604EC0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00646" y="5119178"/>
              <a:ext cx="1882681" cy="85074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9029004-A3E5-6223-6C4E-23B7344B9280}"/>
                </a:ext>
              </a:extLst>
            </p:cNvPr>
            <p:cNvSpPr txBox="1"/>
            <p:nvPr/>
          </p:nvSpPr>
          <p:spPr>
            <a:xfrm>
              <a:off x="5294089" y="3150401"/>
              <a:ext cx="1434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웹쉘</a:t>
              </a: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 생성 차단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1511CEA-1429-30E6-02EA-2BB9340D3F0B}"/>
                </a:ext>
              </a:extLst>
            </p:cNvPr>
            <p:cNvSpPr txBox="1"/>
            <p:nvPr/>
          </p:nvSpPr>
          <p:spPr>
            <a:xfrm>
              <a:off x="4976721" y="3581381"/>
              <a:ext cx="19316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웹쉘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 업로드 및 실행 차단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589F42D-97DC-6CB2-7A18-CC6E84B33566}"/>
                </a:ext>
              </a:extLst>
            </p:cNvPr>
            <p:cNvSpPr txBox="1"/>
            <p:nvPr/>
          </p:nvSpPr>
          <p:spPr>
            <a:xfrm>
              <a:off x="5397523" y="5170284"/>
              <a:ext cx="158539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조치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웹쉘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업로드 차단 및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b="1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실행 통제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3440ECA-F12F-6BF6-B2DA-5915D364DFC9}"/>
                </a:ext>
              </a:extLst>
            </p:cNvPr>
            <p:cNvSpPr txBox="1"/>
            <p:nvPr/>
          </p:nvSpPr>
          <p:spPr>
            <a:xfrm>
              <a:off x="4653922" y="4050786"/>
              <a:ext cx="250438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서버 </a:t>
              </a:r>
              <a:r>
                <a:rPr kumimoji="0" lang="ko-KR" alt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제어권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탈취로 이어질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   </a:t>
              </a: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수 있는 악성 업로드 차단</a:t>
              </a:r>
              <a:endParaRPr lang="en-US" altLang="ko-KR" sz="12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  <a:p>
              <a:pPr marL="285750" marR="0" lvl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업로드 파일 확장자 및</a:t>
              </a:r>
              <a:endParaRPr lang="en-US" altLang="ko-KR" sz="12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  <a:p>
              <a:pPr marL="2857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   MIME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타입 검증</a:t>
              </a:r>
            </a:p>
          </p:txBody>
        </p:sp>
        <p:pic>
          <p:nvPicPr>
            <p:cNvPr id="34" name="Picture 3">
              <a:extLst>
                <a:ext uri="{FF2B5EF4-FFF2-40B4-BE49-F238E27FC236}">
                  <a16:creationId xmlns:a16="http://schemas.microsoft.com/office/drawing/2014/main" id="{0304DCC6-AAFC-CA0D-E737-24674AE1D5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89015" y="2356820"/>
              <a:ext cx="2036072" cy="3702457"/>
            </a:xfrm>
            <a:prstGeom prst="rect">
              <a:avLst/>
            </a:prstGeom>
          </p:spPr>
        </p:pic>
        <p:pic>
          <p:nvPicPr>
            <p:cNvPr id="35" name="Picture 4">
              <a:extLst>
                <a:ext uri="{FF2B5EF4-FFF2-40B4-BE49-F238E27FC236}">
                  <a16:creationId xmlns:a16="http://schemas.microsoft.com/office/drawing/2014/main" id="{697A2471-D757-A7A1-9468-2FB738CD7E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21733" y="3572454"/>
              <a:ext cx="1765207" cy="296927"/>
            </a:xfrm>
            <a:prstGeom prst="rect">
              <a:avLst/>
            </a:prstGeom>
          </p:spPr>
        </p:pic>
        <p:pic>
          <p:nvPicPr>
            <p:cNvPr id="36" name="Picture 6">
              <a:extLst>
                <a:ext uri="{FF2B5EF4-FFF2-40B4-BE49-F238E27FC236}">
                  <a16:creationId xmlns:a16="http://schemas.microsoft.com/office/drawing/2014/main" id="{5CF388E8-1A7C-AF9A-2BB1-26BBA638D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63465" y="5119178"/>
              <a:ext cx="1882681" cy="850744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58B1454-9154-74E7-C618-A9035448E56E}"/>
                </a:ext>
              </a:extLst>
            </p:cNvPr>
            <p:cNvSpPr txBox="1"/>
            <p:nvPr/>
          </p:nvSpPr>
          <p:spPr>
            <a:xfrm>
              <a:off x="7070466" y="3150401"/>
              <a:ext cx="20080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DB </a:t>
              </a: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접근 권한 최소화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A2BF45F-7393-F10F-9DD3-E0AD5A91A83F}"/>
                </a:ext>
              </a:extLst>
            </p:cNvPr>
            <p:cNvSpPr txBox="1"/>
            <p:nvPr/>
          </p:nvSpPr>
          <p:spPr>
            <a:xfrm>
              <a:off x="7215813" y="3581381"/>
              <a:ext cx="15857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최소 권한 원칙 적용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10000000000000000" pitchFamily="2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EE120B0-A357-1E05-079B-1545CF46FF81}"/>
                </a:ext>
              </a:extLst>
            </p:cNvPr>
            <p:cNvSpPr txBox="1"/>
            <p:nvPr/>
          </p:nvSpPr>
          <p:spPr>
            <a:xfrm>
              <a:off x="7460342" y="5170284"/>
              <a:ext cx="158539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조치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DB 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권한 최소화 및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b="1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계정 관리 강화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9F6F910-D8E3-6BCF-A33B-2260E118B6EA}"/>
                </a:ext>
              </a:extLst>
            </p:cNvPr>
            <p:cNvSpPr txBox="1"/>
            <p:nvPr/>
          </p:nvSpPr>
          <p:spPr>
            <a:xfrm>
              <a:off x="6749792" y="4050786"/>
              <a:ext cx="250438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애플리케이션 계정에 필요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   </a:t>
              </a: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한 최소 권한만 부여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불필요한 권한 및 계정</a:t>
              </a:r>
              <a:endParaRPr lang="en-US" altLang="ko-KR" sz="12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  <a:p>
              <a:pPr marL="285750" marR="0" lvl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   </a:t>
              </a: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제거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41" name="Picture 3">
              <a:extLst>
                <a:ext uri="{FF2B5EF4-FFF2-40B4-BE49-F238E27FC236}">
                  <a16:creationId xmlns:a16="http://schemas.microsoft.com/office/drawing/2014/main" id="{3CCB2618-B1B4-85F5-5FF5-003FC78F8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51834" y="2356819"/>
              <a:ext cx="2036072" cy="3702457"/>
            </a:xfrm>
            <a:prstGeom prst="rect">
              <a:avLst/>
            </a:prstGeom>
          </p:spPr>
        </p:pic>
        <p:pic>
          <p:nvPicPr>
            <p:cNvPr id="42" name="Picture 4">
              <a:extLst>
                <a:ext uri="{FF2B5EF4-FFF2-40B4-BE49-F238E27FC236}">
                  <a16:creationId xmlns:a16="http://schemas.microsoft.com/office/drawing/2014/main" id="{EF964F8F-73D7-1F73-D8AE-8BF30B03E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84552" y="3572454"/>
              <a:ext cx="1765207" cy="296927"/>
            </a:xfrm>
            <a:prstGeom prst="rect">
              <a:avLst/>
            </a:prstGeom>
          </p:spPr>
        </p:pic>
        <p:pic>
          <p:nvPicPr>
            <p:cNvPr id="43" name="Picture 6">
              <a:extLst>
                <a:ext uri="{FF2B5EF4-FFF2-40B4-BE49-F238E27FC236}">
                  <a16:creationId xmlns:a16="http://schemas.microsoft.com/office/drawing/2014/main" id="{AA6F539F-4FFB-E0C3-CAD6-7495ECF50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26284" y="5119178"/>
              <a:ext cx="1882681" cy="850744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98B1C8D-4B52-B82E-142E-7850F5B61F69}"/>
                </a:ext>
              </a:extLst>
            </p:cNvPr>
            <p:cNvSpPr txBox="1">
              <a:spLocks/>
            </p:cNvSpPr>
            <p:nvPr/>
          </p:nvSpPr>
          <p:spPr>
            <a:xfrm>
              <a:off x="9078199" y="3150401"/>
              <a:ext cx="21098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데이터 유출 범위 축소</a:t>
              </a: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10000000000000000" pitchFamily="2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C71DF95-1C9E-AD2B-06B6-27064389F55E}"/>
                </a:ext>
              </a:extLst>
            </p:cNvPr>
            <p:cNvSpPr txBox="1">
              <a:spLocks/>
            </p:cNvSpPr>
            <p:nvPr/>
          </p:nvSpPr>
          <p:spPr>
            <a:xfrm>
              <a:off x="9124393" y="3581381"/>
              <a:ext cx="20080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데이터 유출 영향 최소화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F236258-7C47-AA6E-058E-D8AE693FFF8A}"/>
                </a:ext>
              </a:extLst>
            </p:cNvPr>
            <p:cNvSpPr txBox="1">
              <a:spLocks/>
            </p:cNvSpPr>
            <p:nvPr/>
          </p:nvSpPr>
          <p:spPr>
            <a:xfrm>
              <a:off x="9523161" y="5170284"/>
              <a:ext cx="158539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조치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로그 분석 및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b="1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이상 징후 탐지 강화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AC75FA6-CE70-E60A-5820-D6950BD1186D}"/>
                </a:ext>
              </a:extLst>
            </p:cNvPr>
            <p:cNvSpPr txBox="1"/>
            <p:nvPr/>
          </p:nvSpPr>
          <p:spPr>
            <a:xfrm>
              <a:off x="8812611" y="4050786"/>
              <a:ext cx="250438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침해 발생 시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DB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접근 및</a:t>
              </a:r>
              <a:b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</a:b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  </a:t>
              </a: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정보 노출 영향 최소화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민감 데이터 암호화 및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  </a:t>
              </a: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접근 로그 모니터링</a:t>
              </a: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52" name="Picture 22">
              <a:extLst>
                <a:ext uri="{FF2B5EF4-FFF2-40B4-BE49-F238E27FC236}">
                  <a16:creationId xmlns:a16="http://schemas.microsoft.com/office/drawing/2014/main" id="{A42E0D15-C828-8938-6369-9ADEFC683AF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938871" y="2426338"/>
              <a:ext cx="342000" cy="342000"/>
            </a:xfrm>
            <a:prstGeom prst="rect">
              <a:avLst/>
            </a:prstGeom>
          </p:spPr>
        </p:pic>
        <p:pic>
          <p:nvPicPr>
            <p:cNvPr id="53" name="Picture 23">
              <a:extLst>
                <a:ext uri="{FF2B5EF4-FFF2-40B4-BE49-F238E27FC236}">
                  <a16:creationId xmlns:a16="http://schemas.microsoft.com/office/drawing/2014/main" id="{BB288169-E36A-4ED5-958E-32A82A65C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01247" y="2426338"/>
              <a:ext cx="342000" cy="342000"/>
            </a:xfrm>
            <a:prstGeom prst="rect">
              <a:avLst/>
            </a:prstGeom>
          </p:spPr>
        </p:pic>
        <p:pic>
          <p:nvPicPr>
            <p:cNvPr id="54" name="Picture 24">
              <a:extLst>
                <a:ext uri="{FF2B5EF4-FFF2-40B4-BE49-F238E27FC236}">
                  <a16:creationId xmlns:a16="http://schemas.microsoft.com/office/drawing/2014/main" id="{2FC8C638-9A5E-EAE7-4A87-7873EDEAD0F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063623" y="2426338"/>
              <a:ext cx="342000" cy="342000"/>
            </a:xfrm>
            <a:prstGeom prst="rect">
              <a:avLst/>
            </a:prstGeom>
          </p:spPr>
        </p:pic>
        <p:pic>
          <p:nvPicPr>
            <p:cNvPr id="55" name="Picture 25">
              <a:extLst>
                <a:ext uri="{FF2B5EF4-FFF2-40B4-BE49-F238E27FC236}">
                  <a16:creationId xmlns:a16="http://schemas.microsoft.com/office/drawing/2014/main" id="{1A1B6150-B32B-2B3A-7208-703D0D556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126000" y="2426338"/>
              <a:ext cx="342000" cy="342000"/>
            </a:xfrm>
            <a:prstGeom prst="rect">
              <a:avLst/>
            </a:prstGeom>
          </p:spPr>
        </p:pic>
        <p:pic>
          <p:nvPicPr>
            <p:cNvPr id="56" name="Picture 31">
              <a:extLst>
                <a:ext uri="{FF2B5EF4-FFF2-40B4-BE49-F238E27FC236}">
                  <a16:creationId xmlns:a16="http://schemas.microsoft.com/office/drawing/2014/main" id="{66DB418F-8278-057B-0E5D-36328D80AC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034189" y="5394430"/>
              <a:ext cx="323850" cy="317500"/>
            </a:xfrm>
            <a:prstGeom prst="rect">
              <a:avLst/>
            </a:prstGeom>
          </p:spPr>
        </p:pic>
        <p:pic>
          <p:nvPicPr>
            <p:cNvPr id="57" name="Picture 43">
              <a:extLst>
                <a:ext uri="{FF2B5EF4-FFF2-40B4-BE49-F238E27FC236}">
                  <a16:creationId xmlns:a16="http://schemas.microsoft.com/office/drawing/2014/main" id="{533CF886-6E9E-6C42-B865-F02942318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082315" y="5307307"/>
              <a:ext cx="491743" cy="491743"/>
            </a:xfrm>
            <a:prstGeom prst="rect">
              <a:avLst/>
            </a:prstGeom>
          </p:spPr>
        </p:pic>
        <p:pic>
          <p:nvPicPr>
            <p:cNvPr id="60" name="Picture 2">
              <a:extLst>
                <a:ext uri="{FF2B5EF4-FFF2-40B4-BE49-F238E27FC236}">
                  <a16:creationId xmlns:a16="http://schemas.microsoft.com/office/drawing/2014/main" id="{8D66BCCC-3C6A-9CBB-CF3B-3070CF6866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804910" y="2631256"/>
              <a:ext cx="352649" cy="429790"/>
            </a:xfrm>
            <a:prstGeom prst="rect">
              <a:avLst/>
            </a:prstGeom>
          </p:spPr>
        </p:pic>
        <p:pic>
          <p:nvPicPr>
            <p:cNvPr id="61" name="Picture 34">
              <a:extLst>
                <a:ext uri="{FF2B5EF4-FFF2-40B4-BE49-F238E27FC236}">
                  <a16:creationId xmlns:a16="http://schemas.microsoft.com/office/drawing/2014/main" id="{95055A33-C60E-6FC1-44A4-87827A267C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864776" y="2652187"/>
              <a:ext cx="400050" cy="393700"/>
            </a:xfrm>
            <a:prstGeom prst="rect">
              <a:avLst/>
            </a:prstGeom>
          </p:spPr>
        </p:pic>
        <p:pic>
          <p:nvPicPr>
            <p:cNvPr id="62" name="Picture 36">
              <a:extLst>
                <a:ext uri="{FF2B5EF4-FFF2-40B4-BE49-F238E27FC236}">
                  <a16:creationId xmlns:a16="http://schemas.microsoft.com/office/drawing/2014/main" id="{A43D41B9-D808-AD9A-83EE-6EF97562D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644971" y="2575836"/>
              <a:ext cx="499978" cy="499978"/>
            </a:xfrm>
            <a:prstGeom prst="rect">
              <a:avLst/>
            </a:prstGeom>
          </p:spPr>
        </p:pic>
        <p:pic>
          <p:nvPicPr>
            <p:cNvPr id="63" name="Picture 45">
              <a:extLst>
                <a:ext uri="{FF2B5EF4-FFF2-40B4-BE49-F238E27FC236}">
                  <a16:creationId xmlns:a16="http://schemas.microsoft.com/office/drawing/2014/main" id="{E9962216-EC68-8614-2872-03EF80020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19301502">
              <a:off x="3592013" y="2535112"/>
              <a:ext cx="586132" cy="586132"/>
            </a:xfrm>
            <a:prstGeom prst="rect">
              <a:avLst/>
            </a:prstGeom>
          </p:spPr>
        </p:pic>
        <p:pic>
          <p:nvPicPr>
            <p:cNvPr id="64" name="Picture 35">
              <a:extLst>
                <a:ext uri="{FF2B5EF4-FFF2-40B4-BE49-F238E27FC236}">
                  <a16:creationId xmlns:a16="http://schemas.microsoft.com/office/drawing/2014/main" id="{C8151327-A9CE-66D7-EC8E-93EFF815F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759355" y="2578756"/>
              <a:ext cx="463550" cy="488950"/>
            </a:xfrm>
            <a:prstGeom prst="rect">
              <a:avLst/>
            </a:prstGeom>
          </p:spPr>
        </p:pic>
        <p:pic>
          <p:nvPicPr>
            <p:cNvPr id="65" name="Picture 33">
              <a:extLst>
                <a:ext uri="{FF2B5EF4-FFF2-40B4-BE49-F238E27FC236}">
                  <a16:creationId xmlns:a16="http://schemas.microsoft.com/office/drawing/2014/main" id="{B186FA17-43CC-5C94-67F2-375FD1CEFC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8031392" y="2792491"/>
              <a:ext cx="330200" cy="330200"/>
            </a:xfrm>
            <a:prstGeom prst="rect">
              <a:avLst/>
            </a:prstGeom>
          </p:spPr>
        </p:pic>
        <p:pic>
          <p:nvPicPr>
            <p:cNvPr id="66" name="Picture 27">
              <a:extLst>
                <a:ext uri="{FF2B5EF4-FFF2-40B4-BE49-F238E27FC236}">
                  <a16:creationId xmlns:a16="http://schemas.microsoft.com/office/drawing/2014/main" id="{B0557D19-4D20-5955-367C-25E7D8AB6C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115234" y="5374372"/>
              <a:ext cx="306948" cy="376709"/>
            </a:xfrm>
            <a:prstGeom prst="rect">
              <a:avLst/>
            </a:prstGeom>
          </p:spPr>
        </p:pic>
        <p:pic>
          <p:nvPicPr>
            <p:cNvPr id="72" name="Picture 10">
              <a:extLst>
                <a:ext uri="{FF2B5EF4-FFF2-40B4-BE49-F238E27FC236}">
                  <a16:creationId xmlns:a16="http://schemas.microsoft.com/office/drawing/2014/main" id="{0E70F071-EC5B-940B-E9AE-E986074B6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9204634" y="5361228"/>
              <a:ext cx="365125" cy="3651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853002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0FE45-0A9C-4FA5-3B1C-071D63796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DBB4F9D-F2CB-A3F1-A9DB-E53939EC1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r>
              <a:rPr lang="en-US" altLang="ko-KR" sz="1200" dirty="0"/>
              <a:t>© 2026 Team ONE</a:t>
            </a:r>
            <a:endParaRPr lang="ko-KR" altLang="en-US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32DC8C-AF41-D737-AAD7-680FCF0B9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fld id="{5E730BA1-3F6D-49E0-8F01-E02E0ED4523B}" type="slidenum">
              <a:rPr lang="ko-KR" altLang="en-US" sz="1200" smtClean="0"/>
              <a:t>34</a:t>
            </a:fld>
            <a:endParaRPr lang="ko-KR" altLang="en-US" sz="1200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0293760-18A6-0CB3-CE24-1ED88C73ABCB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EC598C-C9B0-5E6A-E23A-D1CEAD845563}"/>
              </a:ext>
            </a:extLst>
          </p:cNvPr>
          <p:cNvSpPr txBox="1"/>
          <p:nvPr/>
        </p:nvSpPr>
        <p:spPr>
          <a:xfrm>
            <a:off x="285750" y="366003"/>
            <a:ext cx="29338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latin typeface="+mj-ea"/>
              </a:rPr>
              <a:t>시나리오</a:t>
            </a:r>
            <a:r>
              <a:rPr lang="en-US" altLang="ko-KR" sz="2400" b="1">
                <a:latin typeface="+mj-ea"/>
              </a:rPr>
              <a:t>4 </a:t>
            </a:r>
            <a:r>
              <a:rPr lang="ko-KR" altLang="en-US" sz="2400" b="1">
                <a:latin typeface="+mj-ea"/>
              </a:rPr>
              <a:t>대응방안</a:t>
            </a: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9760383-F8D5-F8BE-915E-8DFCECBE07EF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CB83F336-E463-F817-9B00-AA2DD3453A3B}"/>
              </a:ext>
            </a:extLst>
          </p:cNvPr>
          <p:cNvSpPr txBox="1">
            <a:spLocks/>
          </p:cNvSpPr>
          <p:nvPr/>
        </p:nvSpPr>
        <p:spPr>
          <a:xfrm>
            <a:off x="9474201" y="150617"/>
            <a:ext cx="2520950" cy="8001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IV.</a:t>
            </a:r>
            <a:r>
              <a:rPr lang="ko-KR" altLang="en-US" sz="2000" b="1">
                <a:solidFill>
                  <a:schemeClr val="bg2">
                    <a:lumMod val="9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F0502020204030204" pitchFamily="2" charset="0"/>
              </a:rPr>
              <a:t> 보안대책 가이드</a:t>
            </a: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D8D6B253-0821-95F6-5931-5692FE4052EA}"/>
              </a:ext>
            </a:extLst>
          </p:cNvPr>
          <p:cNvGrpSpPr/>
          <p:nvPr/>
        </p:nvGrpSpPr>
        <p:grpSpPr>
          <a:xfrm>
            <a:off x="561335" y="1696595"/>
            <a:ext cx="10755657" cy="4362682"/>
            <a:chOff x="561335" y="1696595"/>
            <a:chExt cx="10755657" cy="4362682"/>
          </a:xfrm>
        </p:grpSpPr>
        <p:sp>
          <p:nvSpPr>
            <p:cNvPr id="2" name="사각형: 둥근 위쪽 모서리 1">
              <a:extLst>
                <a:ext uri="{FF2B5EF4-FFF2-40B4-BE49-F238E27FC236}">
                  <a16:creationId xmlns:a16="http://schemas.microsoft.com/office/drawing/2014/main" id="{6D079C53-14E2-23C6-84F4-4D008D7A23CB}"/>
                </a:ext>
              </a:extLst>
            </p:cNvPr>
            <p:cNvSpPr/>
            <p:nvPr/>
          </p:nvSpPr>
          <p:spPr>
            <a:xfrm>
              <a:off x="800558" y="1696595"/>
              <a:ext cx="10282410" cy="498665"/>
            </a:xfrm>
            <a:prstGeom prst="round2SameRect">
              <a:avLst/>
            </a:prstGeom>
            <a:solidFill>
              <a:srgbClr val="05329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보안 대응 방안</a:t>
              </a:r>
            </a:p>
          </p:txBody>
        </p:sp>
        <p:pic>
          <p:nvPicPr>
            <p:cNvPr id="5" name="Picture 3">
              <a:extLst>
                <a:ext uri="{FF2B5EF4-FFF2-40B4-BE49-F238E27FC236}">
                  <a16:creationId xmlns:a16="http://schemas.microsoft.com/office/drawing/2014/main" id="{8C0D212B-E79D-49BC-DE88-E3DEE4111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558" y="2356820"/>
              <a:ext cx="2036072" cy="3702457"/>
            </a:xfrm>
            <a:prstGeom prst="rect">
              <a:avLst/>
            </a:prstGeom>
          </p:spPr>
        </p:pic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BD77F3BB-7135-4DB5-8E2D-70A043BB04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3276" y="3572454"/>
              <a:ext cx="1765207" cy="29692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02B82E2-4B67-F516-0DF2-427E56890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5008" y="5119178"/>
              <a:ext cx="1882681" cy="850744"/>
            </a:xfrm>
            <a:prstGeom prst="rect">
              <a:avLst/>
            </a:prstGeom>
          </p:spPr>
        </p:pic>
        <p:pic>
          <p:nvPicPr>
            <p:cNvPr id="12" name="Picture 21">
              <a:extLst>
                <a:ext uri="{FF2B5EF4-FFF2-40B4-BE49-F238E27FC236}">
                  <a16:creationId xmlns:a16="http://schemas.microsoft.com/office/drawing/2014/main" id="{A616F152-3538-EF90-1D55-9D777557A7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5008" y="2426338"/>
              <a:ext cx="343487" cy="343487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AF1DFC-634D-5FF6-82CD-82EAC02AE8BD}"/>
                </a:ext>
              </a:extLst>
            </p:cNvPr>
            <p:cNvSpPr txBox="1"/>
            <p:nvPr/>
          </p:nvSpPr>
          <p:spPr>
            <a:xfrm>
              <a:off x="1322170" y="3150401"/>
              <a:ext cx="10608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b="1" dirty="0">
                  <a:solidFill>
                    <a:srgbClr val="05329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입력 분리</a:t>
              </a: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10000000000000000" pitchFamily="2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FDA9B03-2D6F-C8F3-B66E-B952143DF288}"/>
                </a:ext>
              </a:extLst>
            </p:cNvPr>
            <p:cNvSpPr txBox="1"/>
            <p:nvPr/>
          </p:nvSpPr>
          <p:spPr>
            <a:xfrm>
              <a:off x="862100" y="3581381"/>
              <a:ext cx="19804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역할과 구조 명확히 분리</a:t>
              </a:r>
            </a:p>
          </p:txBody>
        </p:sp>
        <p:pic>
          <p:nvPicPr>
            <p:cNvPr id="16" name="Picture 37">
              <a:extLst>
                <a:ext uri="{FF2B5EF4-FFF2-40B4-BE49-F238E27FC236}">
                  <a16:creationId xmlns:a16="http://schemas.microsoft.com/office/drawing/2014/main" id="{6829084A-EAD0-15F8-4087-51870F2A7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79821" y="5374909"/>
              <a:ext cx="323734" cy="323734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FDCB2AC-2C63-E4D3-D04B-525D3DD036DB}"/>
                </a:ext>
              </a:extLst>
            </p:cNvPr>
            <p:cNvSpPr txBox="1"/>
            <p:nvPr/>
          </p:nvSpPr>
          <p:spPr>
            <a:xfrm>
              <a:off x="1271885" y="5170284"/>
              <a:ext cx="158539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조치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프롬프트 구조 표준화 및 분리 적용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A080785-3EF9-4C6C-09E6-040E61F57BCE}"/>
                </a:ext>
              </a:extLst>
            </p:cNvPr>
            <p:cNvSpPr txBox="1"/>
            <p:nvPr/>
          </p:nvSpPr>
          <p:spPr>
            <a:xfrm>
              <a:off x="561335" y="4050786"/>
              <a:ext cx="250438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사용자 입력과 시스템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   프롬프트를 명확히 분리</a:t>
              </a:r>
              <a:endParaRPr lang="en-US" altLang="ko-KR" sz="12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프롬프트 템플릿을</a:t>
              </a:r>
              <a:endParaRPr lang="en-US" altLang="ko-KR" sz="12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  <a:p>
              <a:pPr marL="285750" marR="0" lvl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   고정하여 구조화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9" name="Picture 3">
              <a:extLst>
                <a:ext uri="{FF2B5EF4-FFF2-40B4-BE49-F238E27FC236}">
                  <a16:creationId xmlns:a16="http://schemas.microsoft.com/office/drawing/2014/main" id="{19F01C9C-391B-C4EA-62FA-F63D8B38B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63377" y="2356820"/>
              <a:ext cx="2036072" cy="3702457"/>
            </a:xfrm>
            <a:prstGeom prst="rect">
              <a:avLst/>
            </a:prstGeom>
          </p:spPr>
        </p:pic>
        <p:pic>
          <p:nvPicPr>
            <p:cNvPr id="20" name="Picture 4">
              <a:extLst>
                <a:ext uri="{FF2B5EF4-FFF2-40B4-BE49-F238E27FC236}">
                  <a16:creationId xmlns:a16="http://schemas.microsoft.com/office/drawing/2014/main" id="{34DE88E0-413F-C083-E214-D3385885A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96095" y="3572454"/>
              <a:ext cx="1765207" cy="296927"/>
            </a:xfrm>
            <a:prstGeom prst="rect">
              <a:avLst/>
            </a:prstGeom>
          </p:spPr>
        </p:pic>
        <p:pic>
          <p:nvPicPr>
            <p:cNvPr id="21" name="Picture 6">
              <a:extLst>
                <a:ext uri="{FF2B5EF4-FFF2-40B4-BE49-F238E27FC236}">
                  <a16:creationId xmlns:a16="http://schemas.microsoft.com/office/drawing/2014/main" id="{8355A48C-2B8E-58FC-C739-93D55893C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37827" y="5119178"/>
              <a:ext cx="1882681" cy="850744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BC2DFB5-200D-995A-8D9B-63F7AF0B158D}"/>
                </a:ext>
              </a:extLst>
            </p:cNvPr>
            <p:cNvSpPr txBox="1"/>
            <p:nvPr/>
          </p:nvSpPr>
          <p:spPr>
            <a:xfrm>
              <a:off x="3381169" y="3150401"/>
              <a:ext cx="11095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입력 제한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CEAFB62-37D8-4800-DF6C-35EDB0DB5F20}"/>
                </a:ext>
              </a:extLst>
            </p:cNvPr>
            <p:cNvSpPr txBox="1"/>
            <p:nvPr/>
          </p:nvSpPr>
          <p:spPr>
            <a:xfrm>
              <a:off x="2981839" y="3581381"/>
              <a:ext cx="17946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입력 길이 및 패턴 제한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B043E6F-7F68-6230-0832-DA5BB3F3E11D}"/>
                </a:ext>
              </a:extLst>
            </p:cNvPr>
            <p:cNvSpPr txBox="1"/>
            <p:nvPr/>
          </p:nvSpPr>
          <p:spPr>
            <a:xfrm>
              <a:off x="3334704" y="5170284"/>
              <a:ext cx="158539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조치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입력 검증 규칙 설정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b="1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및 차단 정책 적용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EC7C7C8-75E5-046E-1F22-470C14884EA9}"/>
                </a:ext>
              </a:extLst>
            </p:cNvPr>
            <p:cNvSpPr txBox="1"/>
            <p:nvPr/>
          </p:nvSpPr>
          <p:spPr>
            <a:xfrm>
              <a:off x="2624154" y="4050786"/>
              <a:ext cx="250438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입력 길이</a:t>
              </a:r>
              <a:r>
                <a:rPr lang="en-US" altLang="ko-KR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특수문자</a:t>
              </a:r>
              <a:r>
                <a:rPr lang="en-US" altLang="ko-KR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,</a:t>
              </a:r>
            </a:p>
            <a:p>
              <a:pPr marL="285750" marR="0" lvl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   </a:t>
              </a: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패턴 등 제한 설정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허용된 형식 외 입력 차단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26" name="Picture 3">
              <a:extLst>
                <a:ext uri="{FF2B5EF4-FFF2-40B4-BE49-F238E27FC236}">
                  <a16:creationId xmlns:a16="http://schemas.microsoft.com/office/drawing/2014/main" id="{1F0C67F7-C4E5-C538-114C-8B8DEE7C1B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26196" y="2356820"/>
              <a:ext cx="2036072" cy="3702457"/>
            </a:xfrm>
            <a:prstGeom prst="rect">
              <a:avLst/>
            </a:prstGeom>
          </p:spPr>
        </p:pic>
        <p:pic>
          <p:nvPicPr>
            <p:cNvPr id="27" name="Picture 4">
              <a:extLst>
                <a:ext uri="{FF2B5EF4-FFF2-40B4-BE49-F238E27FC236}">
                  <a16:creationId xmlns:a16="http://schemas.microsoft.com/office/drawing/2014/main" id="{D4C16A1C-A4D6-BB8A-32F5-92889E07A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58914" y="3572454"/>
              <a:ext cx="1765207" cy="296927"/>
            </a:xfrm>
            <a:prstGeom prst="rect">
              <a:avLst/>
            </a:prstGeom>
          </p:spPr>
        </p:pic>
        <p:pic>
          <p:nvPicPr>
            <p:cNvPr id="28" name="Picture 6">
              <a:extLst>
                <a:ext uri="{FF2B5EF4-FFF2-40B4-BE49-F238E27FC236}">
                  <a16:creationId xmlns:a16="http://schemas.microsoft.com/office/drawing/2014/main" id="{D6A5B2FD-B6F4-FC97-1187-CC9F038684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00646" y="5119178"/>
              <a:ext cx="1882681" cy="850744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E741510-2BEA-7F01-07BD-D1E39DD2A549}"/>
                </a:ext>
              </a:extLst>
            </p:cNvPr>
            <p:cNvSpPr txBox="1"/>
            <p:nvPr/>
          </p:nvSpPr>
          <p:spPr>
            <a:xfrm>
              <a:off x="5266379" y="3150401"/>
              <a:ext cx="1434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입출력 필터링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ECB83A3-1EA8-FA9B-9AB7-D467F4B2AAA7}"/>
                </a:ext>
              </a:extLst>
            </p:cNvPr>
            <p:cNvSpPr txBox="1"/>
            <p:nvPr/>
          </p:nvSpPr>
          <p:spPr>
            <a:xfrm>
              <a:off x="5142979" y="3581381"/>
              <a:ext cx="17516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탐지 및 실시간 차단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E5A0946-FD9A-F60D-F009-07B0C2FBD5D5}"/>
                </a:ext>
              </a:extLst>
            </p:cNvPr>
            <p:cNvSpPr txBox="1"/>
            <p:nvPr/>
          </p:nvSpPr>
          <p:spPr>
            <a:xfrm>
              <a:off x="5397523" y="5170284"/>
              <a:ext cx="158539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조치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필터링 룰 적용 및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b="1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실시간 검증 수행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229568A-F03B-94D1-6E8D-340CF9CA94F3}"/>
                </a:ext>
              </a:extLst>
            </p:cNvPr>
            <p:cNvSpPr txBox="1"/>
            <p:nvPr/>
          </p:nvSpPr>
          <p:spPr>
            <a:xfrm>
              <a:off x="4653922" y="4050786"/>
              <a:ext cx="250438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프롬프트 </a:t>
              </a:r>
              <a:r>
                <a:rPr kumimoji="0" lang="ko-KR" alt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인젝션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패턴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   </a:t>
              </a: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탐지 및 차단</a:t>
              </a:r>
              <a:endParaRPr lang="en-US" altLang="ko-KR" sz="12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  <a:p>
              <a:pPr marL="285750" marR="0" lvl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응답</a:t>
              </a:r>
              <a:r>
                <a:rPr lang="en-US" altLang="ko-KR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 </a:t>
              </a: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내용 검증을 통한</a:t>
              </a:r>
              <a:endParaRPr lang="en-US" altLang="ko-KR" sz="12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  <a:p>
              <a:pPr marL="285750" marR="0" lvl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 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민감 정보 및 명령 </a:t>
              </a: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차단</a:t>
              </a: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33" name="Picture 3">
              <a:extLst>
                <a:ext uri="{FF2B5EF4-FFF2-40B4-BE49-F238E27FC236}">
                  <a16:creationId xmlns:a16="http://schemas.microsoft.com/office/drawing/2014/main" id="{90F319F2-38FF-F288-27A0-4A7DF5ECE6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89015" y="2356820"/>
              <a:ext cx="2036072" cy="3702457"/>
            </a:xfrm>
            <a:prstGeom prst="rect">
              <a:avLst/>
            </a:prstGeom>
          </p:spPr>
        </p:pic>
        <p:pic>
          <p:nvPicPr>
            <p:cNvPr id="34" name="Picture 4">
              <a:extLst>
                <a:ext uri="{FF2B5EF4-FFF2-40B4-BE49-F238E27FC236}">
                  <a16:creationId xmlns:a16="http://schemas.microsoft.com/office/drawing/2014/main" id="{C285FD2B-4B81-ACCF-7795-AC31F980A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21733" y="3572454"/>
              <a:ext cx="1765207" cy="296927"/>
            </a:xfrm>
            <a:prstGeom prst="rect">
              <a:avLst/>
            </a:prstGeom>
          </p:spPr>
        </p:pic>
        <p:pic>
          <p:nvPicPr>
            <p:cNvPr id="35" name="Picture 6">
              <a:extLst>
                <a:ext uri="{FF2B5EF4-FFF2-40B4-BE49-F238E27FC236}">
                  <a16:creationId xmlns:a16="http://schemas.microsoft.com/office/drawing/2014/main" id="{523569E9-9A76-5E8E-1E72-13685E38A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63465" y="5119178"/>
              <a:ext cx="1882681" cy="850744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32A2FF0-439E-51D4-DD19-5CD6791B6EF3}"/>
                </a:ext>
              </a:extLst>
            </p:cNvPr>
            <p:cNvSpPr txBox="1"/>
            <p:nvPr/>
          </p:nvSpPr>
          <p:spPr>
            <a:xfrm>
              <a:off x="7209012" y="3150401"/>
              <a:ext cx="17101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사용자 승인 절차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7626A73-29CF-D9F0-52FC-426AAB95EF1C}"/>
                </a:ext>
              </a:extLst>
            </p:cNvPr>
            <p:cNvSpPr txBox="1"/>
            <p:nvPr/>
          </p:nvSpPr>
          <p:spPr>
            <a:xfrm>
              <a:off x="7077264" y="3581381"/>
              <a:ext cx="19241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b="1" dirty="0">
                  <a:solidFill>
                    <a:srgbClr val="05329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민감 작업은 사용자 승인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DLaM Display" panose="02010000000000000000" pitchFamily="2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1A806CE-4376-3304-D985-7CC004CA78C3}"/>
                </a:ext>
              </a:extLst>
            </p:cNvPr>
            <p:cNvSpPr txBox="1"/>
            <p:nvPr/>
          </p:nvSpPr>
          <p:spPr>
            <a:xfrm>
              <a:off x="7460342" y="5170284"/>
              <a:ext cx="158539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조치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b="1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승인 워크플로우 및</a:t>
              </a:r>
              <a:endParaRPr lang="en-US" altLang="ko-KR" sz="1200" b="1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감사 로그 적용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D363A16-B6B4-7455-723B-C68E061F8E94}"/>
                </a:ext>
              </a:extLst>
            </p:cNvPr>
            <p:cNvSpPr txBox="1"/>
            <p:nvPr/>
          </p:nvSpPr>
          <p:spPr>
            <a:xfrm>
              <a:off x="6749792" y="4050786"/>
              <a:ext cx="250438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민감한 작업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(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코드 실행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,</a:t>
              </a:r>
            </a:p>
            <a:p>
              <a:pPr marL="285750" marR="0" lvl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200" dirty="0">
                  <a:solidFill>
                    <a:schemeClr val="bg1"/>
                  </a:solidFill>
                  <a:latin typeface="Calibri"/>
                  <a:ea typeface="맑은 고딕" panose="020B0503020000020004" pitchFamily="50" charset="-127"/>
                </a:rPr>
                <a:t>.  </a:t>
              </a: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데이터 삭제 등</a:t>
              </a:r>
              <a:r>
                <a:rPr lang="en-US" altLang="ko-KR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)</a:t>
              </a: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은 사용자</a:t>
              </a:r>
              <a:endParaRPr lang="en-US" altLang="ko-KR" sz="12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  <a:p>
              <a:pPr marL="285750" marR="0" lvl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200" dirty="0">
                  <a:solidFill>
                    <a:schemeClr val="bg1"/>
                  </a:solidFill>
                  <a:latin typeface="Calibri"/>
                  <a:ea typeface="맑은 고딕" panose="020B0503020000020004" pitchFamily="50" charset="-127"/>
                </a:rPr>
                <a:t>-  </a:t>
              </a: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승인 필수</a:t>
              </a:r>
              <a:endParaRPr lang="en-US" altLang="ko-KR" sz="12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  <a:p>
              <a:pPr marL="285750" marR="0" lvl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승인 로그 기록 모니터링</a:t>
              </a:r>
              <a:endParaRPr lang="en-US" altLang="ko-KR" sz="1200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pic>
          <p:nvPicPr>
            <p:cNvPr id="40" name="Picture 3">
              <a:extLst>
                <a:ext uri="{FF2B5EF4-FFF2-40B4-BE49-F238E27FC236}">
                  <a16:creationId xmlns:a16="http://schemas.microsoft.com/office/drawing/2014/main" id="{67CA448A-0880-0362-8300-507BBE3A8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51834" y="2356819"/>
              <a:ext cx="2036072" cy="3702457"/>
            </a:xfrm>
            <a:prstGeom prst="rect">
              <a:avLst/>
            </a:prstGeom>
          </p:spPr>
        </p:pic>
        <p:pic>
          <p:nvPicPr>
            <p:cNvPr id="41" name="Picture 4">
              <a:extLst>
                <a:ext uri="{FF2B5EF4-FFF2-40B4-BE49-F238E27FC236}">
                  <a16:creationId xmlns:a16="http://schemas.microsoft.com/office/drawing/2014/main" id="{C4309650-6C43-CB83-7A16-61359E6D7F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84552" y="3572454"/>
              <a:ext cx="1765207" cy="296927"/>
            </a:xfrm>
            <a:prstGeom prst="rect">
              <a:avLst/>
            </a:prstGeom>
          </p:spPr>
        </p:pic>
        <p:pic>
          <p:nvPicPr>
            <p:cNvPr id="42" name="Picture 6">
              <a:extLst>
                <a:ext uri="{FF2B5EF4-FFF2-40B4-BE49-F238E27FC236}">
                  <a16:creationId xmlns:a16="http://schemas.microsoft.com/office/drawing/2014/main" id="{85DDB161-FD23-F23A-D41C-7BEDA4045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26284" y="5119178"/>
              <a:ext cx="1882681" cy="850744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CB37B38-0850-AC9F-9541-E4D207A2F118}"/>
                </a:ext>
              </a:extLst>
            </p:cNvPr>
            <p:cNvSpPr txBox="1">
              <a:spLocks/>
            </p:cNvSpPr>
            <p:nvPr/>
          </p:nvSpPr>
          <p:spPr>
            <a:xfrm>
              <a:off x="9383001" y="3150401"/>
              <a:ext cx="14337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샌드박스</a:t>
              </a: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 환경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FC8D042-4D81-F02C-CEC7-F903CF906E0C}"/>
                </a:ext>
              </a:extLst>
            </p:cNvPr>
            <p:cNvSpPr txBox="1">
              <a:spLocks/>
            </p:cNvSpPr>
            <p:nvPr/>
          </p:nvSpPr>
          <p:spPr>
            <a:xfrm>
              <a:off x="9373779" y="3581381"/>
              <a:ext cx="14743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DLaM Display" panose="02010000000000000000" pitchFamily="2" charset="0"/>
                </a:rPr>
                <a:t>격리된 실행 환경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7BB1004-86F7-FCE6-5F3F-F8E70B8B5E81}"/>
                </a:ext>
              </a:extLst>
            </p:cNvPr>
            <p:cNvSpPr txBox="1">
              <a:spLocks/>
            </p:cNvSpPr>
            <p:nvPr/>
          </p:nvSpPr>
          <p:spPr>
            <a:xfrm>
              <a:off x="9523161" y="5170284"/>
              <a:ext cx="158539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53292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조치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53292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샌드박스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기반 실행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b="1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및 권한 최소한 적용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36E933E-2E57-AB97-E167-8A7B4E2BA95A}"/>
                </a:ext>
              </a:extLst>
            </p:cNvPr>
            <p:cNvSpPr txBox="1"/>
            <p:nvPr/>
          </p:nvSpPr>
          <p:spPr>
            <a:xfrm>
              <a:off x="8812611" y="4050786"/>
              <a:ext cx="250438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LLM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실행 코드는 격리된</a:t>
              </a:r>
              <a:b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</a:b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  </a:t>
              </a:r>
              <a:r>
                <a:rPr kumimoji="0" lang="ko-KR" alt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샌드박스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환경에서 수행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1080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파일 시스템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,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네트워크 등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 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시스템 </a:t>
              </a:r>
              <a:r>
                <a:rPr lang="ko-KR" altLang="en-US" sz="1200" dirty="0">
                  <a:solidFill>
                    <a:prstClr val="black"/>
                  </a:solidFill>
                  <a:latin typeface="Calibri"/>
                  <a:ea typeface="맑은 고딕" panose="020B0503020000020004" pitchFamily="50" charset="-127"/>
                </a:rPr>
                <a:t>자원 접근 제한</a:t>
              </a: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47" name="Picture 22">
              <a:extLst>
                <a:ext uri="{FF2B5EF4-FFF2-40B4-BE49-F238E27FC236}">
                  <a16:creationId xmlns:a16="http://schemas.microsoft.com/office/drawing/2014/main" id="{68C41C03-FCB7-39CD-C74E-788C39CCD85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938871" y="2426338"/>
              <a:ext cx="342000" cy="342000"/>
            </a:xfrm>
            <a:prstGeom prst="rect">
              <a:avLst/>
            </a:prstGeom>
          </p:spPr>
        </p:pic>
        <p:pic>
          <p:nvPicPr>
            <p:cNvPr id="48" name="Picture 23">
              <a:extLst>
                <a:ext uri="{FF2B5EF4-FFF2-40B4-BE49-F238E27FC236}">
                  <a16:creationId xmlns:a16="http://schemas.microsoft.com/office/drawing/2014/main" id="{5C2FB679-3303-E930-78BD-2CF9BC09C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01247" y="2426338"/>
              <a:ext cx="342000" cy="342000"/>
            </a:xfrm>
            <a:prstGeom prst="rect">
              <a:avLst/>
            </a:prstGeom>
          </p:spPr>
        </p:pic>
        <p:pic>
          <p:nvPicPr>
            <p:cNvPr id="49" name="Picture 24">
              <a:extLst>
                <a:ext uri="{FF2B5EF4-FFF2-40B4-BE49-F238E27FC236}">
                  <a16:creationId xmlns:a16="http://schemas.microsoft.com/office/drawing/2014/main" id="{6552B7CB-C439-2C7B-10E1-1490BE1E3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063623" y="2426338"/>
              <a:ext cx="342000" cy="342000"/>
            </a:xfrm>
            <a:prstGeom prst="rect">
              <a:avLst/>
            </a:prstGeom>
          </p:spPr>
        </p:pic>
        <p:pic>
          <p:nvPicPr>
            <p:cNvPr id="50" name="Picture 25">
              <a:extLst>
                <a:ext uri="{FF2B5EF4-FFF2-40B4-BE49-F238E27FC236}">
                  <a16:creationId xmlns:a16="http://schemas.microsoft.com/office/drawing/2014/main" id="{4528147F-D46C-DEA4-E3BC-1B5057CAD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126000" y="2426338"/>
              <a:ext cx="342000" cy="342000"/>
            </a:xfrm>
            <a:prstGeom prst="rect">
              <a:avLst/>
            </a:prstGeom>
          </p:spPr>
        </p:pic>
        <p:pic>
          <p:nvPicPr>
            <p:cNvPr id="61" name="Picture 40">
              <a:extLst>
                <a:ext uri="{FF2B5EF4-FFF2-40B4-BE49-F238E27FC236}">
                  <a16:creationId xmlns:a16="http://schemas.microsoft.com/office/drawing/2014/main" id="{224C2CEF-91F4-20B3-8855-3802D0909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639725" y="2607057"/>
              <a:ext cx="483022" cy="483022"/>
            </a:xfrm>
            <a:prstGeom prst="rect">
              <a:avLst/>
            </a:prstGeom>
          </p:spPr>
        </p:pic>
        <p:pic>
          <p:nvPicPr>
            <p:cNvPr id="62" name="Picture 41">
              <a:extLst>
                <a:ext uri="{FF2B5EF4-FFF2-40B4-BE49-F238E27FC236}">
                  <a16:creationId xmlns:a16="http://schemas.microsoft.com/office/drawing/2014/main" id="{9E6D8AF5-39E0-CE57-8231-4AA2AD4EE4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733911" y="2455330"/>
              <a:ext cx="522750" cy="739318"/>
            </a:xfrm>
            <a:prstGeom prst="rect">
              <a:avLst/>
            </a:prstGeom>
          </p:spPr>
        </p:pic>
        <p:pic>
          <p:nvPicPr>
            <p:cNvPr id="63" name="Picture 42">
              <a:extLst>
                <a:ext uri="{FF2B5EF4-FFF2-40B4-BE49-F238E27FC236}">
                  <a16:creationId xmlns:a16="http://schemas.microsoft.com/office/drawing/2014/main" id="{A96C1F27-42BC-A062-0EBE-23EDB14976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823550" y="2538777"/>
              <a:ext cx="542349" cy="542349"/>
            </a:xfrm>
            <a:prstGeom prst="rect">
              <a:avLst/>
            </a:prstGeom>
          </p:spPr>
        </p:pic>
        <p:pic>
          <p:nvPicPr>
            <p:cNvPr id="64" name="Picture 44">
              <a:extLst>
                <a:ext uri="{FF2B5EF4-FFF2-40B4-BE49-F238E27FC236}">
                  <a16:creationId xmlns:a16="http://schemas.microsoft.com/office/drawing/2014/main" id="{9273B08A-6F4D-439A-7399-14E3CDD9D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783957" y="2563468"/>
              <a:ext cx="525289" cy="525289"/>
            </a:xfrm>
            <a:prstGeom prst="rect">
              <a:avLst/>
            </a:prstGeom>
          </p:spPr>
        </p:pic>
        <p:pic>
          <p:nvPicPr>
            <p:cNvPr id="65" name="Picture 46">
              <a:extLst>
                <a:ext uri="{FF2B5EF4-FFF2-40B4-BE49-F238E27FC236}">
                  <a16:creationId xmlns:a16="http://schemas.microsoft.com/office/drawing/2014/main" id="{57A67EA6-52F0-30E3-A94A-8DA5E2600F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652017">
              <a:off x="5083600" y="5366176"/>
              <a:ext cx="346322" cy="346322"/>
            </a:xfrm>
            <a:prstGeom prst="rect">
              <a:avLst/>
            </a:prstGeom>
          </p:spPr>
        </p:pic>
        <p:pic>
          <p:nvPicPr>
            <p:cNvPr id="66" name="Picture 38">
              <a:extLst>
                <a:ext uri="{FF2B5EF4-FFF2-40B4-BE49-F238E27FC236}">
                  <a16:creationId xmlns:a16="http://schemas.microsoft.com/office/drawing/2014/main" id="{4C7B4350-6EBD-079C-E0CD-DFC6ED602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211395" y="2473834"/>
              <a:ext cx="539750" cy="482600"/>
            </a:xfrm>
            <a:prstGeom prst="rect">
              <a:avLst/>
            </a:prstGeom>
          </p:spPr>
        </p:pic>
        <p:pic>
          <p:nvPicPr>
            <p:cNvPr id="67" name="Picture 39">
              <a:extLst>
                <a:ext uri="{FF2B5EF4-FFF2-40B4-BE49-F238E27FC236}">
                  <a16:creationId xmlns:a16="http://schemas.microsoft.com/office/drawing/2014/main" id="{568D74A1-65A0-70F8-3A69-6506C9822A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713045" y="2596795"/>
              <a:ext cx="285750" cy="285750"/>
            </a:xfrm>
            <a:prstGeom prst="rect">
              <a:avLst/>
            </a:prstGeom>
          </p:spPr>
        </p:pic>
        <p:pic>
          <p:nvPicPr>
            <p:cNvPr id="68" name="Picture 38">
              <a:extLst>
                <a:ext uri="{FF2B5EF4-FFF2-40B4-BE49-F238E27FC236}">
                  <a16:creationId xmlns:a16="http://schemas.microsoft.com/office/drawing/2014/main" id="{3D9CD725-59D5-355F-5E26-76D0F1B50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959744" y="2473836"/>
              <a:ext cx="539750" cy="482600"/>
            </a:xfrm>
            <a:prstGeom prst="rect">
              <a:avLst/>
            </a:prstGeom>
          </p:spPr>
        </p:pic>
        <p:pic>
          <p:nvPicPr>
            <p:cNvPr id="69" name="Picture 2">
              <a:extLst>
                <a:ext uri="{FF2B5EF4-FFF2-40B4-BE49-F238E27FC236}">
                  <a16:creationId xmlns:a16="http://schemas.microsoft.com/office/drawing/2014/main" id="{4F5327FE-5CDC-BF2F-DB62-B5DB13A6F0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212083" y="2963054"/>
              <a:ext cx="548702" cy="193521"/>
            </a:xfrm>
            <a:prstGeom prst="rect">
              <a:avLst/>
            </a:prstGeom>
          </p:spPr>
        </p:pic>
        <p:pic>
          <p:nvPicPr>
            <p:cNvPr id="70" name="Picture 2">
              <a:extLst>
                <a:ext uri="{FF2B5EF4-FFF2-40B4-BE49-F238E27FC236}">
                  <a16:creationId xmlns:a16="http://schemas.microsoft.com/office/drawing/2014/main" id="{C74FFE8D-40E4-F58E-193E-06D76CE306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960236" y="2963050"/>
              <a:ext cx="548702" cy="193521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D33ACE9-C4DC-8582-C206-1773936D116E}"/>
                </a:ext>
              </a:extLst>
            </p:cNvPr>
            <p:cNvSpPr txBox="1"/>
            <p:nvPr/>
          </p:nvSpPr>
          <p:spPr>
            <a:xfrm>
              <a:off x="1120794" y="2965349"/>
              <a:ext cx="75216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chemeClr val="bg1"/>
                  </a:solidFill>
                </a:rPr>
                <a:t>사용자 입력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E87F4B2-1390-4ADF-3669-9163B4181CF6}"/>
                </a:ext>
              </a:extLst>
            </p:cNvPr>
            <p:cNvSpPr txBox="1"/>
            <p:nvPr/>
          </p:nvSpPr>
          <p:spPr>
            <a:xfrm>
              <a:off x="1938192" y="2965087"/>
              <a:ext cx="61231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chemeClr val="bg1"/>
                  </a:solidFill>
                </a:rPr>
                <a:t>프롬프트</a:t>
              </a:r>
            </a:p>
          </p:txBody>
        </p:sp>
        <p:pic>
          <p:nvPicPr>
            <p:cNvPr id="73" name="Picture 13">
              <a:extLst>
                <a:ext uri="{FF2B5EF4-FFF2-40B4-BE49-F238E27FC236}">
                  <a16:creationId xmlns:a16="http://schemas.microsoft.com/office/drawing/2014/main" id="{0BC9AE52-FBDF-3570-14A8-F905A9265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004329" y="5387034"/>
              <a:ext cx="365125" cy="365125"/>
            </a:xfrm>
            <a:prstGeom prst="rect">
              <a:avLst/>
            </a:prstGeom>
          </p:spPr>
        </p:pic>
        <p:pic>
          <p:nvPicPr>
            <p:cNvPr id="75" name="Picture 11">
              <a:extLst>
                <a:ext uri="{FF2B5EF4-FFF2-40B4-BE49-F238E27FC236}">
                  <a16:creationId xmlns:a16="http://schemas.microsoft.com/office/drawing/2014/main" id="{C10C374D-6346-5F32-4E24-AA548A237D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905771" y="2937964"/>
              <a:ext cx="232982" cy="232982"/>
            </a:xfrm>
            <a:prstGeom prst="rect">
              <a:avLst/>
            </a:prstGeom>
          </p:spPr>
        </p:pic>
        <p:pic>
          <p:nvPicPr>
            <p:cNvPr id="76" name="Picture 12">
              <a:extLst>
                <a:ext uri="{FF2B5EF4-FFF2-40B4-BE49-F238E27FC236}">
                  <a16:creationId xmlns:a16="http://schemas.microsoft.com/office/drawing/2014/main" id="{7C298F4C-AA66-A34B-2838-909D557193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7176457" y="5393245"/>
              <a:ext cx="258549" cy="334939"/>
            </a:xfrm>
            <a:prstGeom prst="rect">
              <a:avLst/>
            </a:prstGeom>
          </p:spPr>
        </p:pic>
        <p:pic>
          <p:nvPicPr>
            <p:cNvPr id="77" name="Picture 33">
              <a:extLst>
                <a:ext uri="{FF2B5EF4-FFF2-40B4-BE49-F238E27FC236}">
                  <a16:creationId xmlns:a16="http://schemas.microsoft.com/office/drawing/2014/main" id="{E9626118-F81B-4D00-1AF7-1FBE55C4E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9128091" y="5290950"/>
              <a:ext cx="503220" cy="5032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127107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DD7DD-9A01-8FD5-F04A-DDF0C42CA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61735D2-162C-6A4D-F052-96BE4767D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D600F2-DA09-5D48-FCD8-5C26B6A1B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fld id="{5E730BA1-3F6D-49E0-8F01-E02E0ED4523B}" type="slidenum">
              <a:rPr lang="ko-KR" altLang="en-US" smtClean="0"/>
              <a:t>35</a:t>
            </a:fld>
            <a:endParaRPr lang="ko-KR" altLang="en-US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929EA5A1-0628-BB61-F68D-3E394C86B029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Shape 6">
            <a:extLst>
              <a:ext uri="{FF2B5EF4-FFF2-40B4-BE49-F238E27FC236}">
                <a16:creationId xmlns:a16="http://schemas.microsoft.com/office/drawing/2014/main" id="{8222ED43-A6FA-40A0-E22B-C324F185A851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D78F58-5534-0B39-5E76-1754281BCE9F}"/>
              </a:ext>
            </a:extLst>
          </p:cNvPr>
          <p:cNvSpPr txBox="1"/>
          <p:nvPr/>
        </p:nvSpPr>
        <p:spPr>
          <a:xfrm>
            <a:off x="4400333" y="3044697"/>
            <a:ext cx="330250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0" b="1">
                <a:latin typeface="+mj-ea"/>
                <a:ea typeface="+mj-ea"/>
              </a:rPr>
              <a:t>Q &amp; A</a:t>
            </a:r>
            <a:endParaRPr lang="ko-KR" altLang="en-US" sz="8000" b="1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034034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DD949-F685-E0A4-E9FA-1B16FEC38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147A3D3-C886-9F25-EAA2-D8580AC22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65875"/>
            <a:ext cx="4114800" cy="365125"/>
          </a:xfrm>
        </p:spPr>
        <p:txBody>
          <a:bodyPr/>
          <a:lstStyle/>
          <a:p>
            <a:r>
              <a:rPr lang="en-US" altLang="ko-KR"/>
              <a:t>© 2026 Team ONE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D75BFB-6D1F-B7F1-5B0E-E8286DB71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6365875"/>
            <a:ext cx="2743200" cy="365125"/>
          </a:xfrm>
        </p:spPr>
        <p:txBody>
          <a:bodyPr/>
          <a:lstStyle/>
          <a:p>
            <a:fld id="{5E730BA1-3F6D-49E0-8F01-E02E0ED4523B}" type="slidenum">
              <a:rPr lang="ko-KR" altLang="en-US" smtClean="0"/>
              <a:t>36</a:t>
            </a:fld>
            <a:endParaRPr lang="ko-KR" altLang="en-US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AFD5485-A212-4FCD-EB41-48287959C6B5}"/>
              </a:ext>
            </a:extLst>
          </p:cNvPr>
          <p:cNvCxnSpPr/>
          <p:nvPr/>
        </p:nvCxnSpPr>
        <p:spPr>
          <a:xfrm>
            <a:off x="438150" y="1046957"/>
            <a:ext cx="11137107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Shape 6">
            <a:extLst>
              <a:ext uri="{FF2B5EF4-FFF2-40B4-BE49-F238E27FC236}">
                <a16:creationId xmlns:a16="http://schemas.microsoft.com/office/drawing/2014/main" id="{B4494050-E6CC-8941-4B18-1B750918EBF3}"/>
              </a:ext>
            </a:extLst>
          </p:cNvPr>
          <p:cNvSpPr/>
          <p:nvPr/>
        </p:nvSpPr>
        <p:spPr>
          <a:xfrm>
            <a:off x="0" y="150617"/>
            <a:ext cx="73152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629587-79A9-C29E-AB68-EDBE81AD0D7D}"/>
              </a:ext>
            </a:extLst>
          </p:cNvPr>
          <p:cNvSpPr txBox="1"/>
          <p:nvPr/>
        </p:nvSpPr>
        <p:spPr>
          <a:xfrm>
            <a:off x="3438862" y="3044697"/>
            <a:ext cx="531427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0" b="1">
                <a:latin typeface="+mj-ea"/>
                <a:ea typeface="+mj-ea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423140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4027</TotalTime>
  <Words>2285</Words>
  <Application>Microsoft Office PowerPoint</Application>
  <PresentationFormat>와이드스크린</PresentationFormat>
  <Paragraphs>615</Paragraphs>
  <Slides>36</Slides>
  <Notes>6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36</vt:i4>
      </vt:variant>
    </vt:vector>
  </HeadingPairs>
  <TitlesOfParts>
    <vt:vector size="45" baseType="lpstr">
      <vt:lpstr>맑은 고딕</vt:lpstr>
      <vt:lpstr>맑은 고딕</vt:lpstr>
      <vt:lpstr>Arial</vt:lpstr>
      <vt:lpstr>Calibri</vt:lpstr>
      <vt:lpstr>Calibri Light</vt:lpstr>
      <vt:lpstr>Wingdings</vt:lpstr>
      <vt:lpstr>Office 2013 - 2022 테마</vt:lpstr>
      <vt:lpstr>디자인 사용자 지정</vt:lpstr>
      <vt:lpstr>Office Theme</vt:lpstr>
      <vt:lpstr>PowerPoint 프레젠테이션</vt:lpstr>
      <vt:lpstr>PowerPoint 프레젠테이션</vt:lpstr>
      <vt:lpstr>I. 개요</vt:lpstr>
      <vt:lpstr>I. 개요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AA JJO</dc:creator>
  <cp:lastModifiedBy>진욱 유</cp:lastModifiedBy>
  <cp:revision>137</cp:revision>
  <dcterms:created xsi:type="dcterms:W3CDTF">2026-04-09T09:49:41Z</dcterms:created>
  <dcterms:modified xsi:type="dcterms:W3CDTF">2026-04-26T06:48:51Z</dcterms:modified>
</cp:coreProperties>
</file>